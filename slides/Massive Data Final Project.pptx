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  <p:sldMasterId id="2147483665" r:id="rId5"/>
    <p:sldMasterId id="2147483666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y="5143500" cx="9144000"/>
  <p:notesSz cx="6858000" cy="9144000"/>
  <p:embeddedFontLst>
    <p:embeddedFont>
      <p:font typeface="Helvetica Neue"/>
      <p:regular r:id="rId24"/>
      <p:bold r:id="rId25"/>
      <p:italic r:id="rId26"/>
      <p:boldItalic r:id="rId27"/>
    </p:embeddedFont>
    <p:embeddedFont>
      <p:font typeface="Roboto Mono"/>
      <p:regular r:id="rId28"/>
      <p:bold r:id="rId29"/>
      <p:italic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font" Target="fonts/HelveticaNeue-regular.fntdata"/><Relationship Id="rId23" Type="http://schemas.openxmlformats.org/officeDocument/2006/relationships/slide" Target="slides/slide16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font" Target="fonts/HelveticaNeue-italic.fntdata"/><Relationship Id="rId25" Type="http://schemas.openxmlformats.org/officeDocument/2006/relationships/font" Target="fonts/HelveticaNeue-bold.fntdata"/><Relationship Id="rId28" Type="http://schemas.openxmlformats.org/officeDocument/2006/relationships/font" Target="fonts/RobotoMono-regular.fntdata"/><Relationship Id="rId27" Type="http://schemas.openxmlformats.org/officeDocument/2006/relationships/font" Target="fonts/HelveticaNeue-boldItalic.fntdata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font" Target="fonts/RobotoMono-bold.fntdata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font" Target="fonts/RobotoMono-boldItalic.fntdata"/><Relationship Id="rId30" Type="http://schemas.openxmlformats.org/officeDocument/2006/relationships/font" Target="fonts/RobotoMono-italic.fntdata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d834b46fa5_1_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g3d834b46fa5_1_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g3d834b46fa5_1_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d834b46fa5_1_1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g3d834b46fa5_1_1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g3d834b46fa5_1_1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d834b46fa5_1_4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8" name="Google Shape;128;g3d834b46fa5_1_4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d834b46fa5_1_4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d81f3b35e5_1_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d81f3b35e5_1_66:notes"/>
          <p:cNvSpPr txBox="1"/>
          <p:nvPr>
            <p:ph idx="1" type="body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Despite processing tens of thousands of petitions each year, there is little public clarity on which factors shape approval outcomes — for employers, applicants, or policymakers.</a:t>
            </a: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g3d81f3b35e5_1_66:notes"/>
          <p:cNvSpPr txBox="1"/>
          <p:nvPr>
            <p:ph idx="12" type="sldNum"/>
          </p:nvPr>
        </p:nvSpPr>
        <p:spPr>
          <a:xfrm>
            <a:off x="0" y="0"/>
            <a:ext cx="4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 sz="1100">
                <a:latin typeface="Arial"/>
                <a:ea typeface="Arial"/>
                <a:cs typeface="Arial"/>
                <a:sym typeface="Arial"/>
              </a:rPr>
              <a:t>The U.S. Department of Labor's Office of Foreign Labor Certification (OFLC) publishes every </a:t>
            </a:r>
            <a:r>
              <a:rPr b="1" lang="en-US" sz="1100">
                <a:latin typeface="Arial"/>
                <a:ea typeface="Arial"/>
                <a:cs typeface="Arial"/>
                <a:sym typeface="Arial"/>
              </a:rPr>
              <a:t>Labor Condition Application (LCA)</a:t>
            </a:r>
            <a:r>
              <a:rPr lang="en-US" sz="1100">
                <a:latin typeface="Arial"/>
                <a:ea typeface="Arial"/>
                <a:cs typeface="Arial"/>
                <a:sym typeface="Arial"/>
              </a:rPr>
              <a:t> filed by an employer.</a:t>
            </a:r>
            <a:endParaRPr/>
          </a:p>
        </p:txBody>
      </p:sp>
      <p:sp>
        <p:nvSpPr>
          <p:cNvPr id="185" name="Google Shape;185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8b9a4fe01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d8b9a4fe01_3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d8b9a4fe01_3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g3d8b9a4fe01_3_3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d8b9a4fe01_3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g3d8b9a4fe01_3_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d8b9a4fe01_3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g3d8b9a4fe01_3_11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d8b9a4fe01_0_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9" name="Google Shape;349;g3d8b9a4fe01_0_0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g3d8b9a4fe01_0_0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d834b46fa5_1_18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8" name="Google Shape;378;g3d834b46fa5_1_18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g3d834b46fa5_1_18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d834b46fa5_1_22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2" name="Google Shape;422;g3d834b46fa5_1_22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g3d834b46fa5_1_22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d834b46fa5_1_26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9" name="Google Shape;459;g3d834b46fa5_1_261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g3d834b46fa5_1_261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d834b46fa5_1_287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6" name="Google Shape;486;g3d834b46fa5_1_287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g3d834b46fa5_1_287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g3d834b46fa5_1_31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5" name="Google Shape;515;g3d834b46fa5_1_31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6" name="Google Shape;516;g3d834b46fa5_1_31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2" name="Google Shape;54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1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27894" y="397577"/>
            <a:ext cx="5267700" cy="12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1"/>
              <a:buFont typeface="Helvetica Neue"/>
              <a:buNone/>
              <a:defRPr b="1" i="0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427896" y="1859525"/>
            <a:ext cx="5267700" cy="7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450"/>
              </a:spcBef>
              <a:spcAft>
                <a:spcPts val="0"/>
              </a:spcAft>
              <a:buClr>
                <a:schemeClr val="lt1"/>
              </a:buClr>
              <a:buSzPts val="2251"/>
              <a:buNone/>
              <a:defRPr b="1" i="0" sz="2251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algn="ctr">
              <a:spcBef>
                <a:spcPts val="420"/>
              </a:spcBef>
              <a:spcAft>
                <a:spcPts val="0"/>
              </a:spcAft>
              <a:buClr>
                <a:srgbClr val="888888"/>
              </a:buClr>
              <a:buSzPts val="2101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9" name="Google Shape;19;p2"/>
          <p:cNvSpPr txBox="1"/>
          <p:nvPr>
            <p:ph idx="12" type="sldNum"/>
          </p:nvPr>
        </p:nvSpPr>
        <p:spPr>
          <a:xfrm>
            <a:off x="427896" y="4593488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idx="10" type="dt"/>
          </p:nvPr>
        </p:nvSpPr>
        <p:spPr>
          <a:xfrm>
            <a:off x="457200" y="4767267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1" type="ftr"/>
          </p:nvPr>
        </p:nvSpPr>
        <p:spPr>
          <a:xfrm>
            <a:off x="3124200" y="4767267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3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/>
          <p:nvPr>
            <p:ph type="title"/>
          </p:nvPr>
        </p:nvSpPr>
        <p:spPr>
          <a:xfrm>
            <a:off x="1792288" y="3600450"/>
            <a:ext cx="5486400" cy="425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500"/>
              <a:buFont typeface="Helvetica Neue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/>
          <p:nvPr>
            <p:ph idx="2" type="pic"/>
          </p:nvPr>
        </p:nvSpPr>
        <p:spPr>
          <a:xfrm>
            <a:off x="1792288" y="459581"/>
            <a:ext cx="548640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27" name="Google Shape;27;p4"/>
          <p:cNvSpPr txBox="1"/>
          <p:nvPr>
            <p:ph idx="1" type="body"/>
          </p:nvPr>
        </p:nvSpPr>
        <p:spPr>
          <a:xfrm>
            <a:off x="1792288" y="4025504"/>
            <a:ext cx="5486400" cy="6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28" name="Google Shape;28;p4"/>
          <p:cNvSpPr txBox="1"/>
          <p:nvPr>
            <p:ph idx="10" type="dt"/>
          </p:nvPr>
        </p:nvSpPr>
        <p:spPr>
          <a:xfrm>
            <a:off x="457200" y="4767267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" name="Google Shape;29;p4"/>
          <p:cNvSpPr txBox="1"/>
          <p:nvPr>
            <p:ph idx="11" type="ftr"/>
          </p:nvPr>
        </p:nvSpPr>
        <p:spPr>
          <a:xfrm>
            <a:off x="3124200" y="4767267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/>
          <p:nvPr>
            <p:ph type="title"/>
          </p:nvPr>
        </p:nvSpPr>
        <p:spPr>
          <a:xfrm>
            <a:off x="213474" y="256327"/>
            <a:ext cx="86865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" type="body"/>
          </p:nvPr>
        </p:nvSpPr>
        <p:spPr>
          <a:xfrm>
            <a:off x="213474" y="1004150"/>
            <a:ext cx="8686500" cy="3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>
            <p:ph type="title"/>
          </p:nvPr>
        </p:nvSpPr>
        <p:spPr>
          <a:xfrm>
            <a:off x="722313" y="3305180"/>
            <a:ext cx="7772400" cy="102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3001"/>
              <a:buFont typeface="Helvetica Neue"/>
              <a:buNone/>
              <a:defRPr b="1" sz="300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1" type="body"/>
          </p:nvPr>
        </p:nvSpPr>
        <p:spPr>
          <a:xfrm>
            <a:off x="722313" y="2180035"/>
            <a:ext cx="77724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/>
          <p:nvPr>
            <p:ph type="title"/>
          </p:nvPr>
        </p:nvSpPr>
        <p:spPr>
          <a:xfrm>
            <a:off x="213474" y="256327"/>
            <a:ext cx="86865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>
            <a:off x="213474" y="256327"/>
            <a:ext cx="86865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213474" y="256327"/>
            <a:ext cx="86865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9"/>
          <p:cNvSpPr txBox="1"/>
          <p:nvPr>
            <p:ph idx="1" type="body"/>
          </p:nvPr>
        </p:nvSpPr>
        <p:spPr>
          <a:xfrm>
            <a:off x="457200" y="1200154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2014" lvl="0" marL="4572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1"/>
              <a:buChar char="•"/>
              <a:defRPr sz="2101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4325" lvl="3" marL="1828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indent="-314325" lvl="4" marL="22860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indent="-314325" lvl="5" marL="27432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indent="-314325" lvl="6" marL="32004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indent="-314325" lvl="7" marL="3657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indent="-314325" lvl="8" marL="4114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/>
        </p:txBody>
      </p:sp>
      <p:sp>
        <p:nvSpPr>
          <p:cNvPr id="46" name="Google Shape;46;p9"/>
          <p:cNvSpPr txBox="1"/>
          <p:nvPr>
            <p:ph idx="2" type="body"/>
          </p:nvPr>
        </p:nvSpPr>
        <p:spPr>
          <a:xfrm>
            <a:off x="4648200" y="1200154"/>
            <a:ext cx="4038600" cy="33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2014" lvl="0" marL="4572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1"/>
              <a:buChar char="•"/>
              <a:defRPr sz="2101"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4325" lvl="3" marL="1828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–"/>
              <a:defRPr sz="1350"/>
            </a:lvl4pPr>
            <a:lvl5pPr indent="-314325" lvl="4" marL="22860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»"/>
              <a:defRPr sz="1350"/>
            </a:lvl5pPr>
            <a:lvl6pPr indent="-314325" lvl="5" marL="27432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indent="-314325" lvl="6" marL="32004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indent="-314325" lvl="7" marL="3657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indent="-314325" lvl="8" marL="41148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/>
        </p:txBody>
      </p:sp>
      <p:sp>
        <p:nvSpPr>
          <p:cNvPr id="47" name="Google Shape;47;p9"/>
          <p:cNvSpPr txBox="1"/>
          <p:nvPr>
            <p:ph idx="10" type="dt"/>
          </p:nvPr>
        </p:nvSpPr>
        <p:spPr>
          <a:xfrm>
            <a:off x="457200" y="4767267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11" type="ftr"/>
          </p:nvPr>
        </p:nvSpPr>
        <p:spPr>
          <a:xfrm>
            <a:off x="3124200" y="4767267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/>
          <p:nvPr>
            <p:ph type="title"/>
          </p:nvPr>
        </p:nvSpPr>
        <p:spPr>
          <a:xfrm>
            <a:off x="213474" y="256327"/>
            <a:ext cx="86865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2701"/>
              <a:buFont typeface="Helvetica Neue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457200" y="1151335"/>
            <a:ext cx="4040100" cy="479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53" name="Google Shape;53;p10"/>
          <p:cNvSpPr txBox="1"/>
          <p:nvPr>
            <p:ph idx="2" type="body"/>
          </p:nvPr>
        </p:nvSpPr>
        <p:spPr>
          <a:xfrm>
            <a:off x="457200" y="1631156"/>
            <a:ext cx="4040100" cy="29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4325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54" name="Google Shape;54;p10"/>
          <p:cNvSpPr txBox="1"/>
          <p:nvPr>
            <p:ph idx="3" type="body"/>
          </p:nvPr>
        </p:nvSpPr>
        <p:spPr>
          <a:xfrm>
            <a:off x="4645025" y="1151335"/>
            <a:ext cx="4041900" cy="479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55" name="Google Shape;55;p10"/>
          <p:cNvSpPr txBox="1"/>
          <p:nvPr>
            <p:ph idx="4" type="body"/>
          </p:nvPr>
        </p:nvSpPr>
        <p:spPr>
          <a:xfrm>
            <a:off x="4645025" y="1631156"/>
            <a:ext cx="4041900" cy="29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4325" lvl="2" marL="1371600" algn="l"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3pPr>
            <a:lvl4pPr indent="-304800" lvl="3" marL="1828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56" name="Google Shape;56;p10"/>
          <p:cNvSpPr txBox="1"/>
          <p:nvPr>
            <p:ph idx="10" type="dt"/>
          </p:nvPr>
        </p:nvSpPr>
        <p:spPr>
          <a:xfrm>
            <a:off x="457200" y="4767267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7" name="Google Shape;57;p10"/>
          <p:cNvSpPr txBox="1"/>
          <p:nvPr>
            <p:ph idx="11" type="ftr"/>
          </p:nvPr>
        </p:nvSpPr>
        <p:spPr>
          <a:xfrm>
            <a:off x="3124200" y="4767267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8" name="Google Shape;58;p10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/>
          <p:nvPr>
            <p:ph type="title"/>
          </p:nvPr>
        </p:nvSpPr>
        <p:spPr>
          <a:xfrm>
            <a:off x="213474" y="256327"/>
            <a:ext cx="86865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1"/>
          <p:cNvSpPr txBox="1"/>
          <p:nvPr>
            <p:ph idx="10" type="dt"/>
          </p:nvPr>
        </p:nvSpPr>
        <p:spPr>
          <a:xfrm>
            <a:off x="457200" y="4767267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1"/>
          <p:cNvSpPr txBox="1"/>
          <p:nvPr>
            <p:ph idx="11" type="ftr"/>
          </p:nvPr>
        </p:nvSpPr>
        <p:spPr>
          <a:xfrm>
            <a:off x="3124200" y="4767267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1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2"/>
          <p:cNvSpPr txBox="1"/>
          <p:nvPr>
            <p:ph type="title"/>
          </p:nvPr>
        </p:nvSpPr>
        <p:spPr>
          <a:xfrm>
            <a:off x="457203" y="204788"/>
            <a:ext cx="3008400" cy="87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500"/>
              <a:buFont typeface="Helvetica Neue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2"/>
          <p:cNvSpPr txBox="1"/>
          <p:nvPr>
            <p:ph idx="1" type="body"/>
          </p:nvPr>
        </p:nvSpPr>
        <p:spPr>
          <a:xfrm>
            <a:off x="3575050" y="204792"/>
            <a:ext cx="5111700" cy="438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64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1"/>
              <a:buChar char="•"/>
              <a:defRPr sz="2401"/>
            </a:lvl1pPr>
            <a:lvl2pPr indent="-362014" lvl="1" marL="91440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1"/>
              <a:buChar char="–"/>
              <a:defRPr sz="2101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7" name="Google Shape;67;p12"/>
          <p:cNvSpPr txBox="1"/>
          <p:nvPr>
            <p:ph idx="2" type="body"/>
          </p:nvPr>
        </p:nvSpPr>
        <p:spPr>
          <a:xfrm>
            <a:off x="457203" y="1076327"/>
            <a:ext cx="3008400" cy="351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10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1pPr>
            <a:lvl2pPr indent="-228600" lvl="1" marL="914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150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3pPr>
            <a:lvl4pPr indent="-228600" lvl="3" marL="1828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4pPr>
            <a:lvl5pPr indent="-228600" lvl="4" marL="22860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5pPr>
            <a:lvl6pPr indent="-228600" lvl="5" marL="27432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6pPr>
            <a:lvl7pPr indent="-228600" lvl="6" marL="32004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7pPr>
            <a:lvl8pPr indent="-228600" lvl="7" marL="36576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8pPr>
            <a:lvl9pPr indent="-228600" lvl="8" marL="4114800" algn="l">
              <a:spcBef>
                <a:spcPts val="135"/>
              </a:spcBef>
              <a:spcAft>
                <a:spcPts val="0"/>
              </a:spcAft>
              <a:buClr>
                <a:schemeClr val="dk1"/>
              </a:buClr>
              <a:buSzPts val="675"/>
              <a:buNone/>
              <a:defRPr sz="675"/>
            </a:lvl9pPr>
          </a:lstStyle>
          <a:p/>
        </p:txBody>
      </p:sp>
      <p:sp>
        <p:nvSpPr>
          <p:cNvPr id="68" name="Google Shape;68;p12"/>
          <p:cNvSpPr txBox="1"/>
          <p:nvPr>
            <p:ph idx="10" type="dt"/>
          </p:nvPr>
        </p:nvSpPr>
        <p:spPr>
          <a:xfrm>
            <a:off x="457200" y="4767267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2"/>
          <p:cNvSpPr txBox="1"/>
          <p:nvPr>
            <p:ph idx="11" type="ftr"/>
          </p:nvPr>
        </p:nvSpPr>
        <p:spPr>
          <a:xfrm>
            <a:off x="3124200" y="4767267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0" name="Google Shape;70;p12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3"/>
          <p:cNvSpPr txBox="1"/>
          <p:nvPr>
            <p:ph type="title"/>
          </p:nvPr>
        </p:nvSpPr>
        <p:spPr>
          <a:xfrm>
            <a:off x="213474" y="256327"/>
            <a:ext cx="86865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" type="body"/>
          </p:nvPr>
        </p:nvSpPr>
        <p:spPr>
          <a:xfrm rot="5400000">
            <a:off x="2958100" y="-1740550"/>
            <a:ext cx="3197100" cy="868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0" type="dt"/>
          </p:nvPr>
        </p:nvSpPr>
        <p:spPr>
          <a:xfrm>
            <a:off x="457200" y="4767267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3"/>
          <p:cNvSpPr txBox="1"/>
          <p:nvPr>
            <p:ph idx="11" type="ftr"/>
          </p:nvPr>
        </p:nvSpPr>
        <p:spPr>
          <a:xfrm>
            <a:off x="3124200" y="4767267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6" name="Google Shape;76;p13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 rot="5400000">
            <a:off x="5463750" y="1371633"/>
            <a:ext cx="4388700" cy="20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4"/>
          <p:cNvSpPr txBox="1"/>
          <p:nvPr>
            <p:ph idx="1" type="body"/>
          </p:nvPr>
        </p:nvSpPr>
        <p:spPr>
          <a:xfrm rot="5400000">
            <a:off x="1272750" y="-609567"/>
            <a:ext cx="4388700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0" type="dt"/>
          </p:nvPr>
        </p:nvSpPr>
        <p:spPr>
          <a:xfrm>
            <a:off x="457200" y="4767267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1" name="Google Shape;81;p14"/>
          <p:cNvSpPr txBox="1"/>
          <p:nvPr>
            <p:ph idx="11" type="ftr"/>
          </p:nvPr>
        </p:nvSpPr>
        <p:spPr>
          <a:xfrm>
            <a:off x="3124200" y="4767267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2" name="Google Shape;82;p14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6" Type="http://schemas.openxmlformats.org/officeDocument/2006/relationships/theme" Target="../theme/theme4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theme" Target="../theme/theme1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-1" y="4537007"/>
            <a:ext cx="9157800" cy="606600"/>
          </a:xfrm>
          <a:prstGeom prst="rect">
            <a:avLst/>
          </a:prstGeom>
          <a:solidFill>
            <a:srgbClr val="041E42"/>
          </a:solidFill>
          <a:ln cap="flat" cmpd="sng" w="9525">
            <a:solidFill>
              <a:srgbClr val="00387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"/>
          <p:cNvSpPr txBox="1"/>
          <p:nvPr>
            <p:ph type="title"/>
          </p:nvPr>
        </p:nvSpPr>
        <p:spPr>
          <a:xfrm>
            <a:off x="213474" y="256327"/>
            <a:ext cx="8686500" cy="6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2701"/>
              <a:buFont typeface="Helvetica Neue"/>
              <a:buNone/>
              <a:defRPr b="1" i="0" sz="2701" u="none" cap="none" strike="noStrike">
                <a:solidFill>
                  <a:srgbClr val="002D5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2" name="Google Shape;12;p1"/>
          <p:cNvSpPr txBox="1"/>
          <p:nvPr>
            <p:ph idx="1" type="body"/>
          </p:nvPr>
        </p:nvSpPr>
        <p:spPr>
          <a:xfrm>
            <a:off x="213474" y="1004150"/>
            <a:ext cx="8686500" cy="31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64" lvl="0" marL="4572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1"/>
              <a:buFont typeface="Arial"/>
              <a:buChar char="•"/>
              <a:defRPr b="0" i="0" sz="2401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62014" lvl="1" marL="914400" marR="0" rtl="0" algn="l"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1"/>
              <a:buFont typeface="Arial"/>
              <a:buChar char="–"/>
              <a:defRPr b="0" i="0" sz="2101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42900" lvl="2" marL="1371600" marR="0" rtl="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2" type="sldNum"/>
          </p:nvPr>
        </p:nvSpPr>
        <p:spPr>
          <a:xfrm>
            <a:off x="427896" y="4553146"/>
            <a:ext cx="3930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750" u="none" cap="none" strike="noStrike">
                <a:solidFill>
                  <a:schemeClr val="lt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4" name="Google Shape;14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5831905" y="4778446"/>
            <a:ext cx="2300996" cy="167884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1"/>
          <p:cNvSpPr/>
          <p:nvPr/>
        </p:nvSpPr>
        <p:spPr>
          <a:xfrm>
            <a:off x="-1" y="4467486"/>
            <a:ext cx="9144000" cy="69600"/>
          </a:xfrm>
          <a:prstGeom prst="rect">
            <a:avLst/>
          </a:prstGeom>
          <a:solidFill>
            <a:srgbClr val="BBBCB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2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9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1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Relationship Id="rId4" Type="http://schemas.openxmlformats.org/officeDocument/2006/relationships/image" Target="../media/image11.png"/><Relationship Id="rId5" Type="http://schemas.openxmlformats.org/officeDocument/2006/relationships/image" Target="../media/image17.png"/><Relationship Id="rId6" Type="http://schemas.openxmlformats.org/officeDocument/2006/relationships/image" Target="../media/image1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0"/>
          <p:cNvSpPr/>
          <p:nvPr/>
        </p:nvSpPr>
        <p:spPr>
          <a:xfrm>
            <a:off x="457200" y="457200"/>
            <a:ext cx="914400" cy="36600"/>
          </a:xfrm>
          <a:prstGeom prst="rect">
            <a:avLst/>
          </a:prstGeom>
          <a:solidFill>
            <a:srgbClr val="F4B942"/>
          </a:solidFill>
          <a:ln cap="flat" cmpd="sng" w="12700">
            <a:solidFill>
              <a:srgbClr val="F4B9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20"/>
          <p:cNvSpPr/>
          <p:nvPr/>
        </p:nvSpPr>
        <p:spPr>
          <a:xfrm>
            <a:off x="457200" y="594360"/>
            <a:ext cx="7315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100"/>
              <a:buFont typeface="Calibri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20"/>
          <p:cNvSpPr/>
          <p:nvPr/>
        </p:nvSpPr>
        <p:spPr>
          <a:xfrm>
            <a:off x="457200" y="1315189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Georgia"/>
              <a:buNone/>
            </a:pPr>
            <a:r>
              <a:rPr b="1" i="0" lang="en-US" sz="42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H-1B Approval: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0"/>
          <p:cNvSpPr/>
          <p:nvPr/>
        </p:nvSpPr>
        <p:spPr>
          <a:xfrm>
            <a:off x="457200" y="2613233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3600"/>
              <a:buFont typeface="Georgia"/>
              <a:buNone/>
            </a:pPr>
            <a:r>
              <a:rPr b="1" i="1" lang="en-US" sz="3800" u="none" cap="none" strike="noStrike">
                <a:solidFill>
                  <a:srgbClr val="F4B942"/>
                </a:solidFill>
                <a:latin typeface="Georgia"/>
                <a:ea typeface="Georgia"/>
                <a:cs typeface="Georgia"/>
                <a:sym typeface="Georgia"/>
              </a:rPr>
              <a:t>How Much Can Public Data Explain?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0"/>
          <p:cNvSpPr/>
          <p:nvPr/>
        </p:nvSpPr>
        <p:spPr>
          <a:xfrm>
            <a:off x="391050" y="594358"/>
            <a:ext cx="82296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500"/>
              <a:buFont typeface="Georgia"/>
              <a:buNone/>
            </a:pPr>
            <a:r>
              <a:rPr b="0" i="1" lang="en-US" sz="1500" u="none" cap="none" strike="noStrike">
                <a:solidFill>
                  <a:srgbClr val="CBD5E1"/>
                </a:solidFill>
                <a:latin typeface="Georgia"/>
                <a:ea typeface="Georgia"/>
                <a:cs typeface="Georgia"/>
                <a:sym typeface="Georgia"/>
              </a:rPr>
              <a:t>A three-layer explainability audit of USCIS, OFLC, and Census data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0"/>
          <p:cNvSpPr/>
          <p:nvPr/>
        </p:nvSpPr>
        <p:spPr>
          <a:xfrm>
            <a:off x="298450" y="4543286"/>
            <a:ext cx="7315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Xiao Xu  ·  Cassie Zhang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" name="Google Shape;9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48671" y="3796034"/>
            <a:ext cx="1512592" cy="1067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589488" y="335491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lang="en-US" sz="3800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What is t</a:t>
            </a:r>
            <a:r>
              <a:rPr b="1" i="0" lang="en-US" sz="3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he H-1B Visa Program</a:t>
            </a:r>
            <a:endParaRPr b="0" i="0" sz="3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21"/>
          <p:cNvSpPr/>
          <p:nvPr/>
        </p:nvSpPr>
        <p:spPr>
          <a:xfrm>
            <a:off x="457138" y="11412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1"/>
          <p:cNvSpPr/>
          <p:nvPr/>
        </p:nvSpPr>
        <p:spPr>
          <a:xfrm>
            <a:off x="295450" y="1010372"/>
            <a:ext cx="82740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2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The H-1B visa allows U.S. employers to recruit highly skilled foreign professionals to address domestic labor shortages.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1"/>
          <p:cNvSpPr/>
          <p:nvPr/>
        </p:nvSpPr>
        <p:spPr>
          <a:xfrm>
            <a:off x="237438" y="2224279"/>
            <a:ext cx="4846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lang="en-US" sz="2600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Industry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1"/>
          <p:cNvSpPr/>
          <p:nvPr/>
        </p:nvSpPr>
        <p:spPr>
          <a:xfrm>
            <a:off x="248188" y="2688384"/>
            <a:ext cx="640200" cy="4389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0" name="Google Shape;11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8597" y="2847218"/>
            <a:ext cx="198883" cy="198883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/>
          <p:nvPr/>
        </p:nvSpPr>
        <p:spPr>
          <a:xfrm>
            <a:off x="1037013" y="2681499"/>
            <a:ext cx="3931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Technology, engineering, finance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1"/>
          <p:cNvSpPr/>
          <p:nvPr/>
        </p:nvSpPr>
        <p:spPr>
          <a:xfrm>
            <a:off x="295438" y="3426028"/>
            <a:ext cx="571500" cy="4389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3" name="Google Shape;11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48610" y="3545969"/>
            <a:ext cx="198883" cy="198883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1"/>
          <p:cNvSpPr/>
          <p:nvPr/>
        </p:nvSpPr>
        <p:spPr>
          <a:xfrm>
            <a:off x="1026288" y="3447750"/>
            <a:ext cx="39318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Healthcare and scientific research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1"/>
          <p:cNvSpPr/>
          <p:nvPr/>
        </p:nvSpPr>
        <p:spPr>
          <a:xfrm flipH="1" rot="10800000">
            <a:off x="253588" y="4163595"/>
            <a:ext cx="629400" cy="4962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6" name="Google Shape;116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90622" y="4288154"/>
            <a:ext cx="198883" cy="198883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21"/>
          <p:cNvSpPr/>
          <p:nvPr/>
        </p:nvSpPr>
        <p:spPr>
          <a:xfrm>
            <a:off x="1026300" y="4242356"/>
            <a:ext cx="4403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0" i="0" lang="en-US" sz="2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Supports U.S. global competitiveness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1"/>
          <p:cNvSpPr/>
          <p:nvPr/>
        </p:nvSpPr>
        <p:spPr>
          <a:xfrm>
            <a:off x="5292075" y="1950000"/>
            <a:ext cx="3752400" cy="31083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/>
          <p:nvPr/>
        </p:nvSpPr>
        <p:spPr>
          <a:xfrm>
            <a:off x="5499135" y="2053824"/>
            <a:ext cx="256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000"/>
              <a:buFont typeface="Calibri"/>
              <a:buNone/>
            </a:pPr>
            <a:r>
              <a:rPr b="1" i="0" lang="en-US" sz="24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AT A GLANCE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1"/>
          <p:cNvSpPr/>
          <p:nvPr/>
        </p:nvSpPr>
        <p:spPr>
          <a:xfrm>
            <a:off x="5499135" y="2460746"/>
            <a:ext cx="2560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b="0" i="1" lang="en-US" sz="1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FY 2024 petition data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21"/>
          <p:cNvSpPr/>
          <p:nvPr/>
        </p:nvSpPr>
        <p:spPr>
          <a:xfrm>
            <a:off x="5499135" y="2644716"/>
            <a:ext cx="2560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Georg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~407K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1"/>
          <p:cNvSpPr/>
          <p:nvPr/>
        </p:nvSpPr>
        <p:spPr>
          <a:xfrm>
            <a:off x="5474401" y="3360544"/>
            <a:ext cx="3319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7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r>
              <a:rPr b="0" i="0" lang="en-US" sz="1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etitions adjudicated by USCIS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21"/>
          <p:cNvCxnSpPr/>
          <p:nvPr/>
        </p:nvCxnSpPr>
        <p:spPr>
          <a:xfrm>
            <a:off x="5474400" y="3734559"/>
            <a:ext cx="3319200" cy="300"/>
          </a:xfrm>
          <a:prstGeom prst="straightConnector1">
            <a:avLst/>
          </a:prstGeom>
          <a:noFill/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" name="Google Shape;124;p21"/>
          <p:cNvSpPr/>
          <p:nvPr/>
        </p:nvSpPr>
        <p:spPr>
          <a:xfrm>
            <a:off x="5499123" y="3750953"/>
            <a:ext cx="2560200" cy="548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3400"/>
              <a:buFont typeface="Georgia"/>
              <a:buNone/>
            </a:pPr>
            <a:r>
              <a:rPr b="1" i="0" lang="en-US" sz="3400" u="none" cap="none" strike="noStrike">
                <a:solidFill>
                  <a:srgbClr val="F4B942"/>
                </a:solidFill>
                <a:latin typeface="Georgia"/>
                <a:ea typeface="Georgia"/>
                <a:cs typeface="Georgia"/>
                <a:sym typeface="Georgia"/>
              </a:rPr>
              <a:t>61,452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21"/>
          <p:cNvSpPr/>
          <p:nvPr/>
        </p:nvSpPr>
        <p:spPr>
          <a:xfrm>
            <a:off x="5463975" y="4315669"/>
            <a:ext cx="3408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100"/>
              <a:buFont typeface="Calibri"/>
              <a:buNone/>
            </a:pPr>
            <a:r>
              <a:rPr lang="en-US" sz="1700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</a:t>
            </a:r>
            <a:r>
              <a:rPr b="0" i="0" lang="en-US" sz="17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nique employer petitioners (USCIS release)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i="0" lang="en-US" sz="37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The H-1B Process </a:t>
            </a:r>
            <a:endParaRPr b="1" sz="3700">
              <a:solidFill>
                <a:srgbClr val="1E293B"/>
              </a:solidFill>
              <a:latin typeface="Georgia"/>
              <a:ea typeface="Georgia"/>
              <a:cs typeface="Georgia"/>
              <a:sym typeface="Georgi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lang="en-US" sz="3700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                             </a:t>
            </a:r>
            <a:r>
              <a:rPr b="1" i="0" lang="en-US" sz="37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— Where We Focus</a:t>
            </a:r>
            <a:endParaRPr b="0" i="0" sz="3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2"/>
          <p:cNvSpPr/>
          <p:nvPr/>
        </p:nvSpPr>
        <p:spPr>
          <a:xfrm>
            <a:off x="168938" y="2278941"/>
            <a:ext cx="2685000" cy="23760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2"/>
          <p:cNvSpPr/>
          <p:nvPr/>
        </p:nvSpPr>
        <p:spPr>
          <a:xfrm>
            <a:off x="397463" y="2405512"/>
            <a:ext cx="640200" cy="4572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2"/>
          <p:cNvSpPr/>
          <p:nvPr/>
        </p:nvSpPr>
        <p:spPr>
          <a:xfrm>
            <a:off x="168912" y="2483156"/>
            <a:ext cx="922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2"/>
          <p:cNvSpPr/>
          <p:nvPr/>
        </p:nvSpPr>
        <p:spPr>
          <a:xfrm>
            <a:off x="455917" y="3074621"/>
            <a:ext cx="21489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500"/>
              <a:buFont typeface="Calibri"/>
              <a:buNone/>
            </a:pPr>
            <a:r>
              <a:rPr b="1" i="0" lang="en-US" sz="20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Registration Lottery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2"/>
          <p:cNvSpPr/>
          <p:nvPr/>
        </p:nvSpPr>
        <p:spPr>
          <a:xfrm>
            <a:off x="447017" y="3666080"/>
            <a:ext cx="2148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00"/>
              <a:buFont typeface="Calibri"/>
              <a:buNone/>
            </a:pPr>
            <a:r>
              <a:rPr b="0" i="1" lang="en-US" sz="2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USCIS electronic selection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2"/>
          <p:cNvSpPr/>
          <p:nvPr/>
        </p:nvSpPr>
        <p:spPr>
          <a:xfrm>
            <a:off x="447017" y="4062884"/>
            <a:ext cx="2148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400"/>
              <a:buFont typeface="Georgia"/>
              <a:buNone/>
            </a:pPr>
            <a:r>
              <a:rPr b="1" i="0" lang="en-US" sz="3100" u="none" cap="none" strike="noStrike">
                <a:solidFill>
                  <a:srgbClr val="94A3B8"/>
                </a:solidFill>
                <a:latin typeface="Georgia"/>
                <a:ea typeface="Georgia"/>
                <a:cs typeface="Georgia"/>
                <a:sym typeface="Georgia"/>
              </a:rPr>
              <a:t>~25%</a:t>
            </a:r>
            <a:endParaRPr b="0" i="0" sz="3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2"/>
          <p:cNvSpPr/>
          <p:nvPr/>
        </p:nvSpPr>
        <p:spPr>
          <a:xfrm>
            <a:off x="384862" y="4233697"/>
            <a:ext cx="21489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2"/>
          <p:cNvSpPr/>
          <p:nvPr/>
        </p:nvSpPr>
        <p:spPr>
          <a:xfrm>
            <a:off x="2876713" y="1942988"/>
            <a:ext cx="411600" cy="237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22"/>
          <p:cNvSpPr/>
          <p:nvPr/>
        </p:nvSpPr>
        <p:spPr>
          <a:xfrm>
            <a:off x="3311100" y="2244732"/>
            <a:ext cx="2514600" cy="23760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2"/>
          <p:cNvSpPr/>
          <p:nvPr/>
        </p:nvSpPr>
        <p:spPr>
          <a:xfrm>
            <a:off x="3522887" y="2462663"/>
            <a:ext cx="640200" cy="411600"/>
          </a:xfrm>
          <a:prstGeom prst="ellipse">
            <a:avLst/>
          </a:prstGeom>
          <a:solidFill>
            <a:srgbClr val="F4B942"/>
          </a:solidFill>
          <a:ln cap="flat" cmpd="sng" w="12700">
            <a:solidFill>
              <a:srgbClr val="F4B9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22"/>
          <p:cNvSpPr/>
          <p:nvPr/>
        </p:nvSpPr>
        <p:spPr>
          <a:xfrm>
            <a:off x="3681355" y="2462661"/>
            <a:ext cx="41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540"/>
              </a:buClr>
              <a:buSzPts val="1600"/>
              <a:buFont typeface="Georgia"/>
              <a:buNone/>
            </a:pPr>
            <a:r>
              <a:rPr b="1" i="0" lang="en-US" sz="1600" u="none" cap="none" strike="noStrike">
                <a:solidFill>
                  <a:srgbClr val="0A2540"/>
                </a:solidFill>
                <a:latin typeface="Georgia"/>
                <a:ea typeface="Georgia"/>
                <a:cs typeface="Georgia"/>
                <a:sym typeface="Georgia"/>
              </a:rPr>
              <a:t>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2"/>
          <p:cNvSpPr/>
          <p:nvPr/>
        </p:nvSpPr>
        <p:spPr>
          <a:xfrm>
            <a:off x="3427568" y="2961090"/>
            <a:ext cx="21489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Petition Adjudication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2"/>
          <p:cNvSpPr/>
          <p:nvPr/>
        </p:nvSpPr>
        <p:spPr>
          <a:xfrm>
            <a:off x="3493980" y="3469280"/>
            <a:ext cx="2148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00"/>
              <a:buFont typeface="Calibri"/>
              <a:buNone/>
            </a:pPr>
            <a:r>
              <a:rPr b="0" i="1" lang="en-US" sz="1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Form I-129 review by USCIS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22"/>
          <p:cNvSpPr/>
          <p:nvPr/>
        </p:nvSpPr>
        <p:spPr>
          <a:xfrm>
            <a:off x="3493968" y="3789659"/>
            <a:ext cx="2148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2400"/>
              <a:buFont typeface="Georgia"/>
              <a:buNone/>
            </a:pPr>
            <a:r>
              <a:rPr b="1" i="0" lang="en-US" sz="2400" u="none" cap="none" strike="noStrike">
                <a:solidFill>
                  <a:srgbClr val="F4B942"/>
                </a:solidFill>
                <a:latin typeface="Georgia"/>
                <a:ea typeface="Georgia"/>
                <a:cs typeface="Georgia"/>
                <a:sym typeface="Georgia"/>
              </a:rPr>
              <a:t>~97%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2"/>
          <p:cNvSpPr/>
          <p:nvPr/>
        </p:nvSpPr>
        <p:spPr>
          <a:xfrm>
            <a:off x="3493968" y="4168073"/>
            <a:ext cx="2148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900"/>
              <a:buFont typeface="Calibri"/>
              <a:buNone/>
            </a:pPr>
            <a:r>
              <a:rPr lang="en-US" sz="2600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b="0" i="0" lang="en-US" sz="26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pproval rate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2"/>
          <p:cNvSpPr/>
          <p:nvPr/>
        </p:nvSpPr>
        <p:spPr>
          <a:xfrm>
            <a:off x="3475593" y="4292984"/>
            <a:ext cx="2148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9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2"/>
          <p:cNvSpPr/>
          <p:nvPr/>
        </p:nvSpPr>
        <p:spPr>
          <a:xfrm>
            <a:off x="5848513" y="2056725"/>
            <a:ext cx="411600" cy="217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2"/>
          <p:cNvSpPr/>
          <p:nvPr/>
        </p:nvSpPr>
        <p:spPr>
          <a:xfrm>
            <a:off x="6345588" y="2244731"/>
            <a:ext cx="2629500" cy="2410200"/>
          </a:xfrm>
          <a:prstGeom prst="rect">
            <a:avLst/>
          </a:prstGeom>
          <a:solidFill>
            <a:srgbClr val="F1F5F9"/>
          </a:solidFill>
          <a:ln cap="flat" cmpd="sng" w="1017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25" lIns="97625" spcFirstLastPara="1" rIns="97625" wrap="square" tIns="97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22"/>
          <p:cNvSpPr/>
          <p:nvPr/>
        </p:nvSpPr>
        <p:spPr>
          <a:xfrm>
            <a:off x="6540889" y="2469206"/>
            <a:ext cx="701100" cy="411600"/>
          </a:xfrm>
          <a:prstGeom prst="ellipse">
            <a:avLst/>
          </a:prstGeom>
          <a:solidFill>
            <a:srgbClr val="1C7293"/>
          </a:solidFill>
          <a:ln cap="flat" cmpd="sng" w="1355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7625" lIns="97625" spcFirstLastPara="1" rIns="97625" wrap="square" tIns="97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2"/>
          <p:cNvSpPr/>
          <p:nvPr/>
        </p:nvSpPr>
        <p:spPr>
          <a:xfrm>
            <a:off x="6648310" y="2455552"/>
            <a:ext cx="439500" cy="45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708"/>
              <a:buFont typeface="Georgia"/>
              <a:buNone/>
            </a:pPr>
            <a:r>
              <a:rPr b="1" i="0" lang="en-US" sz="1708" u="none" cap="none" strike="noStrik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3</a:t>
            </a:r>
            <a:endParaRPr b="0" i="0" sz="1708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2"/>
          <p:cNvSpPr/>
          <p:nvPr/>
        </p:nvSpPr>
        <p:spPr>
          <a:xfrm>
            <a:off x="6532185" y="2959550"/>
            <a:ext cx="22944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602"/>
              <a:buFont typeface="Calibri"/>
              <a:buNone/>
            </a:pPr>
            <a:r>
              <a:rPr b="1" i="0" lang="en-US" sz="2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Visa Issuance</a:t>
            </a:r>
            <a:endParaRPr b="0" i="0" sz="2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22"/>
          <p:cNvSpPr/>
          <p:nvPr/>
        </p:nvSpPr>
        <p:spPr>
          <a:xfrm>
            <a:off x="6540863" y="3960020"/>
            <a:ext cx="2294400" cy="354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68"/>
              <a:buFont typeface="Calibri"/>
              <a:buNone/>
            </a:pPr>
            <a:r>
              <a:rPr i="1" lang="en-US" sz="22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r>
              <a:rPr b="0" i="1" lang="en-US" sz="22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tatus change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2"/>
          <p:cNvSpPr/>
          <p:nvPr/>
        </p:nvSpPr>
        <p:spPr>
          <a:xfrm>
            <a:off x="3610475" y="1942894"/>
            <a:ext cx="1783200" cy="274200"/>
          </a:xfrm>
          <a:prstGeom prst="rect">
            <a:avLst/>
          </a:prstGeom>
          <a:solidFill>
            <a:srgbClr val="F4B942"/>
          </a:solidFill>
          <a:ln cap="flat" cmpd="sng" w="12700">
            <a:solidFill>
              <a:srgbClr val="F4B9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22"/>
          <p:cNvSpPr/>
          <p:nvPr/>
        </p:nvSpPr>
        <p:spPr>
          <a:xfrm>
            <a:off x="3610423" y="1942894"/>
            <a:ext cx="178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A2540"/>
              </a:buClr>
              <a:buSzPts val="1000"/>
              <a:buFont typeface="Calibri"/>
              <a:buNone/>
            </a:pPr>
            <a:r>
              <a:rPr b="1" i="0" lang="en-US" sz="19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OUR SCOPE</a:t>
            </a:r>
            <a:endParaRPr b="0" i="0" sz="1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2"/>
          <p:cNvSpPr/>
          <p:nvPr/>
        </p:nvSpPr>
        <p:spPr>
          <a:xfrm>
            <a:off x="8024773" y="4960504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/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/>
          <p:nvPr/>
        </p:nvSpPr>
        <p:spPr>
          <a:xfrm>
            <a:off x="265450" y="329275"/>
            <a:ext cx="73152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3000"/>
              <a:buFont typeface="Georgia"/>
              <a:buNone/>
            </a:pPr>
            <a:r>
              <a:rPr b="1" lang="en-US" sz="3000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The Policy Problem:</a:t>
            </a:r>
            <a:endParaRPr sz="3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3"/>
          <p:cNvSpPr/>
          <p:nvPr/>
        </p:nvSpPr>
        <p:spPr>
          <a:xfrm>
            <a:off x="344400" y="1693475"/>
            <a:ext cx="73200" cy="2834700"/>
          </a:xfrm>
          <a:prstGeom prst="rect">
            <a:avLst/>
          </a:prstGeom>
          <a:solidFill>
            <a:srgbClr val="F4B942"/>
          </a:solidFill>
          <a:ln cap="flat" cmpd="sng" w="12700">
            <a:solidFill>
              <a:srgbClr val="F4B9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3"/>
          <p:cNvSpPr/>
          <p:nvPr/>
        </p:nvSpPr>
        <p:spPr>
          <a:xfrm>
            <a:off x="618720" y="3293675"/>
            <a:ext cx="3566100" cy="118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t/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23"/>
          <p:cNvSpPr/>
          <p:nvPr/>
        </p:nvSpPr>
        <p:spPr>
          <a:xfrm>
            <a:off x="744450" y="1602025"/>
            <a:ext cx="7771800" cy="8688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3"/>
          <p:cNvSpPr/>
          <p:nvPr/>
        </p:nvSpPr>
        <p:spPr>
          <a:xfrm>
            <a:off x="1149000" y="1784905"/>
            <a:ext cx="502800" cy="502800"/>
          </a:xfrm>
          <a:prstGeom prst="ellipse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7" name="Google Shape;16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0960" y="1903802"/>
            <a:ext cx="198882" cy="19888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3"/>
          <p:cNvSpPr/>
          <p:nvPr/>
        </p:nvSpPr>
        <p:spPr>
          <a:xfrm>
            <a:off x="1834800" y="1858079"/>
            <a:ext cx="2834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lang="en-US" sz="19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Opaque decision factors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4852500" y="1812337"/>
            <a:ext cx="3313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Little transparency on what predicts approval vs. denial.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744450" y="2580425"/>
            <a:ext cx="7771800" cy="8688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3"/>
          <p:cNvSpPr/>
          <p:nvPr/>
        </p:nvSpPr>
        <p:spPr>
          <a:xfrm>
            <a:off x="1149000" y="2763313"/>
            <a:ext cx="502800" cy="502800"/>
          </a:xfrm>
          <a:prstGeom prst="ellipse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2" name="Google Shape;17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00960" y="2915398"/>
            <a:ext cx="198882" cy="19888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3"/>
          <p:cNvSpPr/>
          <p:nvPr/>
        </p:nvSpPr>
        <p:spPr>
          <a:xfrm>
            <a:off x="1834800" y="2854799"/>
            <a:ext cx="2834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lang="en-US" sz="17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Possible structural disparities</a:t>
            </a:r>
            <a:endParaRPr sz="17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23"/>
          <p:cNvSpPr/>
          <p:nvPr/>
        </p:nvSpPr>
        <p:spPr>
          <a:xfrm>
            <a:off x="4852500" y="2809025"/>
            <a:ext cx="29079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lang="en-US" sz="15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Unclear whether outcomes vary by industry, region, or employer type.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3"/>
          <p:cNvSpPr/>
          <p:nvPr/>
        </p:nvSpPr>
        <p:spPr>
          <a:xfrm>
            <a:off x="744450" y="3558850"/>
            <a:ext cx="7829700" cy="8688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3"/>
          <p:cNvSpPr/>
          <p:nvPr/>
        </p:nvSpPr>
        <p:spPr>
          <a:xfrm>
            <a:off x="1149000" y="3760121"/>
            <a:ext cx="502800" cy="502800"/>
          </a:xfrm>
          <a:prstGeom prst="ellipse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77" name="Google Shape;177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00960" y="3926993"/>
            <a:ext cx="198882" cy="19888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23"/>
          <p:cNvSpPr/>
          <p:nvPr/>
        </p:nvSpPr>
        <p:spPr>
          <a:xfrm>
            <a:off x="1832525" y="3851470"/>
            <a:ext cx="2834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lang="en-US" sz="19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Limited public data</a:t>
            </a:r>
            <a:endParaRPr sz="1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3"/>
          <p:cNvSpPr/>
          <p:nvPr/>
        </p:nvSpPr>
        <p:spPr>
          <a:xfrm>
            <a:off x="4847950" y="3851475"/>
            <a:ext cx="3081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lang="en-US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Available variables may be too coarse for robust oversight.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3"/>
          <p:cNvSpPr/>
          <p:nvPr/>
        </p:nvSpPr>
        <p:spPr>
          <a:xfrm>
            <a:off x="344400" y="4573835"/>
            <a:ext cx="8229600" cy="2742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3"/>
          <p:cNvSpPr txBox="1"/>
          <p:nvPr/>
        </p:nvSpPr>
        <p:spPr>
          <a:xfrm>
            <a:off x="2831175" y="932625"/>
            <a:ext cx="87078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200"/>
              <a:buFont typeface="Georgia"/>
              <a:buNone/>
            </a:pPr>
            <a:r>
              <a:rPr b="1" lang="en-US" sz="2200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"The adjudication process is a black box"</a:t>
            </a:r>
            <a:endParaRPr>
              <a:solidFill>
                <a:srgbClr val="B91C1C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/>
          <p:nvPr>
            <p:ph type="title"/>
          </p:nvPr>
        </p:nvSpPr>
        <p:spPr>
          <a:xfrm>
            <a:off x="228751" y="196372"/>
            <a:ext cx="8686500" cy="435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2D50"/>
              </a:buClr>
              <a:buSzPts val="2430"/>
              <a:buFont typeface="Helvetica Neue"/>
              <a:buNone/>
            </a:pPr>
            <a:r>
              <a:rPr lang="en-US" sz="2631"/>
              <a:t>Dataset</a:t>
            </a:r>
            <a:endParaRPr sz="2631"/>
          </a:p>
        </p:txBody>
      </p:sp>
      <p:sp>
        <p:nvSpPr>
          <p:cNvPr id="188" name="Google Shape;188;p24"/>
          <p:cNvSpPr txBox="1"/>
          <p:nvPr/>
        </p:nvSpPr>
        <p:spPr>
          <a:xfrm>
            <a:off x="325397" y="1019635"/>
            <a:ext cx="8066700" cy="34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</a:rPr>
              <a:t>1.USCIS</a:t>
            </a:r>
            <a:r>
              <a:rPr lang="en-US" sz="1700">
                <a:solidFill>
                  <a:schemeClr val="dk1"/>
                </a:solidFill>
              </a:rPr>
              <a:t> — H-1B Employer Data Hub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700"/>
              <a:buChar char="●"/>
            </a:pPr>
            <a:r>
              <a:rPr lang="en-US" sz="1700">
                <a:solidFill>
                  <a:srgbClr val="188038"/>
                </a:solidFill>
              </a:rPr>
              <a:t>State, industry, and approval/denial counts</a:t>
            </a:r>
            <a:endParaRPr sz="1700">
              <a:solidFill>
                <a:srgbClr val="188038"/>
              </a:solidFill>
            </a:endParaRPr>
          </a:p>
          <a:p>
            <a:pPr indent="0" lvl="0" marL="4572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88038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700">
                <a:solidFill>
                  <a:schemeClr val="dk1"/>
                </a:solidFill>
              </a:rPr>
              <a:t>2.OFLC LCA</a:t>
            </a:r>
            <a:r>
              <a:rPr lang="en-US" sz="1700">
                <a:solidFill>
                  <a:schemeClr val="dk1"/>
                </a:solidFill>
              </a:rPr>
              <a:t> </a:t>
            </a:r>
            <a:endParaRPr sz="17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</a:rPr>
              <a:t>— </a:t>
            </a:r>
            <a:r>
              <a:rPr lang="en-US" sz="1700">
                <a:solidFill>
                  <a:schemeClr val="dk1"/>
                </a:solidFill>
              </a:rPr>
              <a:t>Department of Labor's Labor Condition Application disclosures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700"/>
              <a:buChar char="●"/>
            </a:pPr>
            <a:r>
              <a:rPr lang="en-US" sz="1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Worksite City / State, AVG_ANNUAL_WAGE</a:t>
            </a:r>
            <a:r>
              <a:rPr lang="en-US" sz="1700">
                <a:solidFill>
                  <a:srgbClr val="188038"/>
                </a:solidFill>
              </a:rPr>
              <a:t> </a:t>
            </a:r>
            <a:endParaRPr sz="1700">
              <a:solidFill>
                <a:srgbClr val="188038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700">
              <a:solidFill>
                <a:srgbClr val="188038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</a:rPr>
              <a:t>3.</a:t>
            </a:r>
            <a:r>
              <a:rPr b="1" lang="en-US" sz="1700">
                <a:solidFill>
                  <a:schemeClr val="dk1"/>
                </a:solidFill>
              </a:rPr>
              <a:t>U.S. Census Bureau</a:t>
            </a:r>
            <a:r>
              <a:rPr lang="en-US" sz="1700">
                <a:solidFill>
                  <a:schemeClr val="dk1"/>
                </a:solidFill>
              </a:rPr>
              <a:t> and the </a:t>
            </a:r>
            <a:r>
              <a:rPr b="1" lang="en-US" sz="1700">
                <a:solidFill>
                  <a:schemeClr val="dk1"/>
                </a:solidFill>
              </a:rPr>
              <a:t>Bureau of Labor Statistics (BLS)</a:t>
            </a:r>
            <a:r>
              <a:rPr lang="en-US" sz="1700">
                <a:solidFill>
                  <a:schemeClr val="dk1"/>
                </a:solidFill>
              </a:rPr>
              <a:t>  </a:t>
            </a:r>
            <a:endParaRPr sz="17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chemeClr val="dk1"/>
                </a:solidFill>
              </a:rPr>
              <a:t>— City-level economic indicators</a:t>
            </a:r>
            <a:endParaRPr sz="1700">
              <a:solidFill>
                <a:schemeClr val="dk1"/>
              </a:solidFill>
            </a:endParaRPr>
          </a:p>
          <a:p>
            <a:pPr indent="-336550" lvl="0" marL="4572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88038"/>
              </a:buClr>
              <a:buSzPts val="1700"/>
              <a:buChar char="●"/>
            </a:pPr>
            <a:r>
              <a:rPr lang="en-US" sz="1700">
                <a:solidFill>
                  <a:srgbClr val="188038"/>
                </a:solidFill>
              </a:rPr>
              <a:t>Population, density, rent, employment rates</a:t>
            </a:r>
            <a:endParaRPr sz="1700">
              <a:solidFill>
                <a:srgbClr val="188038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24"/>
          <p:cNvSpPr txBox="1"/>
          <p:nvPr/>
        </p:nvSpPr>
        <p:spPr>
          <a:xfrm>
            <a:off x="4683208" y="16144638"/>
            <a:ext cx="4376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Bulleted Text Style Title—</a:t>
            </a:r>
            <a:br>
              <a:rPr b="1" i="0" lang="en-US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b="1" i="0" lang="en-US" sz="1500" u="none" cap="none" strike="noStrike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Helvetica Neue 20pt Bold</a:t>
            </a:r>
            <a:endParaRPr/>
          </a:p>
        </p:txBody>
      </p:sp>
      <p:pic>
        <p:nvPicPr>
          <p:cNvPr id="190" name="Google Shape;19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6613" y="631675"/>
            <a:ext cx="1387375" cy="1173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23245" y="1725795"/>
            <a:ext cx="1223975" cy="1223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623250" y="3243550"/>
            <a:ext cx="1397064" cy="122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5"/>
          <p:cNvSpPr/>
          <p:nvPr/>
        </p:nvSpPr>
        <p:spPr>
          <a:xfrm>
            <a:off x="457200" y="274320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METHODS  —  PIPELINE ARCHITECTURE</a:t>
            </a:r>
            <a:endParaRPr/>
          </a:p>
        </p:txBody>
      </p:sp>
      <p:sp>
        <p:nvSpPr>
          <p:cNvPr id="198" name="Google Shape;198;p25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End-to-End Reproducible Pipeline</a:t>
            </a:r>
            <a:endParaRPr/>
          </a:p>
        </p:txBody>
      </p:sp>
      <p:sp>
        <p:nvSpPr>
          <p:cNvPr id="199" name="Google Shape;199;p25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One input → one output per stage  ·  Parquet at every boundary  ·  any stage re-runnable</a:t>
            </a:r>
            <a:endParaRPr/>
          </a:p>
        </p:txBody>
      </p:sp>
      <p:sp>
        <p:nvSpPr>
          <p:cNvPr id="200" name="Google Shape;200;p25"/>
          <p:cNvSpPr/>
          <p:nvPr/>
        </p:nvSpPr>
        <p:spPr>
          <a:xfrm>
            <a:off x="457200" y="4754874"/>
            <a:ext cx="4559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scripts/run_pipeline.py orchestrates 5 stages  ·  61,452 employer rows  →  3,968 merged cities</a:t>
            </a:r>
            <a:endParaRPr/>
          </a:p>
        </p:txBody>
      </p:sp>
      <p:sp>
        <p:nvSpPr>
          <p:cNvPr id="201" name="Google Shape;201;p25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 / 15</a:t>
            </a:r>
            <a:endParaRPr/>
          </a:p>
        </p:txBody>
      </p:sp>
      <p:sp>
        <p:nvSpPr>
          <p:cNvPr id="202" name="Google Shape;202;p25"/>
          <p:cNvSpPr/>
          <p:nvPr/>
        </p:nvSpPr>
        <p:spPr>
          <a:xfrm>
            <a:off x="457200" y="1783080"/>
            <a:ext cx="777300" cy="384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RAW</a:t>
            </a:r>
            <a:endParaRPr/>
          </a:p>
        </p:txBody>
      </p:sp>
      <p:sp>
        <p:nvSpPr>
          <p:cNvPr id="203" name="Google Shape;203;p25"/>
          <p:cNvSpPr/>
          <p:nvPr/>
        </p:nvSpPr>
        <p:spPr>
          <a:xfrm>
            <a:off x="1280160" y="1783080"/>
            <a:ext cx="3200400" cy="3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data/raw/h1b_fy2024.csv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USCIS FY2024 employer release · UTF-16 · 61,452 rows</a:t>
            </a:r>
            <a:endParaRPr/>
          </a:p>
        </p:txBody>
      </p:sp>
      <p:sp>
        <p:nvSpPr>
          <p:cNvPr id="204" name="Google Shape;204;p25"/>
          <p:cNvSpPr/>
          <p:nvPr/>
        </p:nvSpPr>
        <p:spPr>
          <a:xfrm>
            <a:off x="457200" y="2240280"/>
            <a:ext cx="777300" cy="384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CLEAN</a:t>
            </a:r>
            <a:endParaRPr/>
          </a:p>
        </p:txBody>
      </p:sp>
      <p:sp>
        <p:nvSpPr>
          <p:cNvPr id="205" name="Google Shape;205;p25"/>
          <p:cNvSpPr/>
          <p:nvPr/>
        </p:nvSpPr>
        <p:spPr>
          <a:xfrm>
            <a:off x="1280160" y="2240280"/>
            <a:ext cx="3200400" cy="3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scripts/cleaning.py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snake_case · NAICS split · zip3 proxy · re-derived approval_rate</a:t>
            </a:r>
            <a:endParaRPr/>
          </a:p>
        </p:txBody>
      </p:sp>
      <p:sp>
        <p:nvSpPr>
          <p:cNvPr id="206" name="Google Shape;206;p25"/>
          <p:cNvSpPr/>
          <p:nvPr/>
        </p:nvSpPr>
        <p:spPr>
          <a:xfrm>
            <a:off x="457200" y="2697480"/>
            <a:ext cx="777300" cy="384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FEATURES</a:t>
            </a:r>
            <a:endParaRPr/>
          </a:p>
        </p:txBody>
      </p:sp>
      <p:sp>
        <p:nvSpPr>
          <p:cNvPr id="207" name="Google Shape;207;p25"/>
          <p:cNvSpPr/>
          <p:nvPr/>
        </p:nvSpPr>
        <p:spPr>
          <a:xfrm>
            <a:off x="1280160" y="2697480"/>
            <a:ext cx="3200400" cy="3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scripts/feature_engineering.py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is_stem · region · size_bucket · share_continuing · log volumes</a:t>
            </a:r>
            <a:endParaRPr/>
          </a:p>
        </p:txBody>
      </p:sp>
      <p:sp>
        <p:nvSpPr>
          <p:cNvPr id="208" name="Google Shape;208;p25"/>
          <p:cNvSpPr/>
          <p:nvPr/>
        </p:nvSpPr>
        <p:spPr>
          <a:xfrm>
            <a:off x="457200" y="3154680"/>
            <a:ext cx="777300" cy="384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MERGE</a:t>
            </a:r>
            <a:endParaRPr/>
          </a:p>
        </p:txBody>
      </p:sp>
      <p:sp>
        <p:nvSpPr>
          <p:cNvPr id="209" name="Google Shape;209;p25"/>
          <p:cNvSpPr/>
          <p:nvPr/>
        </p:nvSpPr>
        <p:spPr>
          <a:xfrm>
            <a:off x="1280160" y="3154680"/>
            <a:ext cx="3200400" cy="3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scripts/merge_external.py  (+ _spark.py)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USCIS × LCA × Census  →  3,968 cities  ·  96.7% petition coverage</a:t>
            </a:r>
            <a:endParaRPr/>
          </a:p>
        </p:txBody>
      </p:sp>
      <p:sp>
        <p:nvSpPr>
          <p:cNvPr id="210" name="Google Shape;210;p25"/>
          <p:cNvSpPr/>
          <p:nvPr/>
        </p:nvSpPr>
        <p:spPr>
          <a:xfrm>
            <a:off x="457200" y="3611880"/>
            <a:ext cx="777300" cy="384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/>
          </a:p>
        </p:txBody>
      </p:sp>
      <p:sp>
        <p:nvSpPr>
          <p:cNvPr id="211" name="Google Shape;211;p25"/>
          <p:cNvSpPr/>
          <p:nvPr/>
        </p:nvSpPr>
        <p:spPr>
          <a:xfrm>
            <a:off x="1280160" y="3611880"/>
            <a:ext cx="3200400" cy="3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modeling.py  +  modeling_city.py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OLS / RandomForest / XGBoost  ·  structural vs enriched specs</a:t>
            </a:r>
            <a:endParaRPr/>
          </a:p>
        </p:txBody>
      </p:sp>
      <p:sp>
        <p:nvSpPr>
          <p:cNvPr id="212" name="Google Shape;212;p25"/>
          <p:cNvSpPr/>
          <p:nvPr/>
        </p:nvSpPr>
        <p:spPr>
          <a:xfrm>
            <a:off x="457200" y="4069080"/>
            <a:ext cx="777300" cy="384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ANALYSIS</a:t>
            </a:r>
            <a:endParaRPr/>
          </a:p>
        </p:txBody>
      </p:sp>
      <p:sp>
        <p:nvSpPr>
          <p:cNvPr id="213" name="Google Shape;213;p25"/>
          <p:cNvSpPr/>
          <p:nvPr/>
        </p:nvSpPr>
        <p:spPr>
          <a:xfrm>
            <a:off x="1280160" y="4069080"/>
            <a:ext cx="3200400" cy="384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scripts/analysis.py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8 figures + variance decomposition tables → outputs/</a:t>
            </a:r>
            <a:endParaRPr/>
          </a:p>
        </p:txBody>
      </p:sp>
      <p:cxnSp>
        <p:nvCxnSpPr>
          <p:cNvPr id="214" name="Google Shape;214;p25"/>
          <p:cNvCxnSpPr/>
          <p:nvPr/>
        </p:nvCxnSpPr>
        <p:spPr>
          <a:xfrm>
            <a:off x="841247" y="2176272"/>
            <a:ext cx="0" cy="54900"/>
          </a:xfrm>
          <a:prstGeom prst="straightConnector1">
            <a:avLst/>
          </a:prstGeom>
          <a:noFill/>
          <a:ln cap="flat" cmpd="sng" w="15875">
            <a:solidFill>
              <a:srgbClr val="0EA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215" name="Google Shape;215;p25"/>
          <p:cNvCxnSpPr/>
          <p:nvPr/>
        </p:nvCxnSpPr>
        <p:spPr>
          <a:xfrm>
            <a:off x="841247" y="2633472"/>
            <a:ext cx="0" cy="54900"/>
          </a:xfrm>
          <a:prstGeom prst="straightConnector1">
            <a:avLst/>
          </a:prstGeom>
          <a:noFill/>
          <a:ln cap="flat" cmpd="sng" w="15875">
            <a:solidFill>
              <a:srgbClr val="0EA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216" name="Google Shape;216;p25"/>
          <p:cNvCxnSpPr/>
          <p:nvPr/>
        </p:nvCxnSpPr>
        <p:spPr>
          <a:xfrm>
            <a:off x="841247" y="3090672"/>
            <a:ext cx="0" cy="54900"/>
          </a:xfrm>
          <a:prstGeom prst="straightConnector1">
            <a:avLst/>
          </a:prstGeom>
          <a:noFill/>
          <a:ln cap="flat" cmpd="sng" w="15875">
            <a:solidFill>
              <a:srgbClr val="0EA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217" name="Google Shape;217;p25"/>
          <p:cNvCxnSpPr/>
          <p:nvPr/>
        </p:nvCxnSpPr>
        <p:spPr>
          <a:xfrm>
            <a:off x="841247" y="3547872"/>
            <a:ext cx="0" cy="54900"/>
          </a:xfrm>
          <a:prstGeom prst="straightConnector1">
            <a:avLst/>
          </a:prstGeom>
          <a:noFill/>
          <a:ln cap="flat" cmpd="sng" w="15875">
            <a:solidFill>
              <a:srgbClr val="0EA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cxnSp>
        <p:nvCxnSpPr>
          <p:cNvPr id="218" name="Google Shape;218;p25"/>
          <p:cNvCxnSpPr/>
          <p:nvPr/>
        </p:nvCxnSpPr>
        <p:spPr>
          <a:xfrm>
            <a:off x="841247" y="4005072"/>
            <a:ext cx="0" cy="54900"/>
          </a:xfrm>
          <a:prstGeom prst="straightConnector1">
            <a:avLst/>
          </a:prstGeom>
          <a:noFill/>
          <a:ln cap="flat" cmpd="sng" w="15875">
            <a:solidFill>
              <a:srgbClr val="0EA5E9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19" name="Google Shape;219;p25"/>
          <p:cNvSpPr/>
          <p:nvPr/>
        </p:nvSpPr>
        <p:spPr>
          <a:xfrm>
            <a:off x="4663440" y="1783080"/>
            <a:ext cx="4023300" cy="96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25"/>
          <p:cNvSpPr/>
          <p:nvPr/>
        </p:nvSpPr>
        <p:spPr>
          <a:xfrm>
            <a:off x="4846320" y="1874519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STORAGE  ·  PARQUET EVERYWHERE</a:t>
            </a:r>
            <a:endParaRPr/>
          </a:p>
        </p:txBody>
      </p:sp>
      <p:sp>
        <p:nvSpPr>
          <p:cNvPr id="221" name="Google Shape;221;p25"/>
          <p:cNvSpPr/>
          <p:nvPr/>
        </p:nvSpPr>
        <p:spPr>
          <a:xfrm>
            <a:off x="4846320" y="2103120"/>
            <a:ext cx="3657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Columnar · compressed · schema-typed.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 full decade of releases (~1M rows) still fits on a laptop.</a:t>
            </a:r>
            <a:endParaRPr/>
          </a:p>
        </p:txBody>
      </p:sp>
      <p:sp>
        <p:nvSpPr>
          <p:cNvPr id="222" name="Google Shape;222;p25"/>
          <p:cNvSpPr/>
          <p:nvPr/>
        </p:nvSpPr>
        <p:spPr>
          <a:xfrm>
            <a:off x="4663440" y="2834639"/>
            <a:ext cx="4023300" cy="960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5"/>
          <p:cNvSpPr/>
          <p:nvPr/>
        </p:nvSpPr>
        <p:spPr>
          <a:xfrm>
            <a:off x="4846320" y="2926079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MODULARITY  ·  1-IN  /  1-OUT</a:t>
            </a:r>
            <a:endParaRPr/>
          </a:p>
        </p:txBody>
      </p:sp>
      <p:sp>
        <p:nvSpPr>
          <p:cNvPr id="224" name="Google Shape;224;p25"/>
          <p:cNvSpPr/>
          <p:nvPr/>
        </p:nvSpPr>
        <p:spPr>
          <a:xfrm>
            <a:off x="4846320" y="3154679"/>
            <a:ext cx="3657600" cy="59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Each stage reads one parquet, writes one parquet.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Re-run any stage independently after editing — no full rebuild.</a:t>
            </a:r>
            <a:endParaRPr/>
          </a:p>
        </p:txBody>
      </p:sp>
      <p:sp>
        <p:nvSpPr>
          <p:cNvPr id="225" name="Google Shape;225;p25"/>
          <p:cNvSpPr/>
          <p:nvPr/>
        </p:nvSpPr>
        <p:spPr>
          <a:xfrm>
            <a:off x="4663440" y="3886200"/>
            <a:ext cx="402330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5"/>
          <p:cNvSpPr/>
          <p:nvPr/>
        </p:nvSpPr>
        <p:spPr>
          <a:xfrm>
            <a:off x="4846320" y="3977639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ORCHESTRATION  ·  THIN SHELL</a:t>
            </a:r>
            <a:endParaRPr/>
          </a:p>
        </p:txBody>
      </p:sp>
      <p:sp>
        <p:nvSpPr>
          <p:cNvPr id="227" name="Google Shape;227;p25"/>
          <p:cNvSpPr/>
          <p:nvPr/>
        </p:nvSpPr>
        <p:spPr>
          <a:xfrm>
            <a:off x="4846320" y="4206240"/>
            <a:ext cx="3657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F4B942"/>
                </a:solidFill>
                <a:latin typeface="Consolas"/>
                <a:ea typeface="Consolas"/>
                <a:cs typeface="Consolas"/>
                <a:sym typeface="Consolas"/>
              </a:rPr>
              <a:t>python scripts/run_pipeline.py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Swap to Airflow / Prefect / Dagster — only the trigger changes, not the stages.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6"/>
          <p:cNvSpPr/>
          <p:nvPr/>
        </p:nvSpPr>
        <p:spPr>
          <a:xfrm>
            <a:off x="457200" y="274320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METHODS  —  CLEANING &amp; FEATURE ENGINEERING</a:t>
            </a:r>
            <a:endParaRPr/>
          </a:p>
        </p:txBody>
      </p:sp>
      <p:sp>
        <p:nvSpPr>
          <p:cNvPr id="233" name="Google Shape;233;p26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Honest Features from a Messy Public Release</a:t>
            </a:r>
            <a:endParaRPr/>
          </a:p>
        </p:txBody>
      </p:sp>
      <p:sp>
        <p:nvSpPr>
          <p:cNvPr id="234" name="Google Shape;234;p26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Feature set deliberately bounded to what USCIS actually exposes</a:t>
            </a:r>
            <a:endParaRPr/>
          </a:p>
        </p:txBody>
      </p:sp>
      <p:sp>
        <p:nvSpPr>
          <p:cNvPr id="235" name="Google Shape;235;p26"/>
          <p:cNvSpPr/>
          <p:nvPr/>
        </p:nvSpPr>
        <p:spPr>
          <a:xfrm>
            <a:off x="0" y="4736573"/>
            <a:ext cx="6397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61,452 employer rows · 17 raw columns → 25 modeling columns · zero leakage from target</a:t>
            </a:r>
            <a:endParaRPr/>
          </a:p>
        </p:txBody>
      </p:sp>
      <p:sp>
        <p:nvSpPr>
          <p:cNvPr id="236" name="Google Shape;236;p26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7 / 15</a:t>
            </a:r>
            <a:endParaRPr/>
          </a:p>
        </p:txBody>
      </p:sp>
      <p:sp>
        <p:nvSpPr>
          <p:cNvPr id="237" name="Google Shape;237;p26"/>
          <p:cNvSpPr/>
          <p:nvPr/>
        </p:nvSpPr>
        <p:spPr>
          <a:xfrm>
            <a:off x="457200" y="1783080"/>
            <a:ext cx="4023300" cy="2834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6"/>
          <p:cNvSpPr/>
          <p:nvPr/>
        </p:nvSpPr>
        <p:spPr>
          <a:xfrm>
            <a:off x="640080" y="1874519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CLEANING DECISIONS</a:t>
            </a:r>
            <a:endParaRPr/>
          </a:p>
        </p:txBody>
      </p:sp>
      <p:sp>
        <p:nvSpPr>
          <p:cNvPr id="239" name="Google Shape;239;p26"/>
          <p:cNvSpPr/>
          <p:nvPr/>
        </p:nvSpPr>
        <p:spPr>
          <a:xfrm>
            <a:off x="640080" y="2194560"/>
            <a:ext cx="16917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UTF-16 LE w/ BOM</a:t>
            </a:r>
            <a:endParaRPr/>
          </a:p>
        </p:txBody>
      </p:sp>
      <p:sp>
        <p:nvSpPr>
          <p:cNvPr id="240" name="Google Shape;240;p26"/>
          <p:cNvSpPr/>
          <p:nvPr/>
        </p:nvSpPr>
        <p:spPr>
          <a:xfrm>
            <a:off x="2331720" y="2194560"/>
            <a:ext cx="1965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encoding fix in cleaning.py</a:t>
            </a:r>
            <a:endParaRPr/>
          </a:p>
        </p:txBody>
      </p:sp>
      <p:cxnSp>
        <p:nvCxnSpPr>
          <p:cNvPr id="241" name="Google Shape;241;p26"/>
          <p:cNvCxnSpPr/>
          <p:nvPr/>
        </p:nvCxnSpPr>
        <p:spPr>
          <a:xfrm>
            <a:off x="640080" y="2578608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42" name="Google Shape;242;p26"/>
          <p:cNvSpPr/>
          <p:nvPr/>
        </p:nvSpPr>
        <p:spPr>
          <a:xfrm>
            <a:off x="640080" y="2578608"/>
            <a:ext cx="16917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NAICS string split</a:t>
            </a:r>
            <a:endParaRPr/>
          </a:p>
        </p:txBody>
      </p:sp>
      <p:sp>
        <p:nvSpPr>
          <p:cNvPr id="243" name="Google Shape;243;p26"/>
          <p:cNvSpPr/>
          <p:nvPr/>
        </p:nvSpPr>
        <p:spPr>
          <a:xfrm>
            <a:off x="2331720" y="2578608"/>
            <a:ext cx="1965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"54 - Professional..." → code + label</a:t>
            </a:r>
            <a:endParaRPr/>
          </a:p>
        </p:txBody>
      </p:sp>
      <p:cxnSp>
        <p:nvCxnSpPr>
          <p:cNvPr id="244" name="Google Shape;244;p26"/>
          <p:cNvCxnSpPr/>
          <p:nvPr/>
        </p:nvCxnSpPr>
        <p:spPr>
          <a:xfrm>
            <a:off x="640080" y="2962656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45" name="Google Shape;245;p26"/>
          <p:cNvSpPr/>
          <p:nvPr/>
        </p:nvSpPr>
        <p:spPr>
          <a:xfrm>
            <a:off x="640080" y="2962656"/>
            <a:ext cx="16917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Zip → 5-digit + zip3</a:t>
            </a:r>
            <a:endParaRPr/>
          </a:p>
        </p:txBody>
      </p:sp>
      <p:sp>
        <p:nvSpPr>
          <p:cNvPr id="246" name="Google Shape;246;p26"/>
          <p:cNvSpPr/>
          <p:nvPr/>
        </p:nvSpPr>
        <p:spPr>
          <a:xfrm>
            <a:off x="2331720" y="2962656"/>
            <a:ext cx="1965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zip3 = region proxy (Layer 2)</a:t>
            </a:r>
            <a:endParaRPr/>
          </a:p>
        </p:txBody>
      </p:sp>
      <p:cxnSp>
        <p:nvCxnSpPr>
          <p:cNvPr id="247" name="Google Shape;247;p26"/>
          <p:cNvCxnSpPr/>
          <p:nvPr/>
        </p:nvCxnSpPr>
        <p:spPr>
          <a:xfrm>
            <a:off x="640080" y="3346703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48" name="Google Shape;248;p26"/>
          <p:cNvSpPr/>
          <p:nvPr/>
        </p:nvSpPr>
        <p:spPr>
          <a:xfrm>
            <a:off x="640080" y="3346703"/>
            <a:ext cx="16917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Re-derive approval_rate</a:t>
            </a:r>
            <a:endParaRPr/>
          </a:p>
        </p:txBody>
      </p:sp>
      <p:sp>
        <p:nvSpPr>
          <p:cNvPr id="249" name="Google Shape;249;p26"/>
          <p:cNvSpPr/>
          <p:nvPr/>
        </p:nvSpPr>
        <p:spPr>
          <a:xfrm>
            <a:off x="2331720" y="3346703"/>
            <a:ext cx="1965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raw nudges 0/1 by ~10⁻⁶ — distorts means</a:t>
            </a:r>
            <a:endParaRPr/>
          </a:p>
        </p:txBody>
      </p:sp>
      <p:cxnSp>
        <p:nvCxnSpPr>
          <p:cNvPr id="250" name="Google Shape;250;p26"/>
          <p:cNvCxnSpPr/>
          <p:nvPr/>
        </p:nvCxnSpPr>
        <p:spPr>
          <a:xfrm>
            <a:off x="640080" y="3730752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51" name="Google Shape;251;p26"/>
          <p:cNvSpPr/>
          <p:nvPr/>
        </p:nvSpPr>
        <p:spPr>
          <a:xfrm>
            <a:off x="640080" y="3730752"/>
            <a:ext cx="16917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LCA wage cap $500k/yr</a:t>
            </a:r>
            <a:endParaRPr/>
          </a:p>
        </p:txBody>
      </p:sp>
      <p:sp>
        <p:nvSpPr>
          <p:cNvPr id="252" name="Google Shape;252;p26"/>
          <p:cNvSpPr/>
          <p:nvPr/>
        </p:nvSpPr>
        <p:spPr>
          <a:xfrm>
            <a:off x="2331720" y="3730752"/>
            <a:ext cx="1965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raw values reach $238M (hourly/annual mix)</a:t>
            </a:r>
            <a:endParaRPr/>
          </a:p>
        </p:txBody>
      </p:sp>
      <p:cxnSp>
        <p:nvCxnSpPr>
          <p:cNvPr id="253" name="Google Shape;253;p26"/>
          <p:cNvCxnSpPr/>
          <p:nvPr/>
        </p:nvCxnSpPr>
        <p:spPr>
          <a:xfrm>
            <a:off x="640080" y="4114800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54" name="Google Shape;254;p26"/>
          <p:cNvSpPr/>
          <p:nvPr/>
        </p:nvSpPr>
        <p:spPr>
          <a:xfrm>
            <a:off x="640080" y="4114800"/>
            <a:ext cx="16917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Keep "UNKNOWN" employer</a:t>
            </a:r>
            <a:endParaRPr/>
          </a:p>
        </p:txBody>
      </p:sp>
      <p:sp>
        <p:nvSpPr>
          <p:cNvPr id="255" name="Google Shape;255;p26"/>
          <p:cNvSpPr/>
          <p:nvPr/>
        </p:nvSpPr>
        <p:spPr>
          <a:xfrm>
            <a:off x="2331720" y="4114800"/>
            <a:ext cx="19659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kept as distinct category, not dropped</a:t>
            </a:r>
            <a:endParaRPr/>
          </a:p>
        </p:txBody>
      </p:sp>
      <p:cxnSp>
        <p:nvCxnSpPr>
          <p:cNvPr id="256" name="Google Shape;256;p26"/>
          <p:cNvCxnSpPr/>
          <p:nvPr/>
        </p:nvCxnSpPr>
        <p:spPr>
          <a:xfrm>
            <a:off x="640080" y="4498848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57" name="Google Shape;257;p26"/>
          <p:cNvSpPr/>
          <p:nvPr/>
        </p:nvSpPr>
        <p:spPr>
          <a:xfrm>
            <a:off x="4663440" y="1783080"/>
            <a:ext cx="4023300" cy="2834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6"/>
          <p:cNvSpPr/>
          <p:nvPr/>
        </p:nvSpPr>
        <p:spPr>
          <a:xfrm>
            <a:off x="4846320" y="1874519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ENGINEERED FEATURES</a:t>
            </a:r>
            <a:endParaRPr/>
          </a:p>
        </p:txBody>
      </p:sp>
      <p:sp>
        <p:nvSpPr>
          <p:cNvPr id="259" name="Google Shape;259;p26"/>
          <p:cNvSpPr/>
          <p:nvPr/>
        </p:nvSpPr>
        <p:spPr>
          <a:xfrm>
            <a:off x="4846320" y="2167128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STRUCTURAL  ·  USCIS only</a:t>
            </a:r>
            <a:endParaRPr/>
          </a:p>
        </p:txBody>
      </p:sp>
      <p:sp>
        <p:nvSpPr>
          <p:cNvPr id="260" name="Google Shape;260;p26"/>
          <p:cNvSpPr/>
          <p:nvPr/>
        </p:nvSpPr>
        <p:spPr>
          <a:xfrm>
            <a:off x="4846320" y="2423160"/>
            <a:ext cx="2103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is_stem</a:t>
            </a:r>
            <a:endParaRPr/>
          </a:p>
        </p:txBody>
      </p:sp>
      <p:sp>
        <p:nvSpPr>
          <p:cNvPr id="261" name="Google Shape;261;p26"/>
          <p:cNvSpPr/>
          <p:nvPr/>
        </p:nvSpPr>
        <p:spPr>
          <a:xfrm>
            <a:off x="6995159" y="2423160"/>
            <a:ext cx="1508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NAICS prefix ∈ {51, 54, 33, 52, 61}</a:t>
            </a:r>
            <a:endParaRPr/>
          </a:p>
        </p:txBody>
      </p:sp>
      <p:sp>
        <p:nvSpPr>
          <p:cNvPr id="262" name="Google Shape;262;p26"/>
          <p:cNvSpPr/>
          <p:nvPr/>
        </p:nvSpPr>
        <p:spPr>
          <a:xfrm>
            <a:off x="4846320" y="2642615"/>
            <a:ext cx="2103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region</a:t>
            </a:r>
            <a:endParaRPr/>
          </a:p>
        </p:txBody>
      </p:sp>
      <p:sp>
        <p:nvSpPr>
          <p:cNvPr id="263" name="Google Shape;263;p26"/>
          <p:cNvSpPr/>
          <p:nvPr/>
        </p:nvSpPr>
        <p:spPr>
          <a:xfrm>
            <a:off x="6995159" y="2642615"/>
            <a:ext cx="1508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Census 4-region map</a:t>
            </a:r>
            <a:endParaRPr/>
          </a:p>
        </p:txBody>
      </p:sp>
      <p:sp>
        <p:nvSpPr>
          <p:cNvPr id="264" name="Google Shape;264;p26"/>
          <p:cNvSpPr/>
          <p:nvPr/>
        </p:nvSpPr>
        <p:spPr>
          <a:xfrm>
            <a:off x="4846320" y="2862072"/>
            <a:ext cx="2103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size_bucket</a:t>
            </a:r>
            <a:endParaRPr/>
          </a:p>
        </p:txBody>
      </p:sp>
      <p:sp>
        <p:nvSpPr>
          <p:cNvPr id="265" name="Google Shape;265;p26"/>
          <p:cNvSpPr/>
          <p:nvPr/>
        </p:nvSpPr>
        <p:spPr>
          <a:xfrm>
            <a:off x="6995159" y="2862072"/>
            <a:ext cx="1508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single / small / medium / large / mega</a:t>
            </a:r>
            <a:endParaRPr/>
          </a:p>
        </p:txBody>
      </p:sp>
      <p:sp>
        <p:nvSpPr>
          <p:cNvPr id="266" name="Google Shape;266;p26"/>
          <p:cNvSpPr/>
          <p:nvPr/>
        </p:nvSpPr>
        <p:spPr>
          <a:xfrm>
            <a:off x="4846320" y="3081528"/>
            <a:ext cx="2103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share_continuing</a:t>
            </a:r>
            <a:endParaRPr/>
          </a:p>
        </p:txBody>
      </p:sp>
      <p:sp>
        <p:nvSpPr>
          <p:cNvPr id="267" name="Google Shape;267;p26"/>
          <p:cNvSpPr/>
          <p:nvPr/>
        </p:nvSpPr>
        <p:spPr>
          <a:xfrm>
            <a:off x="6995159" y="3081528"/>
            <a:ext cx="1508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application mix</a:t>
            </a:r>
            <a:endParaRPr/>
          </a:p>
        </p:txBody>
      </p:sp>
      <p:sp>
        <p:nvSpPr>
          <p:cNvPr id="268" name="Google Shape;268;p26"/>
          <p:cNvSpPr/>
          <p:nvPr/>
        </p:nvSpPr>
        <p:spPr>
          <a:xfrm>
            <a:off x="4846320" y="3300984"/>
            <a:ext cx="2103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log_petitions, log_employer_total</a:t>
            </a:r>
            <a:endParaRPr/>
          </a:p>
        </p:txBody>
      </p:sp>
      <p:sp>
        <p:nvSpPr>
          <p:cNvPr id="269" name="Google Shape;269;p26"/>
          <p:cNvSpPr/>
          <p:nvPr/>
        </p:nvSpPr>
        <p:spPr>
          <a:xfrm>
            <a:off x="6995159" y="3300984"/>
            <a:ext cx="15087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volume controls</a:t>
            </a:r>
            <a:endParaRPr/>
          </a:p>
        </p:txBody>
      </p:sp>
      <p:cxnSp>
        <p:nvCxnSpPr>
          <p:cNvPr id="270" name="Google Shape;270;p26"/>
          <p:cNvCxnSpPr/>
          <p:nvPr/>
        </p:nvCxnSpPr>
        <p:spPr>
          <a:xfrm>
            <a:off x="4846320" y="3566160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71" name="Google Shape;271;p26"/>
          <p:cNvSpPr/>
          <p:nvPr/>
        </p:nvSpPr>
        <p:spPr>
          <a:xfrm>
            <a:off x="4846320" y="363016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ENRICHMENT  ·  LCA + Census  ·  city-level only</a:t>
            </a:r>
            <a:endParaRPr/>
          </a:p>
        </p:txBody>
      </p:sp>
      <p:sp>
        <p:nvSpPr>
          <p:cNvPr id="272" name="Google Shape;272;p26"/>
          <p:cNvSpPr/>
          <p:nvPr/>
        </p:nvSpPr>
        <p:spPr>
          <a:xfrm>
            <a:off x="4846320" y="3867912"/>
            <a:ext cx="2103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log_wage</a:t>
            </a:r>
            <a:endParaRPr/>
          </a:p>
        </p:txBody>
      </p:sp>
      <p:sp>
        <p:nvSpPr>
          <p:cNvPr id="273" name="Google Shape;273;p26"/>
          <p:cNvSpPr/>
          <p:nvPr/>
        </p:nvSpPr>
        <p:spPr>
          <a:xfrm>
            <a:off x="6995159" y="3867912"/>
            <a:ext cx="1508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OFLC LCA avg annual wage</a:t>
            </a:r>
            <a:endParaRPr/>
          </a:p>
        </p:txBody>
      </p:sp>
      <p:sp>
        <p:nvSpPr>
          <p:cNvPr id="274" name="Google Shape;274;p26"/>
          <p:cNvSpPr/>
          <p:nvPr/>
        </p:nvSpPr>
        <p:spPr>
          <a:xfrm>
            <a:off x="4846320" y="4069080"/>
            <a:ext cx="2103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log_population, log_density</a:t>
            </a:r>
            <a:endParaRPr/>
          </a:p>
        </p:txBody>
      </p:sp>
      <p:sp>
        <p:nvSpPr>
          <p:cNvPr id="275" name="Google Shape;275;p26"/>
          <p:cNvSpPr/>
          <p:nvPr/>
        </p:nvSpPr>
        <p:spPr>
          <a:xfrm>
            <a:off x="6995159" y="4069080"/>
            <a:ext cx="1508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Census pop + density</a:t>
            </a:r>
            <a:endParaRPr/>
          </a:p>
        </p:txBody>
      </p:sp>
      <p:sp>
        <p:nvSpPr>
          <p:cNvPr id="276" name="Google Shape;276;p26"/>
          <p:cNvSpPr/>
          <p:nvPr/>
        </p:nvSpPr>
        <p:spPr>
          <a:xfrm>
            <a:off x="4846320" y="4270248"/>
            <a:ext cx="2103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log_rent, employed_pct</a:t>
            </a:r>
            <a:endParaRPr/>
          </a:p>
        </p:txBody>
      </p:sp>
      <p:sp>
        <p:nvSpPr>
          <p:cNvPr id="277" name="Google Shape;277;p26"/>
          <p:cNvSpPr/>
          <p:nvPr/>
        </p:nvSpPr>
        <p:spPr>
          <a:xfrm>
            <a:off x="6995159" y="4270248"/>
            <a:ext cx="1508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BLS housing + labor</a:t>
            </a:r>
            <a:endParaRPr/>
          </a:p>
        </p:txBody>
      </p:sp>
      <p:sp>
        <p:nvSpPr>
          <p:cNvPr id="278" name="Google Shape;278;p26"/>
          <p:cNvSpPr/>
          <p:nvPr/>
        </p:nvSpPr>
        <p:spPr>
          <a:xfrm>
            <a:off x="4846320" y="4471416"/>
            <a:ext cx="21030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unemployed_z, log_lca</a:t>
            </a:r>
            <a:endParaRPr/>
          </a:p>
        </p:txBody>
      </p:sp>
      <p:sp>
        <p:nvSpPr>
          <p:cNvPr id="279" name="Google Shape;279;p26"/>
          <p:cNvSpPr/>
          <p:nvPr/>
        </p:nvSpPr>
        <p:spPr>
          <a:xfrm>
            <a:off x="6995159" y="4471416"/>
            <a:ext cx="15087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labor slack + LCA volume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27"/>
          <p:cNvSpPr/>
          <p:nvPr/>
        </p:nvSpPr>
        <p:spPr>
          <a:xfrm>
            <a:off x="457200" y="274320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SCALABILITY  —  DISTRIBUTED COMPUTE</a:t>
            </a:r>
            <a:endParaRPr/>
          </a:p>
        </p:txBody>
      </p:sp>
      <p:sp>
        <p:nvSpPr>
          <p:cNvPr id="285" name="Google Shape;285;p27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Same Merge, Pandas and PySpark</a:t>
            </a:r>
            <a:endParaRPr/>
          </a:p>
        </p:txBody>
      </p:sp>
      <p:sp>
        <p:nvSpPr>
          <p:cNvPr id="286" name="Google Shape;286;p27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merge_external_spark.py: cluster-ready by design, verified bit-identical on local[*]</a:t>
            </a:r>
            <a:endParaRPr/>
          </a:p>
        </p:txBody>
      </p:sp>
      <p:sp>
        <p:nvSpPr>
          <p:cNvPr id="287" name="Google Shape;287;p27"/>
          <p:cNvSpPr/>
          <p:nvPr/>
        </p:nvSpPr>
        <p:spPr>
          <a:xfrm>
            <a:off x="0" y="4709423"/>
            <a:ext cx="6415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PySpark 3.5  ·  Spark SQL adaptive execution  ·  one-line swap from local[*] to Dataproc / EMR / Databricks</a:t>
            </a:r>
            <a:endParaRPr/>
          </a:p>
        </p:txBody>
      </p:sp>
      <p:sp>
        <p:nvSpPr>
          <p:cNvPr id="288" name="Google Shape;288;p27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8 / 15</a:t>
            </a:r>
            <a:endParaRPr/>
          </a:p>
        </p:txBody>
      </p:sp>
      <p:sp>
        <p:nvSpPr>
          <p:cNvPr id="289" name="Google Shape;289;p27"/>
          <p:cNvSpPr/>
          <p:nvPr/>
        </p:nvSpPr>
        <p:spPr>
          <a:xfrm>
            <a:off x="457200" y="1783080"/>
            <a:ext cx="4480500" cy="28347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7"/>
          <p:cNvSpPr/>
          <p:nvPr/>
        </p:nvSpPr>
        <p:spPr>
          <a:xfrm>
            <a:off x="640080" y="1874519"/>
            <a:ext cx="4114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merge_external_spark.py  ·  EXCERPT</a:t>
            </a:r>
            <a:endParaRPr/>
          </a:p>
        </p:txBody>
      </p:sp>
      <p:sp>
        <p:nvSpPr>
          <p:cNvPr id="291" name="Google Shape;291;p27"/>
          <p:cNvSpPr/>
          <p:nvPr/>
        </p:nvSpPr>
        <p:spPr>
          <a:xfrm>
            <a:off x="640080" y="2148840"/>
            <a:ext cx="4114800" cy="23316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spark = (SparkSession.builder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  .appName("h1b-merge-external")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  .config("spark.sql.adaptive.enabled", "true")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  .config("spark.sql.shuffle.partitions", "16")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  .getOrCreate())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uscis_by_city = (df.groupBy("state","city")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.agg(F.sum("total_petitions"),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     F.countDistinct("employer"),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     F.avg("is_stem"),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     F.first("region")))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merged = uscis.join(external,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    on=["state","city"], how="inner")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# cluster: merged.write.parquet(OUT)</a:t>
            </a:r>
            <a:b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900" u="none" cap="none" strike="noStrike">
                <a:solidFill>
                  <a:srgbClr val="9CDCFE"/>
                </a:solidFill>
                <a:latin typeface="Consolas"/>
                <a:ea typeface="Consolas"/>
                <a:cs typeface="Consolas"/>
                <a:sym typeface="Consolas"/>
              </a:rPr>
              <a:t># local : merged.toPandas().to_parquet(OUT)</a:t>
            </a:r>
            <a:endParaRPr/>
          </a:p>
        </p:txBody>
      </p:sp>
      <p:sp>
        <p:nvSpPr>
          <p:cNvPr id="292" name="Google Shape;292;p27"/>
          <p:cNvSpPr/>
          <p:nvPr/>
        </p:nvSpPr>
        <p:spPr>
          <a:xfrm>
            <a:off x="5120640" y="1783080"/>
            <a:ext cx="3566100" cy="1417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7"/>
          <p:cNvSpPr/>
          <p:nvPr/>
        </p:nvSpPr>
        <p:spPr>
          <a:xfrm>
            <a:off x="5303520" y="1874519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PARITY VERIFICATION  ·  PANDAS  vs  SPARK</a:t>
            </a:r>
            <a:endParaRPr/>
          </a:p>
        </p:txBody>
      </p:sp>
      <p:sp>
        <p:nvSpPr>
          <p:cNvPr id="294" name="Google Shape;294;p27"/>
          <p:cNvSpPr/>
          <p:nvPr/>
        </p:nvSpPr>
        <p:spPr>
          <a:xfrm>
            <a:off x="5303520" y="2194560"/>
            <a:ext cx="164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Output rows</a:t>
            </a:r>
            <a:endParaRPr/>
          </a:p>
        </p:txBody>
      </p:sp>
      <p:sp>
        <p:nvSpPr>
          <p:cNvPr id="295" name="Google Shape;295;p27"/>
          <p:cNvSpPr/>
          <p:nvPr/>
        </p:nvSpPr>
        <p:spPr>
          <a:xfrm>
            <a:off x="6949440" y="2194560"/>
            <a:ext cx="155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Consolas"/>
                <a:ea typeface="Consolas"/>
                <a:cs typeface="Consolas"/>
                <a:sym typeface="Consolas"/>
              </a:rPr>
              <a:t>3,968  ≡  3,968</a:t>
            </a:r>
            <a:endParaRPr/>
          </a:p>
        </p:txBody>
      </p:sp>
      <p:cxnSp>
        <p:nvCxnSpPr>
          <p:cNvPr id="296" name="Google Shape;296;p27"/>
          <p:cNvCxnSpPr/>
          <p:nvPr/>
        </p:nvCxnSpPr>
        <p:spPr>
          <a:xfrm>
            <a:off x="5303520" y="2468879"/>
            <a:ext cx="32004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297" name="Google Shape;297;p27"/>
          <p:cNvSpPr/>
          <p:nvPr/>
        </p:nvSpPr>
        <p:spPr>
          <a:xfrm>
            <a:off x="5303520" y="2487168"/>
            <a:ext cx="164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approval_rate Δ</a:t>
            </a:r>
            <a:endParaRPr/>
          </a:p>
        </p:txBody>
      </p:sp>
      <p:sp>
        <p:nvSpPr>
          <p:cNvPr id="298" name="Google Shape;298;p27"/>
          <p:cNvSpPr/>
          <p:nvPr/>
        </p:nvSpPr>
        <p:spPr>
          <a:xfrm>
            <a:off x="6949440" y="2487168"/>
            <a:ext cx="155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Consolas"/>
                <a:ea typeface="Consolas"/>
                <a:cs typeface="Consolas"/>
                <a:sym typeface="Consolas"/>
              </a:rPr>
              <a:t>0.0</a:t>
            </a:r>
            <a:endParaRPr/>
          </a:p>
        </p:txBody>
      </p:sp>
      <p:cxnSp>
        <p:nvCxnSpPr>
          <p:cNvPr id="299" name="Google Shape;299;p27"/>
          <p:cNvCxnSpPr/>
          <p:nvPr/>
        </p:nvCxnSpPr>
        <p:spPr>
          <a:xfrm>
            <a:off x="5303520" y="2761487"/>
            <a:ext cx="32004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300" name="Google Shape;300;p27"/>
          <p:cNvSpPr/>
          <p:nvPr/>
        </p:nvSpPr>
        <p:spPr>
          <a:xfrm>
            <a:off x="5303520" y="2779775"/>
            <a:ext cx="1645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avg_wage Δ</a:t>
            </a:r>
            <a:endParaRPr/>
          </a:p>
        </p:txBody>
      </p:sp>
      <p:sp>
        <p:nvSpPr>
          <p:cNvPr id="301" name="Google Shape;301;p27"/>
          <p:cNvSpPr/>
          <p:nvPr/>
        </p:nvSpPr>
        <p:spPr>
          <a:xfrm>
            <a:off x="6949440" y="2779775"/>
            <a:ext cx="155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Consolas"/>
                <a:ea typeface="Consolas"/>
                <a:cs typeface="Consolas"/>
                <a:sym typeface="Consolas"/>
              </a:rPr>
              <a:t>≤ 8e-13  (float roundoff)</a:t>
            </a:r>
            <a:endParaRPr/>
          </a:p>
        </p:txBody>
      </p:sp>
      <p:cxnSp>
        <p:nvCxnSpPr>
          <p:cNvPr id="302" name="Google Shape;302;p27"/>
          <p:cNvCxnSpPr/>
          <p:nvPr/>
        </p:nvCxnSpPr>
        <p:spPr>
          <a:xfrm>
            <a:off x="5303520" y="3054095"/>
            <a:ext cx="32004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303" name="Google Shape;303;p27"/>
          <p:cNvSpPr/>
          <p:nvPr/>
        </p:nvSpPr>
        <p:spPr>
          <a:xfrm>
            <a:off x="5120640" y="3291839"/>
            <a:ext cx="3566100" cy="1326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27"/>
          <p:cNvSpPr/>
          <p:nvPr/>
        </p:nvSpPr>
        <p:spPr>
          <a:xfrm>
            <a:off x="5303520" y="3383279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ONE-LINE SCALE-OUT</a:t>
            </a:r>
            <a:endParaRPr/>
          </a:p>
        </p:txBody>
      </p:sp>
      <p:sp>
        <p:nvSpPr>
          <p:cNvPr id="305" name="Google Shape;305;p27"/>
          <p:cNvSpPr/>
          <p:nvPr/>
        </p:nvSpPr>
        <p:spPr>
          <a:xfrm>
            <a:off x="5303520" y="3657599"/>
            <a:ext cx="3200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CBD5E1"/>
                </a:solidFill>
                <a:latin typeface="Consolas"/>
                <a:ea typeface="Consolas"/>
                <a:cs typeface="Consolas"/>
                <a:sym typeface="Consolas"/>
              </a:rPr>
              <a:t>.toPandas().to_parquet(OUT)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1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→  </a:t>
            </a:r>
            <a:r>
              <a:rPr b="1" i="0" lang="en-US" sz="1000" u="none" cap="none" strike="noStrike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.write.parquet(OUT)</a:t>
            </a:r>
            <a:endParaRPr/>
          </a:p>
        </p:txBody>
      </p:sp>
      <p:sp>
        <p:nvSpPr>
          <p:cNvPr id="306" name="Google Shape;306;p27"/>
          <p:cNvSpPr/>
          <p:nvPr/>
        </p:nvSpPr>
        <p:spPr>
          <a:xfrm>
            <a:off x="5303520" y="4160520"/>
            <a:ext cx="3200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Same DataFrame code targets Dataproc / EMR / Databricks unchanged.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8"/>
          <p:cNvSpPr/>
          <p:nvPr/>
        </p:nvSpPr>
        <p:spPr>
          <a:xfrm>
            <a:off x="457200" y="274320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METHODS  —  MODELING SETUP</a:t>
            </a:r>
            <a:endParaRPr/>
          </a:p>
        </p:txBody>
      </p:sp>
      <p:sp>
        <p:nvSpPr>
          <p:cNvPr id="312" name="Google Shape;312;p28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Three Model Families, One Ceiling Question</a:t>
            </a:r>
            <a:endParaRPr/>
          </a:p>
        </p:txBody>
      </p:sp>
      <p:sp>
        <p:nvSpPr>
          <p:cNvPr id="313" name="Google Shape;313;p28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Goal is to bound explanatory power, not to search hyperparameters</a:t>
            </a:r>
            <a:endParaRPr/>
          </a:p>
        </p:txBody>
      </p:sp>
      <p:sp>
        <p:nvSpPr>
          <p:cNvPr id="314" name="Google Shape;314;p28"/>
          <p:cNvSpPr/>
          <p:nvPr/>
        </p:nvSpPr>
        <p:spPr>
          <a:xfrm>
            <a:off x="225125" y="4800599"/>
            <a:ext cx="5484000" cy="13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ColumnTransformer + spare one-hot (min_frequency = 20)  ·  80/20 split  ·  random_state = 42  ·  R² + MAE on test</a:t>
            </a:r>
            <a:endParaRPr/>
          </a:p>
        </p:txBody>
      </p:sp>
      <p:sp>
        <p:nvSpPr>
          <p:cNvPr id="315" name="Google Shape;315;p28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9 / 15</a:t>
            </a:r>
            <a:endParaRPr/>
          </a:p>
        </p:txBody>
      </p:sp>
      <p:sp>
        <p:nvSpPr>
          <p:cNvPr id="316" name="Google Shape;316;p28"/>
          <p:cNvSpPr/>
          <p:nvPr/>
        </p:nvSpPr>
        <p:spPr>
          <a:xfrm>
            <a:off x="457200" y="1783080"/>
            <a:ext cx="4023300" cy="2834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28"/>
          <p:cNvSpPr/>
          <p:nvPr/>
        </p:nvSpPr>
        <p:spPr>
          <a:xfrm>
            <a:off x="640080" y="1874519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PREPROCESSING PIPELINE</a:t>
            </a:r>
            <a:endParaRPr/>
          </a:p>
        </p:txBody>
      </p:sp>
      <p:sp>
        <p:nvSpPr>
          <p:cNvPr id="318" name="Google Shape;318;p28"/>
          <p:cNvSpPr/>
          <p:nvPr/>
        </p:nvSpPr>
        <p:spPr>
          <a:xfrm>
            <a:off x="685800" y="2194560"/>
            <a:ext cx="3566100" cy="420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28"/>
          <p:cNvSpPr/>
          <p:nvPr/>
        </p:nvSpPr>
        <p:spPr>
          <a:xfrm>
            <a:off x="822960" y="2231136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X  =  numeric  +  categorical</a:t>
            </a:r>
            <a:endParaRPr/>
          </a:p>
        </p:txBody>
      </p:sp>
      <p:sp>
        <p:nvSpPr>
          <p:cNvPr id="320" name="Google Shape;320;p28"/>
          <p:cNvSpPr/>
          <p:nvPr/>
        </p:nvSpPr>
        <p:spPr>
          <a:xfrm>
            <a:off x="822960" y="2414015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share_continuing, log_*  +  state, naics, region, size_bucket</a:t>
            </a:r>
            <a:endParaRPr/>
          </a:p>
        </p:txBody>
      </p:sp>
      <p:sp>
        <p:nvSpPr>
          <p:cNvPr id="321" name="Google Shape;321;p28"/>
          <p:cNvSpPr/>
          <p:nvPr/>
        </p:nvSpPr>
        <p:spPr>
          <a:xfrm>
            <a:off x="685800" y="2633472"/>
            <a:ext cx="3566100" cy="420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28"/>
          <p:cNvSpPr/>
          <p:nvPr/>
        </p:nvSpPr>
        <p:spPr>
          <a:xfrm>
            <a:off x="822960" y="2670048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ColumnTransformer</a:t>
            </a:r>
            <a:endParaRPr/>
          </a:p>
        </p:txBody>
      </p:sp>
      <p:sp>
        <p:nvSpPr>
          <p:cNvPr id="323" name="Google Shape;323;p28"/>
          <p:cNvSpPr/>
          <p:nvPr/>
        </p:nvSpPr>
        <p:spPr>
          <a:xfrm>
            <a:off x="822960" y="2852928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num: passthrough  ·  cat: OneHotEncoder(min_frequency=20, sparse)</a:t>
            </a:r>
            <a:endParaRPr/>
          </a:p>
        </p:txBody>
      </p:sp>
      <p:sp>
        <p:nvSpPr>
          <p:cNvPr id="324" name="Google Shape;324;p28"/>
          <p:cNvSpPr/>
          <p:nvPr/>
        </p:nvSpPr>
        <p:spPr>
          <a:xfrm>
            <a:off x="685800" y="3072384"/>
            <a:ext cx="3566100" cy="420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28"/>
          <p:cNvSpPr/>
          <p:nvPr/>
        </p:nvSpPr>
        <p:spPr>
          <a:xfrm>
            <a:off x="822960" y="3108960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sklearn Pipeline</a:t>
            </a:r>
            <a:endParaRPr/>
          </a:p>
        </p:txBody>
      </p:sp>
      <p:sp>
        <p:nvSpPr>
          <p:cNvPr id="326" name="Google Shape;326;p28"/>
          <p:cNvSpPr/>
          <p:nvPr/>
        </p:nvSpPr>
        <p:spPr>
          <a:xfrm>
            <a:off x="822960" y="3291839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fit on train  ·  predict on held-out</a:t>
            </a:r>
            <a:endParaRPr/>
          </a:p>
        </p:txBody>
      </p:sp>
      <p:sp>
        <p:nvSpPr>
          <p:cNvPr id="327" name="Google Shape;327;p28"/>
          <p:cNvSpPr/>
          <p:nvPr/>
        </p:nvSpPr>
        <p:spPr>
          <a:xfrm>
            <a:off x="685800" y="3511296"/>
            <a:ext cx="3566100" cy="420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28"/>
          <p:cNvSpPr/>
          <p:nvPr/>
        </p:nvSpPr>
        <p:spPr>
          <a:xfrm>
            <a:off x="822960" y="3547872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train_test_split (80 / 20)</a:t>
            </a:r>
            <a:endParaRPr/>
          </a:p>
        </p:txBody>
      </p:sp>
      <p:sp>
        <p:nvSpPr>
          <p:cNvPr id="329" name="Google Shape;329;p28"/>
          <p:cNvSpPr/>
          <p:nvPr/>
        </p:nvSpPr>
        <p:spPr>
          <a:xfrm>
            <a:off x="822960" y="3730752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random_state = 42  ·  identical rows across model families</a:t>
            </a:r>
            <a:endParaRPr/>
          </a:p>
        </p:txBody>
      </p:sp>
      <p:sp>
        <p:nvSpPr>
          <p:cNvPr id="330" name="Google Shape;330;p28"/>
          <p:cNvSpPr/>
          <p:nvPr/>
        </p:nvSpPr>
        <p:spPr>
          <a:xfrm>
            <a:off x="685800" y="3950208"/>
            <a:ext cx="3566100" cy="420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28"/>
          <p:cNvSpPr/>
          <p:nvPr/>
        </p:nvSpPr>
        <p:spPr>
          <a:xfrm>
            <a:off x="822960" y="3986784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Score on test</a:t>
            </a:r>
            <a:endParaRPr/>
          </a:p>
        </p:txBody>
      </p:sp>
      <p:sp>
        <p:nvSpPr>
          <p:cNvPr id="332" name="Google Shape;332;p28"/>
          <p:cNvSpPr/>
          <p:nvPr/>
        </p:nvSpPr>
        <p:spPr>
          <a:xfrm>
            <a:off x="822960" y="4169664"/>
            <a:ext cx="32919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R²  +  MAE  ·  reported as the ceiling, not a tuning target</a:t>
            </a:r>
            <a:endParaRPr/>
          </a:p>
        </p:txBody>
      </p:sp>
      <p:sp>
        <p:nvSpPr>
          <p:cNvPr id="333" name="Google Shape;333;p28"/>
          <p:cNvSpPr/>
          <p:nvPr/>
        </p:nvSpPr>
        <p:spPr>
          <a:xfrm>
            <a:off x="4663440" y="1783080"/>
            <a:ext cx="4023300" cy="16917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28"/>
          <p:cNvSpPr/>
          <p:nvPr/>
        </p:nvSpPr>
        <p:spPr>
          <a:xfrm>
            <a:off x="4846320" y="1874519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THREE MODEL FAMILIES</a:t>
            </a:r>
            <a:endParaRPr/>
          </a:p>
        </p:txBody>
      </p:sp>
      <p:sp>
        <p:nvSpPr>
          <p:cNvPr id="335" name="Google Shape;335;p28"/>
          <p:cNvSpPr/>
          <p:nvPr/>
        </p:nvSpPr>
        <p:spPr>
          <a:xfrm>
            <a:off x="4846320" y="219456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OLS</a:t>
            </a:r>
            <a:endParaRPr/>
          </a:p>
        </p:txBody>
      </p:sp>
      <p:sp>
        <p:nvSpPr>
          <p:cNvPr id="336" name="Google Shape;336;p28"/>
          <p:cNvSpPr/>
          <p:nvPr/>
        </p:nvSpPr>
        <p:spPr>
          <a:xfrm>
            <a:off x="6217920" y="2194560"/>
            <a:ext cx="2286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onsolas"/>
                <a:ea typeface="Consolas"/>
                <a:cs typeface="Consolas"/>
                <a:sym typeface="Consolas"/>
              </a:rPr>
              <a:t>LinearRegression  —  canonical baseline</a:t>
            </a:r>
            <a:endParaRPr/>
          </a:p>
        </p:txBody>
      </p:sp>
      <p:cxnSp>
        <p:nvCxnSpPr>
          <p:cNvPr id="337" name="Google Shape;337;p28"/>
          <p:cNvCxnSpPr/>
          <p:nvPr/>
        </p:nvCxnSpPr>
        <p:spPr>
          <a:xfrm>
            <a:off x="4846320" y="2560320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338" name="Google Shape;338;p28"/>
          <p:cNvSpPr/>
          <p:nvPr/>
        </p:nvSpPr>
        <p:spPr>
          <a:xfrm>
            <a:off x="4846320" y="2578608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endParaRPr/>
          </a:p>
        </p:txBody>
      </p:sp>
      <p:sp>
        <p:nvSpPr>
          <p:cNvPr id="339" name="Google Shape;339;p28"/>
          <p:cNvSpPr/>
          <p:nvPr/>
        </p:nvSpPr>
        <p:spPr>
          <a:xfrm>
            <a:off x="6217920" y="2578608"/>
            <a:ext cx="2286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onsolas"/>
                <a:ea typeface="Consolas"/>
                <a:cs typeface="Consolas"/>
                <a:sym typeface="Consolas"/>
              </a:rPr>
              <a:t>n=200–300, max_depth=12, n_jobs=-1, seed=42</a:t>
            </a:r>
            <a:endParaRPr/>
          </a:p>
        </p:txBody>
      </p:sp>
      <p:cxnSp>
        <p:nvCxnSpPr>
          <p:cNvPr id="340" name="Google Shape;340;p28"/>
          <p:cNvCxnSpPr/>
          <p:nvPr/>
        </p:nvCxnSpPr>
        <p:spPr>
          <a:xfrm>
            <a:off x="4846320" y="2944368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341" name="Google Shape;341;p28"/>
          <p:cNvSpPr/>
          <p:nvPr/>
        </p:nvSpPr>
        <p:spPr>
          <a:xfrm>
            <a:off x="4846320" y="2962656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endParaRPr/>
          </a:p>
        </p:txBody>
      </p:sp>
      <p:sp>
        <p:nvSpPr>
          <p:cNvPr id="342" name="Google Shape;342;p28"/>
          <p:cNvSpPr/>
          <p:nvPr/>
        </p:nvSpPr>
        <p:spPr>
          <a:xfrm>
            <a:off x="6217920" y="2962656"/>
            <a:ext cx="2286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BD5E1"/>
                </a:solidFill>
                <a:latin typeface="Consolas"/>
                <a:ea typeface="Consolas"/>
                <a:cs typeface="Consolas"/>
                <a:sym typeface="Consolas"/>
              </a:rPr>
              <a:t>n=400–500, depth=5–6, lr=0.05, tree_method=hist</a:t>
            </a:r>
            <a:endParaRPr/>
          </a:p>
        </p:txBody>
      </p:sp>
      <p:cxnSp>
        <p:nvCxnSpPr>
          <p:cNvPr id="343" name="Google Shape;343;p28"/>
          <p:cNvCxnSpPr/>
          <p:nvPr/>
        </p:nvCxnSpPr>
        <p:spPr>
          <a:xfrm>
            <a:off x="4846320" y="3328415"/>
            <a:ext cx="3657600" cy="0"/>
          </a:xfrm>
          <a:prstGeom prst="straightConnector1">
            <a:avLst/>
          </a:prstGeom>
          <a:noFill/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0000">
              <a:srgbClr val="000000">
                <a:alpha val="38040"/>
              </a:srgbClr>
            </a:outerShdw>
          </a:effectLst>
        </p:spPr>
      </p:cxnSp>
      <p:sp>
        <p:nvSpPr>
          <p:cNvPr id="344" name="Google Shape;344;p28"/>
          <p:cNvSpPr/>
          <p:nvPr/>
        </p:nvSpPr>
        <p:spPr>
          <a:xfrm>
            <a:off x="4663440" y="3566160"/>
            <a:ext cx="4023300" cy="105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28"/>
          <p:cNvSpPr/>
          <p:nvPr/>
        </p:nvSpPr>
        <p:spPr>
          <a:xfrm>
            <a:off x="4846320" y="3639312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TWO SPECS  ·  IDENTICAL ROWS  →  FAIR Δ R²</a:t>
            </a:r>
            <a:endParaRPr/>
          </a:p>
        </p:txBody>
      </p:sp>
      <p:sp>
        <p:nvSpPr>
          <p:cNvPr id="346" name="Google Shape;346;p28"/>
          <p:cNvSpPr/>
          <p:nvPr/>
        </p:nvSpPr>
        <p:spPr>
          <a:xfrm>
            <a:off x="4846320" y="3877056"/>
            <a:ext cx="3657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50800" spcFirstLastPara="1" rIns="50800" wrap="square" tIns="254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Structural</a:t>
            </a: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:  state · region · share_stem · share_continuing · log_petitions · log_employers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Enriched</a:t>
            </a:r>
            <a:r>
              <a:rPr b="0" i="0" lang="en-US" sz="95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:  + log_wage · log_population · log_density · log_rent · employed_pct · unemployed_z · log_lca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29"/>
          <p:cNvSpPr/>
          <p:nvPr/>
        </p:nvSpPr>
        <p:spPr>
          <a:xfrm>
            <a:off x="457200" y="27432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LAYER 01 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9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Economic Geography Predicts Where Petitions Cluster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9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LCA + Census features classify cities by petition volume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9"/>
          <p:cNvSpPr/>
          <p:nvPr/>
        </p:nvSpPr>
        <p:spPr>
          <a:xfrm>
            <a:off x="457200" y="1783080"/>
            <a:ext cx="3474600" cy="28347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29"/>
          <p:cNvSpPr/>
          <p:nvPr/>
        </p:nvSpPr>
        <p:spPr>
          <a:xfrm>
            <a:off x="731520" y="2057400"/>
            <a:ext cx="2926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CLASSIFICATION TASK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9"/>
          <p:cNvSpPr/>
          <p:nvPr/>
        </p:nvSpPr>
        <p:spPr>
          <a:xfrm>
            <a:off x="731520" y="2286000"/>
            <a:ext cx="2926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Low / Medium / High petition volume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29"/>
          <p:cNvSpPr/>
          <p:nvPr/>
        </p:nvSpPr>
        <p:spPr>
          <a:xfrm>
            <a:off x="731520" y="2697480"/>
            <a:ext cx="29262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8400"/>
              <a:buFont typeface="Georgia"/>
              <a:buNone/>
            </a:pPr>
            <a:r>
              <a:rPr b="1" i="0" lang="en-US" sz="8400" u="none" cap="none" strike="noStrike">
                <a:solidFill>
                  <a:srgbClr val="059669"/>
                </a:solidFill>
                <a:latin typeface="Georgia"/>
                <a:ea typeface="Georgia"/>
                <a:cs typeface="Georgia"/>
                <a:sym typeface="Georgia"/>
              </a:rPr>
              <a:t>0.79</a:t>
            </a:r>
            <a:endParaRPr b="0" i="0" sz="8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9"/>
          <p:cNvSpPr/>
          <p:nvPr/>
        </p:nvSpPr>
        <p:spPr>
          <a:xfrm>
            <a:off x="731520" y="3749040"/>
            <a:ext cx="2926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AUC  —  High-demand class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60" name="Google Shape;360;p29"/>
          <p:cNvCxnSpPr/>
          <p:nvPr/>
        </p:nvCxnSpPr>
        <p:spPr>
          <a:xfrm>
            <a:off x="731520" y="4114800"/>
            <a:ext cx="2926200" cy="0"/>
          </a:xfrm>
          <a:prstGeom prst="straightConnector1">
            <a:avLst/>
          </a:prstGeom>
          <a:noFill/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1" name="Google Shape;361;p29"/>
          <p:cNvSpPr/>
          <p:nvPr/>
        </p:nvSpPr>
        <p:spPr>
          <a:xfrm>
            <a:off x="731520" y="4251960"/>
            <a:ext cx="2926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Weighted F1 = 0.60 (XGBoost + State + SMOTE)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9"/>
          <p:cNvSpPr/>
          <p:nvPr/>
        </p:nvSpPr>
        <p:spPr>
          <a:xfrm>
            <a:off x="4206240" y="1783080"/>
            <a:ext cx="4480500" cy="8688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4389120" y="1947672"/>
            <a:ext cx="548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Georgia"/>
                <a:ea typeface="Georgia"/>
                <a:cs typeface="Georgia"/>
                <a:sym typeface="Georgia"/>
              </a:rPr>
              <a:t>01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9"/>
          <p:cNvSpPr/>
          <p:nvPr/>
        </p:nvSpPr>
        <p:spPr>
          <a:xfrm>
            <a:off x="4983480" y="1892808"/>
            <a:ext cx="3566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Wages and density carry real signal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4983480" y="2212848"/>
            <a:ext cx="3566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Tech-wage premiums and dense metros cluster in the High tier.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4206240" y="2743200"/>
            <a:ext cx="4480500" cy="8688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29"/>
          <p:cNvSpPr/>
          <p:nvPr/>
        </p:nvSpPr>
        <p:spPr>
          <a:xfrm>
            <a:off x="4389120" y="2907792"/>
            <a:ext cx="548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Georgia"/>
                <a:ea typeface="Georgia"/>
                <a:cs typeface="Georgia"/>
                <a:sym typeface="Georgia"/>
              </a:rPr>
              <a:t>02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9"/>
          <p:cNvSpPr/>
          <p:nvPr/>
        </p:nvSpPr>
        <p:spPr>
          <a:xfrm>
            <a:off x="4983480" y="2852928"/>
            <a:ext cx="3566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CA, NJ, TX concentrate High-demand cities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9"/>
          <p:cNvSpPr/>
          <p:nvPr/>
        </p:nvSpPr>
        <p:spPr>
          <a:xfrm>
            <a:off x="4983480" y="3172968"/>
            <a:ext cx="3566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Silicon Valley, Edison-NJ, and Texas tech metros drive the top.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9"/>
          <p:cNvSpPr/>
          <p:nvPr/>
        </p:nvSpPr>
        <p:spPr>
          <a:xfrm>
            <a:off x="4206240" y="3703320"/>
            <a:ext cx="4480500" cy="8688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29"/>
          <p:cNvSpPr/>
          <p:nvPr/>
        </p:nvSpPr>
        <p:spPr>
          <a:xfrm>
            <a:off x="4389120" y="3867912"/>
            <a:ext cx="548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Georgia"/>
                <a:ea typeface="Georgia"/>
                <a:cs typeface="Georgia"/>
                <a:sym typeface="Georgia"/>
              </a:rPr>
              <a:t>03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9"/>
          <p:cNvSpPr/>
          <p:nvPr/>
        </p:nvSpPr>
        <p:spPr>
          <a:xfrm>
            <a:off x="4983480" y="3813048"/>
            <a:ext cx="3566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But this is demand — not approval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29"/>
          <p:cNvSpPr/>
          <p:nvPr/>
        </p:nvSpPr>
        <p:spPr>
          <a:xfrm>
            <a:off x="4983480" y="4133088"/>
            <a:ext cx="3566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Predicting where filings happen ≠ predicting whether they succeed.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 = 9,866 cities  ·  target: LCA volume tier  ·  RF / XGBoost / BRF / LightGBM / Ordinal Logit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29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 /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0"/>
          <p:cNvSpPr/>
          <p:nvPr/>
        </p:nvSpPr>
        <p:spPr>
          <a:xfrm>
            <a:off x="457200" y="27432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LAYER 02 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30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USCIS Alone Explains Essentially Nothing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30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Three model families, same near-zero ceiling on employer-level approval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30"/>
          <p:cNvSpPr/>
          <p:nvPr/>
        </p:nvSpPr>
        <p:spPr>
          <a:xfrm>
            <a:off x="457200" y="1783080"/>
            <a:ext cx="3474600" cy="28347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5" name="Google Shape;385;p30"/>
          <p:cNvSpPr/>
          <p:nvPr/>
        </p:nvSpPr>
        <p:spPr>
          <a:xfrm>
            <a:off x="731520" y="2057400"/>
            <a:ext cx="2926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rPr>
              <a:t>MODEL CEILING (TEST R²)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30"/>
          <p:cNvSpPr/>
          <p:nvPr/>
        </p:nvSpPr>
        <p:spPr>
          <a:xfrm>
            <a:off x="731520" y="246888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OLS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0"/>
          <p:cNvSpPr/>
          <p:nvPr/>
        </p:nvSpPr>
        <p:spPr>
          <a:xfrm>
            <a:off x="2103120" y="2468880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Georgia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+0.006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0"/>
          <p:cNvSpPr/>
          <p:nvPr/>
        </p:nvSpPr>
        <p:spPr>
          <a:xfrm>
            <a:off x="3017520" y="2468880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MAE  0.060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0"/>
          <p:cNvSpPr/>
          <p:nvPr/>
        </p:nvSpPr>
        <p:spPr>
          <a:xfrm>
            <a:off x="731520" y="297180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0"/>
          <p:cNvSpPr/>
          <p:nvPr/>
        </p:nvSpPr>
        <p:spPr>
          <a:xfrm>
            <a:off x="2103120" y="2971800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Georgia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+0.008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0"/>
          <p:cNvSpPr/>
          <p:nvPr/>
        </p:nvSpPr>
        <p:spPr>
          <a:xfrm>
            <a:off x="3017520" y="2971800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MAE  0.059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30"/>
          <p:cNvSpPr/>
          <p:nvPr/>
        </p:nvSpPr>
        <p:spPr>
          <a:xfrm>
            <a:off x="731520" y="3474720"/>
            <a:ext cx="1371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30"/>
          <p:cNvSpPr/>
          <p:nvPr/>
        </p:nvSpPr>
        <p:spPr>
          <a:xfrm>
            <a:off x="2103120" y="3474720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Georgia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+0.006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30"/>
          <p:cNvSpPr/>
          <p:nvPr/>
        </p:nvSpPr>
        <p:spPr>
          <a:xfrm>
            <a:off x="3017520" y="3474720"/>
            <a:ext cx="91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MAE  0.059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95" name="Google Shape;395;p30"/>
          <p:cNvCxnSpPr/>
          <p:nvPr/>
        </p:nvCxnSpPr>
        <p:spPr>
          <a:xfrm>
            <a:off x="731520" y="3977640"/>
            <a:ext cx="2926200" cy="0"/>
          </a:xfrm>
          <a:prstGeom prst="straightConnector1">
            <a:avLst/>
          </a:prstGeom>
          <a:noFill/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6" name="Google Shape;396;p30"/>
          <p:cNvSpPr/>
          <p:nvPr/>
        </p:nvSpPr>
        <p:spPr>
          <a:xfrm>
            <a:off x="731520" y="4114800"/>
            <a:ext cx="2926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82% of rows sit at ≥ 99.9% approval —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30"/>
          <p:cNvSpPr/>
          <p:nvPr/>
        </p:nvSpPr>
        <p:spPr>
          <a:xfrm>
            <a:off x="731520" y="4325112"/>
            <a:ext cx="2926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the target is near-degenerate.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0"/>
          <p:cNvSpPr/>
          <p:nvPr/>
        </p:nvSpPr>
        <p:spPr>
          <a:xfrm>
            <a:off x="4206240" y="1783080"/>
            <a:ext cx="4480500" cy="28347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30"/>
          <p:cNvSpPr/>
          <p:nvPr/>
        </p:nvSpPr>
        <p:spPr>
          <a:xfrm>
            <a:off x="4480560" y="1965960"/>
            <a:ext cx="393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B91C1C"/>
                </a:solidFill>
                <a:latin typeface="Calibri"/>
                <a:ea typeface="Calibri"/>
                <a:cs typeface="Calibri"/>
                <a:sym typeface="Calibri"/>
              </a:rPr>
              <a:t>BETWEEN-GROUP VARIANCE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30"/>
          <p:cNvSpPr/>
          <p:nvPr/>
        </p:nvSpPr>
        <p:spPr>
          <a:xfrm>
            <a:off x="4480560" y="2221992"/>
            <a:ext cx="3931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How much approval variation lives across groups?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1" name="Google Shape;401;p30"/>
          <p:cNvCxnSpPr/>
          <p:nvPr/>
        </p:nvCxnSpPr>
        <p:spPr>
          <a:xfrm>
            <a:off x="4480560" y="3017520"/>
            <a:ext cx="3931800" cy="0"/>
          </a:xfrm>
          <a:prstGeom prst="straightConnector1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2" name="Google Shape;402;p30"/>
          <p:cNvSpPr/>
          <p:nvPr/>
        </p:nvSpPr>
        <p:spPr>
          <a:xfrm>
            <a:off x="4480560" y="2651760"/>
            <a:ext cx="1828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State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0"/>
          <p:cNvSpPr/>
          <p:nvPr/>
        </p:nvSpPr>
        <p:spPr>
          <a:xfrm>
            <a:off x="6217920" y="2651760"/>
            <a:ext cx="1188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57 groups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30"/>
          <p:cNvSpPr/>
          <p:nvPr/>
        </p:nvSpPr>
        <p:spPr>
          <a:xfrm>
            <a:off x="7406640" y="2651760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0.33%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5" name="Google Shape;405;p30"/>
          <p:cNvCxnSpPr/>
          <p:nvPr/>
        </p:nvCxnSpPr>
        <p:spPr>
          <a:xfrm>
            <a:off x="4480560" y="3401568"/>
            <a:ext cx="3931800" cy="0"/>
          </a:xfrm>
          <a:prstGeom prst="straightConnector1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06" name="Google Shape;406;p30"/>
          <p:cNvSpPr/>
          <p:nvPr/>
        </p:nvSpPr>
        <p:spPr>
          <a:xfrm>
            <a:off x="4480560" y="3035808"/>
            <a:ext cx="1828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Census region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/>
          <p:nvPr/>
        </p:nvSpPr>
        <p:spPr>
          <a:xfrm>
            <a:off x="6217920" y="3035808"/>
            <a:ext cx="1188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groups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0"/>
          <p:cNvSpPr/>
          <p:nvPr/>
        </p:nvSpPr>
        <p:spPr>
          <a:xfrm>
            <a:off x="7406640" y="3035808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0.06%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09" name="Google Shape;409;p30"/>
          <p:cNvCxnSpPr/>
          <p:nvPr/>
        </p:nvCxnSpPr>
        <p:spPr>
          <a:xfrm>
            <a:off x="4480560" y="3785616"/>
            <a:ext cx="3931800" cy="0"/>
          </a:xfrm>
          <a:prstGeom prst="straightConnector1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0" name="Google Shape;410;p30"/>
          <p:cNvSpPr/>
          <p:nvPr/>
        </p:nvSpPr>
        <p:spPr>
          <a:xfrm>
            <a:off x="4480560" y="3419856"/>
            <a:ext cx="1828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NAICS industry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30"/>
          <p:cNvSpPr/>
          <p:nvPr/>
        </p:nvSpPr>
        <p:spPr>
          <a:xfrm>
            <a:off x="6217920" y="3419856"/>
            <a:ext cx="1188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21 groups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30"/>
          <p:cNvSpPr/>
          <p:nvPr/>
        </p:nvSpPr>
        <p:spPr>
          <a:xfrm>
            <a:off x="7406640" y="3419856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0.30%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13" name="Google Shape;413;p30"/>
          <p:cNvCxnSpPr/>
          <p:nvPr/>
        </p:nvCxnSpPr>
        <p:spPr>
          <a:xfrm>
            <a:off x="4480560" y="4169664"/>
            <a:ext cx="3931800" cy="0"/>
          </a:xfrm>
          <a:prstGeom prst="straightConnector1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4" name="Google Shape;414;p30"/>
          <p:cNvSpPr/>
          <p:nvPr/>
        </p:nvSpPr>
        <p:spPr>
          <a:xfrm>
            <a:off x="4480560" y="3803904"/>
            <a:ext cx="1828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Size bucket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0"/>
          <p:cNvSpPr/>
          <p:nvPr/>
        </p:nvSpPr>
        <p:spPr>
          <a:xfrm>
            <a:off x="6217920" y="3803904"/>
            <a:ext cx="1188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groups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0"/>
          <p:cNvSpPr/>
          <p:nvPr/>
        </p:nvSpPr>
        <p:spPr>
          <a:xfrm>
            <a:off x="7406640" y="3803904"/>
            <a:ext cx="109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0.03%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0"/>
          <p:cNvSpPr/>
          <p:nvPr/>
        </p:nvSpPr>
        <p:spPr>
          <a:xfrm>
            <a:off x="4480560" y="4251960"/>
            <a:ext cx="393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1" i="1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→ Observable groupings explain &lt; 0.5% of variation.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 = 61,452 employers  ·  target: employer approval rate  ·  features: state, NAICS, application mix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0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7 /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31"/>
          <p:cNvSpPr/>
          <p:nvPr/>
        </p:nvSpPr>
        <p:spPr>
          <a:xfrm>
            <a:off x="457200" y="27432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LAYER 03  —  ENRICHMENT TEST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1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Wages + Local Economy Still Can't Beat the Mean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1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On identical cities, no model achieves R² &gt; 0 even with the full enriched feature set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1"/>
          <p:cNvSpPr/>
          <p:nvPr/>
        </p:nvSpPr>
        <p:spPr>
          <a:xfrm>
            <a:off x="457200" y="1783080"/>
            <a:ext cx="8229600" cy="4116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31"/>
          <p:cNvSpPr/>
          <p:nvPr/>
        </p:nvSpPr>
        <p:spPr>
          <a:xfrm>
            <a:off x="731520" y="1783080"/>
            <a:ext cx="1920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>
            <a:off x="2651760" y="1783080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STRUCTURAL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1"/>
          <p:cNvSpPr/>
          <p:nvPr/>
        </p:nvSpPr>
        <p:spPr>
          <a:xfrm>
            <a:off x="4663440" y="1783080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ENRICHED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1"/>
          <p:cNvSpPr/>
          <p:nvPr/>
        </p:nvSpPr>
        <p:spPr>
          <a:xfrm>
            <a:off x="6675120" y="1783080"/>
            <a:ext cx="1828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Δ R²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1"/>
          <p:cNvSpPr/>
          <p:nvPr/>
        </p:nvSpPr>
        <p:spPr>
          <a:xfrm>
            <a:off x="457200" y="2194560"/>
            <a:ext cx="8229600" cy="4116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31"/>
          <p:cNvSpPr/>
          <p:nvPr/>
        </p:nvSpPr>
        <p:spPr>
          <a:xfrm>
            <a:off x="731520" y="2194560"/>
            <a:ext cx="1920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OLS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31"/>
          <p:cNvSpPr/>
          <p:nvPr/>
        </p:nvSpPr>
        <p:spPr>
          <a:xfrm>
            <a:off x="2651760" y="2194560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−0.022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/>
          <p:nvPr/>
        </p:nvSpPr>
        <p:spPr>
          <a:xfrm>
            <a:off x="4663440" y="2194560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−0.014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31"/>
          <p:cNvSpPr/>
          <p:nvPr/>
        </p:nvSpPr>
        <p:spPr>
          <a:xfrm>
            <a:off x="6675120" y="2194560"/>
            <a:ext cx="1828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94A3B8"/>
                </a:solidFill>
                <a:latin typeface="Georgia"/>
                <a:ea typeface="Georgia"/>
                <a:cs typeface="Georgia"/>
                <a:sym typeface="Georgia"/>
              </a:rPr>
              <a:t>+0.007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31"/>
          <p:cNvSpPr/>
          <p:nvPr/>
        </p:nvSpPr>
        <p:spPr>
          <a:xfrm>
            <a:off x="457200" y="2606040"/>
            <a:ext cx="8229600" cy="411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31"/>
          <p:cNvSpPr/>
          <p:nvPr/>
        </p:nvSpPr>
        <p:spPr>
          <a:xfrm>
            <a:off x="731520" y="2606040"/>
            <a:ext cx="1920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31"/>
          <p:cNvSpPr/>
          <p:nvPr/>
        </p:nvSpPr>
        <p:spPr>
          <a:xfrm>
            <a:off x="2651760" y="2606040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−0.222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1"/>
          <p:cNvSpPr/>
          <p:nvPr/>
        </p:nvSpPr>
        <p:spPr>
          <a:xfrm>
            <a:off x="4663440" y="2606040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−0.055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31"/>
          <p:cNvSpPr/>
          <p:nvPr/>
        </p:nvSpPr>
        <p:spPr>
          <a:xfrm>
            <a:off x="6675120" y="2606040"/>
            <a:ext cx="1828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94A3B8"/>
                </a:solidFill>
                <a:latin typeface="Georgia"/>
                <a:ea typeface="Georgia"/>
                <a:cs typeface="Georgia"/>
                <a:sym typeface="Georgia"/>
              </a:rPr>
              <a:t>+0.167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1"/>
          <p:cNvSpPr/>
          <p:nvPr/>
        </p:nvSpPr>
        <p:spPr>
          <a:xfrm>
            <a:off x="457200" y="3017520"/>
            <a:ext cx="8229600" cy="4116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31"/>
          <p:cNvSpPr/>
          <p:nvPr/>
        </p:nvSpPr>
        <p:spPr>
          <a:xfrm>
            <a:off x="731520" y="3017520"/>
            <a:ext cx="1920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31"/>
          <p:cNvSpPr/>
          <p:nvPr/>
        </p:nvSpPr>
        <p:spPr>
          <a:xfrm>
            <a:off x="2651760" y="3017520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−0.305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31"/>
          <p:cNvSpPr/>
          <p:nvPr/>
        </p:nvSpPr>
        <p:spPr>
          <a:xfrm>
            <a:off x="4663440" y="3017520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−0.164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31"/>
          <p:cNvSpPr/>
          <p:nvPr/>
        </p:nvSpPr>
        <p:spPr>
          <a:xfrm>
            <a:off x="6675120" y="3017520"/>
            <a:ext cx="1828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Georgia"/>
              <a:buNone/>
            </a:pPr>
            <a:r>
              <a:rPr b="1" i="0" lang="en-US" sz="1400" u="none" cap="none" strike="noStrike">
                <a:solidFill>
                  <a:srgbClr val="94A3B8"/>
                </a:solidFill>
                <a:latin typeface="Georgia"/>
                <a:ea typeface="Georgia"/>
                <a:cs typeface="Georgia"/>
                <a:sym typeface="Georgia"/>
              </a:rPr>
              <a:t>+0.141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457200" y="3657600"/>
            <a:ext cx="4023300" cy="10974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31"/>
          <p:cNvSpPr/>
          <p:nvPr/>
        </p:nvSpPr>
        <p:spPr>
          <a:xfrm>
            <a:off x="457200" y="3657600"/>
            <a:ext cx="73200" cy="1097400"/>
          </a:xfrm>
          <a:prstGeom prst="rect">
            <a:avLst/>
          </a:prstGeom>
          <a:solidFill>
            <a:srgbClr val="F4B942"/>
          </a:solidFill>
          <a:ln cap="flat" cmpd="sng" w="12700">
            <a:solidFill>
              <a:srgbClr val="F4B9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31"/>
          <p:cNvSpPr/>
          <p:nvPr/>
        </p:nvSpPr>
        <p:spPr>
          <a:xfrm>
            <a:off x="685800" y="3767328"/>
            <a:ext cx="3749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READ IT CAREFULLY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31"/>
          <p:cNvSpPr/>
          <p:nvPr/>
        </p:nvSpPr>
        <p:spPr>
          <a:xfrm>
            <a:off x="685800" y="4005072"/>
            <a:ext cx="3749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Tree models rise when enriched — but only because they stop overfitting. None crosses zero.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31"/>
          <p:cNvSpPr/>
          <p:nvPr/>
        </p:nvSpPr>
        <p:spPr>
          <a:xfrm>
            <a:off x="4663440" y="3657600"/>
            <a:ext cx="4023300" cy="10974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31"/>
          <p:cNvSpPr/>
          <p:nvPr/>
        </p:nvSpPr>
        <p:spPr>
          <a:xfrm>
            <a:off x="4892040" y="3767328"/>
            <a:ext cx="37491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THE CEILING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31"/>
          <p:cNvSpPr/>
          <p:nvPr/>
        </p:nvSpPr>
        <p:spPr>
          <a:xfrm>
            <a:off x="4892040" y="4005072"/>
            <a:ext cx="3749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MAE ≈ 0.04</a:t>
            </a:r>
            <a:r>
              <a:rPr b="0" i="0" lang="en-US" sz="1200" u="none" cap="none" strike="noStrik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   —   4 pp of noise around a mean of 96.6%.</a:t>
            </a:r>
            <a:r>
              <a:rPr b="0" i="0" lang="en-US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4B942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A constant-mean predictor beats every model tested.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31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 = 3,968 cities  ·  96.7% petition coverage  ·  identical rows across specs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31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8 /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32"/>
          <p:cNvSpPr/>
          <p:nvPr/>
        </p:nvSpPr>
        <p:spPr>
          <a:xfrm>
            <a:off x="457200" y="27432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INTERPRETATION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32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The Data Is Bounded, Not the Method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32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Three layers converge on one answer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32"/>
          <p:cNvSpPr/>
          <p:nvPr/>
        </p:nvSpPr>
        <p:spPr>
          <a:xfrm>
            <a:off x="457200" y="1783080"/>
            <a:ext cx="8229600" cy="7773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32"/>
          <p:cNvSpPr/>
          <p:nvPr/>
        </p:nvSpPr>
        <p:spPr>
          <a:xfrm>
            <a:off x="457200" y="1783080"/>
            <a:ext cx="73200" cy="777300"/>
          </a:xfrm>
          <a:prstGeom prst="rect">
            <a:avLst/>
          </a:prstGeom>
          <a:solidFill>
            <a:srgbClr val="059669"/>
          </a:solidFill>
          <a:ln cap="flat" cmpd="sng" w="12700">
            <a:solidFill>
              <a:srgbClr val="0596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32"/>
          <p:cNvSpPr/>
          <p:nvPr/>
        </p:nvSpPr>
        <p:spPr>
          <a:xfrm>
            <a:off x="685800" y="1920240"/>
            <a:ext cx="73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59669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Georgia"/>
                <a:ea typeface="Georgia"/>
                <a:cs typeface="Georgia"/>
                <a:sym typeface="Georgia"/>
              </a:rPr>
              <a:t>L1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32"/>
          <p:cNvSpPr/>
          <p:nvPr/>
        </p:nvSpPr>
        <p:spPr>
          <a:xfrm>
            <a:off x="1417320" y="1874520"/>
            <a:ext cx="7132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Demand is publicly visible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/>
          <p:nvPr/>
        </p:nvSpPr>
        <p:spPr>
          <a:xfrm>
            <a:off x="1417320" y="2194560"/>
            <a:ext cx="71322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Where H-1B workers are needed — driven by wages, density, state effects — is learnable from public data.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32"/>
          <p:cNvSpPr/>
          <p:nvPr/>
        </p:nvSpPr>
        <p:spPr>
          <a:xfrm>
            <a:off x="457200" y="2651760"/>
            <a:ext cx="8229600" cy="7773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32"/>
          <p:cNvSpPr/>
          <p:nvPr/>
        </p:nvSpPr>
        <p:spPr>
          <a:xfrm>
            <a:off x="457200" y="2651760"/>
            <a:ext cx="73200" cy="777300"/>
          </a:xfrm>
          <a:prstGeom prst="rect">
            <a:avLst/>
          </a:prstGeom>
          <a:solidFill>
            <a:srgbClr val="B91C1C"/>
          </a:solidFill>
          <a:ln cap="flat" cmpd="sng" w="12700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32"/>
          <p:cNvSpPr/>
          <p:nvPr/>
        </p:nvSpPr>
        <p:spPr>
          <a:xfrm>
            <a:off x="685800" y="2788920"/>
            <a:ext cx="73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L2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32"/>
          <p:cNvSpPr/>
          <p:nvPr/>
        </p:nvSpPr>
        <p:spPr>
          <a:xfrm>
            <a:off x="1417320" y="2743200"/>
            <a:ext cx="7132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Approval, at the employer level, is not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32"/>
          <p:cNvSpPr/>
          <p:nvPr/>
        </p:nvSpPr>
        <p:spPr>
          <a:xfrm>
            <a:off x="1417320" y="3063240"/>
            <a:ext cx="71322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State, NAICS, application mix explain &lt; 0.5% of variance. 82% of rows live at ≥99.9% approval.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32"/>
          <p:cNvSpPr/>
          <p:nvPr/>
        </p:nvSpPr>
        <p:spPr>
          <a:xfrm>
            <a:off x="457200" y="3520440"/>
            <a:ext cx="8229600" cy="7773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32"/>
          <p:cNvSpPr/>
          <p:nvPr/>
        </p:nvSpPr>
        <p:spPr>
          <a:xfrm>
            <a:off x="457200" y="3520440"/>
            <a:ext cx="73200" cy="777300"/>
          </a:xfrm>
          <a:prstGeom prst="rect">
            <a:avLst/>
          </a:prstGeom>
          <a:solidFill>
            <a:srgbClr val="B91C1C"/>
          </a:solidFill>
          <a:ln cap="flat" cmpd="sng" w="12700">
            <a:solidFill>
              <a:srgbClr val="B91C1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7" name="Google Shape;477;p32"/>
          <p:cNvSpPr/>
          <p:nvPr/>
        </p:nvSpPr>
        <p:spPr>
          <a:xfrm>
            <a:off x="685800" y="3657600"/>
            <a:ext cx="73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2200"/>
              <a:buFont typeface="Georgia"/>
              <a:buNone/>
            </a:pPr>
            <a:r>
              <a:rPr b="1" i="0" lang="en-US" sz="2200" u="none" cap="none" strike="noStrike">
                <a:solidFill>
                  <a:srgbClr val="B91C1C"/>
                </a:solidFill>
                <a:latin typeface="Georgia"/>
                <a:ea typeface="Georgia"/>
                <a:cs typeface="Georgia"/>
                <a:sym typeface="Georgia"/>
              </a:rPr>
              <a:t>L3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32"/>
          <p:cNvSpPr/>
          <p:nvPr/>
        </p:nvSpPr>
        <p:spPr>
          <a:xfrm>
            <a:off x="1417320" y="3611880"/>
            <a:ext cx="71322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Enrichment doesn't move the ceiling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32"/>
          <p:cNvSpPr/>
          <p:nvPr/>
        </p:nvSpPr>
        <p:spPr>
          <a:xfrm>
            <a:off x="1417320" y="3931920"/>
            <a:ext cx="71322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Adding LCA wage + Census economy across 3,968 cities still yields R² ≤ 0 for every model tried.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32"/>
          <p:cNvSpPr/>
          <p:nvPr/>
        </p:nvSpPr>
        <p:spPr>
          <a:xfrm>
            <a:off x="457200" y="4434840"/>
            <a:ext cx="8229600" cy="5487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32"/>
          <p:cNvSpPr/>
          <p:nvPr/>
        </p:nvSpPr>
        <p:spPr>
          <a:xfrm>
            <a:off x="457200" y="4434840"/>
            <a:ext cx="109800" cy="548700"/>
          </a:xfrm>
          <a:prstGeom prst="rect">
            <a:avLst/>
          </a:prstGeom>
          <a:solidFill>
            <a:srgbClr val="F4B942"/>
          </a:solidFill>
          <a:ln cap="flat" cmpd="sng" w="12700">
            <a:solidFill>
              <a:srgbClr val="F4B9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32"/>
          <p:cNvSpPr/>
          <p:nvPr/>
        </p:nvSpPr>
        <p:spPr>
          <a:xfrm>
            <a:off x="731520" y="4434840"/>
            <a:ext cx="7863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4B94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4B942"/>
                </a:solidFill>
                <a:latin typeface="Calibri"/>
                <a:ea typeface="Calibri"/>
                <a:cs typeface="Calibri"/>
                <a:sym typeface="Calibri"/>
              </a:rPr>
              <a:t>THE ANSWER  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Approval variance lives </a:t>
            </a:r>
            <a:r>
              <a:rPr b="1" i="1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inside individual case files</a:t>
            </a: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— wage vs. prevailing-wage by SOC, RFE history, attorney, documentation quality. None of those are in any public release.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32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9 /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33"/>
          <p:cNvSpPr/>
          <p:nvPr/>
        </p:nvSpPr>
        <p:spPr>
          <a:xfrm>
            <a:off x="457200" y="27432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3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What We Claim — and What We Don't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3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Being explicit about scope is part of the contribution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33"/>
          <p:cNvSpPr/>
          <p:nvPr/>
        </p:nvSpPr>
        <p:spPr>
          <a:xfrm>
            <a:off x="457200" y="1783080"/>
            <a:ext cx="4023300" cy="14172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33"/>
          <p:cNvSpPr/>
          <p:nvPr/>
        </p:nvSpPr>
        <p:spPr>
          <a:xfrm>
            <a:off x="731520" y="2057400"/>
            <a:ext cx="502800" cy="502800"/>
          </a:xfrm>
          <a:prstGeom prst="ellipse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4" name="Google Shape;49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0392" y="2176272"/>
            <a:ext cx="198882" cy="198882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33"/>
          <p:cNvSpPr/>
          <p:nvPr/>
        </p:nvSpPr>
        <p:spPr>
          <a:xfrm>
            <a:off x="1371600" y="2075688"/>
            <a:ext cx="301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 predictive claim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33"/>
          <p:cNvSpPr/>
          <p:nvPr/>
        </p:nvSpPr>
        <p:spPr>
          <a:xfrm>
            <a:off x="731520" y="2651760"/>
            <a:ext cx="3566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Our models exist to bound explanatory power, not to ship a predictor. Near-zero R² is the finding.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3"/>
          <p:cNvSpPr/>
          <p:nvPr/>
        </p:nvSpPr>
        <p:spPr>
          <a:xfrm>
            <a:off x="4663440" y="1783080"/>
            <a:ext cx="4023300" cy="14172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8" name="Google Shape;498;p33"/>
          <p:cNvSpPr/>
          <p:nvPr/>
        </p:nvSpPr>
        <p:spPr>
          <a:xfrm>
            <a:off x="4937760" y="2057400"/>
            <a:ext cx="502800" cy="502800"/>
          </a:xfrm>
          <a:prstGeom prst="ellipse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499" name="Google Shape;499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56632" y="2176272"/>
            <a:ext cx="198882" cy="198882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Google Shape;500;p33"/>
          <p:cNvSpPr/>
          <p:nvPr/>
        </p:nvSpPr>
        <p:spPr>
          <a:xfrm>
            <a:off x="5577840" y="2075688"/>
            <a:ext cx="301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No causal claim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33"/>
          <p:cNvSpPr/>
          <p:nvPr/>
        </p:nvSpPr>
        <p:spPr>
          <a:xfrm>
            <a:off x="4937760" y="2651760"/>
            <a:ext cx="3566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State and industry correlate with approval; they do not cause it. Every result is read as an upper bound on between-group signal.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3"/>
          <p:cNvSpPr/>
          <p:nvPr/>
        </p:nvSpPr>
        <p:spPr>
          <a:xfrm>
            <a:off x="457200" y="3383280"/>
            <a:ext cx="4023300" cy="14172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33"/>
          <p:cNvSpPr/>
          <p:nvPr/>
        </p:nvSpPr>
        <p:spPr>
          <a:xfrm>
            <a:off x="731520" y="3657600"/>
            <a:ext cx="502800" cy="502800"/>
          </a:xfrm>
          <a:prstGeom prst="ellipse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04" name="Google Shape;504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0392" y="3776472"/>
            <a:ext cx="198882" cy="198882"/>
          </a:xfrm>
          <a:prstGeom prst="rect">
            <a:avLst/>
          </a:prstGeom>
          <a:noFill/>
          <a:ln>
            <a:noFill/>
          </a:ln>
        </p:spPr>
      </p:pic>
      <p:sp>
        <p:nvSpPr>
          <p:cNvPr id="505" name="Google Shape;505;p33"/>
          <p:cNvSpPr/>
          <p:nvPr/>
        </p:nvSpPr>
        <p:spPr>
          <a:xfrm>
            <a:off x="1371600" y="3675888"/>
            <a:ext cx="301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Post-lottery only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3"/>
          <p:cNvSpPr/>
          <p:nvPr/>
        </p:nvSpPr>
        <p:spPr>
          <a:xfrm>
            <a:off x="731520" y="4251960"/>
            <a:ext cx="3566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We observe the ~25% who reached adjudication. The larger, earlier selection step is outside our scope.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33"/>
          <p:cNvSpPr/>
          <p:nvPr/>
        </p:nvSpPr>
        <p:spPr>
          <a:xfrm>
            <a:off x="4663440" y="3383280"/>
            <a:ext cx="4023300" cy="14172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33"/>
          <p:cNvSpPr/>
          <p:nvPr/>
        </p:nvSpPr>
        <p:spPr>
          <a:xfrm>
            <a:off x="4937760" y="3657600"/>
            <a:ext cx="502800" cy="502800"/>
          </a:xfrm>
          <a:prstGeom prst="ellipse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09" name="Google Shape;509;p3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056632" y="3776472"/>
            <a:ext cx="198882" cy="198882"/>
          </a:xfrm>
          <a:prstGeom prst="rect">
            <a:avLst/>
          </a:prstGeom>
          <a:noFill/>
          <a:ln>
            <a:noFill/>
          </a:ln>
        </p:spPr>
      </p:pic>
      <p:sp>
        <p:nvSpPr>
          <p:cNvPr id="510" name="Google Shape;510;p33"/>
          <p:cNvSpPr/>
          <p:nvPr/>
        </p:nvSpPr>
        <p:spPr>
          <a:xfrm>
            <a:off x="5577840" y="3675888"/>
            <a:ext cx="3017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Single fiscal year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33"/>
          <p:cNvSpPr/>
          <p:nvPr/>
        </p:nvSpPr>
        <p:spPr>
          <a:xfrm>
            <a:off x="4937760" y="4251960"/>
            <a:ext cx="35661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FY2024 cannot separate structural patterns from administration-specific policy regimes.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33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 /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34"/>
          <p:cNvSpPr/>
          <p:nvPr/>
        </p:nvSpPr>
        <p:spPr>
          <a:xfrm>
            <a:off x="457200" y="27432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34"/>
          <p:cNvSpPr/>
          <p:nvPr/>
        </p:nvSpPr>
        <p:spPr>
          <a:xfrm>
            <a:off x="457200" y="566928"/>
            <a:ext cx="84126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2800"/>
              <a:buFont typeface="Georgia"/>
              <a:buNone/>
            </a:pPr>
            <a:r>
              <a:rPr b="1" i="0" lang="en-US" sz="2800" u="none" cap="none" strike="noStrike">
                <a:solidFill>
                  <a:srgbClr val="1E293B"/>
                </a:solidFill>
                <a:latin typeface="Georgia"/>
                <a:ea typeface="Georgia"/>
                <a:cs typeface="Georgia"/>
                <a:sym typeface="Georgia"/>
              </a:rPr>
              <a:t>The Commit Worth Making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34"/>
          <p:cNvSpPr/>
          <p:nvPr/>
        </p:nvSpPr>
        <p:spPr>
          <a:xfrm>
            <a:off x="457200" y="1280160"/>
            <a:ext cx="8412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The bottleneck is the input, not the compute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34"/>
          <p:cNvSpPr/>
          <p:nvPr/>
        </p:nvSpPr>
        <p:spPr>
          <a:xfrm>
            <a:off x="457200" y="1783080"/>
            <a:ext cx="8229600" cy="8229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34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23" name="Google Shape;52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6384" y="2066544"/>
            <a:ext cx="192024" cy="192024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34"/>
          <p:cNvSpPr/>
          <p:nvPr/>
        </p:nvSpPr>
        <p:spPr>
          <a:xfrm>
            <a:off x="1280160" y="1892808"/>
            <a:ext cx="7223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01  Case-level data, not aggregates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4"/>
          <p:cNvSpPr/>
          <p:nvPr/>
        </p:nvSpPr>
        <p:spPr>
          <a:xfrm>
            <a:off x="1280160" y="2194560"/>
            <a:ext cx="7223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Join USCIS I-129 case releases with wage-relative-to-prevailing by SOC, RFE history, and attorney metadata. This is where the unexplained variance lives.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4"/>
          <p:cNvSpPr/>
          <p:nvPr/>
        </p:nvSpPr>
        <p:spPr>
          <a:xfrm>
            <a:off x="457200" y="2715768"/>
            <a:ext cx="8229600" cy="8229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34"/>
          <p:cNvSpPr/>
          <p:nvPr/>
        </p:nvSpPr>
        <p:spPr>
          <a:xfrm>
            <a:off x="685800" y="2898648"/>
            <a:ext cx="457200" cy="457200"/>
          </a:xfrm>
          <a:prstGeom prst="ellipse">
            <a:avLst/>
          </a:prstGeom>
          <a:solidFill>
            <a:srgbClr val="1C7293"/>
          </a:solidFill>
          <a:ln cap="flat" cmpd="sng" w="127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28" name="Google Shape;528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6384" y="2999232"/>
            <a:ext cx="192024" cy="192024"/>
          </a:xfrm>
          <a:prstGeom prst="rect">
            <a:avLst/>
          </a:prstGeom>
          <a:noFill/>
          <a:ln>
            <a:noFill/>
          </a:ln>
        </p:spPr>
      </p:pic>
      <p:sp>
        <p:nvSpPr>
          <p:cNvPr id="529" name="Google Shape;529;p34"/>
          <p:cNvSpPr/>
          <p:nvPr/>
        </p:nvSpPr>
        <p:spPr>
          <a:xfrm>
            <a:off x="1280160" y="2825496"/>
            <a:ext cx="7223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02  Multi-year temporal coverage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4"/>
          <p:cNvSpPr/>
          <p:nvPr/>
        </p:nvSpPr>
        <p:spPr>
          <a:xfrm>
            <a:off x="1280160" y="3127248"/>
            <a:ext cx="7223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Extend to FY2019–FY2025 to separate policy-regime effects (Buy American EO, 2025 $100K proclamation) from structural patterns.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4"/>
          <p:cNvSpPr/>
          <p:nvPr/>
        </p:nvSpPr>
        <p:spPr>
          <a:xfrm>
            <a:off x="457200" y="3648456"/>
            <a:ext cx="8229600" cy="822900"/>
          </a:xfrm>
          <a:prstGeom prst="rect">
            <a:avLst/>
          </a:prstGeom>
          <a:solidFill>
            <a:srgbClr val="F1F5F9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34"/>
          <p:cNvSpPr/>
          <p:nvPr/>
        </p:nvSpPr>
        <p:spPr>
          <a:xfrm>
            <a:off x="685800" y="3831336"/>
            <a:ext cx="457200" cy="457200"/>
          </a:xfrm>
          <a:prstGeom prst="ellipse">
            <a:avLst/>
          </a:prstGeom>
          <a:solidFill>
            <a:srgbClr val="F4B942"/>
          </a:solidFill>
          <a:ln cap="flat" cmpd="sng" w="12700">
            <a:solidFill>
              <a:srgbClr val="F4B9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3" name="Google Shape;533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86384" y="3931920"/>
            <a:ext cx="192024" cy="192024"/>
          </a:xfrm>
          <a:prstGeom prst="rect">
            <a:avLst/>
          </a:prstGeom>
          <a:noFill/>
          <a:ln>
            <a:noFill/>
          </a:ln>
        </p:spPr>
      </p:pic>
      <p:sp>
        <p:nvSpPr>
          <p:cNvPr id="534" name="Google Shape;534;p34"/>
          <p:cNvSpPr/>
          <p:nvPr/>
        </p:nvSpPr>
        <p:spPr>
          <a:xfrm>
            <a:off x="1280160" y="3758184"/>
            <a:ext cx="72237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03  Productionize the Spark pipeline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34"/>
          <p:cNvSpPr/>
          <p:nvPr/>
        </p:nvSpPr>
        <p:spPr>
          <a:xfrm>
            <a:off x="1280160" y="4059936"/>
            <a:ext cx="72237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75569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Move the verified PySpark merge from local[*] to Dataproc/EMR/Databricks — one-line swap from .toPandas() to .write.parquet().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34"/>
          <p:cNvSpPr/>
          <p:nvPr/>
        </p:nvSpPr>
        <p:spPr>
          <a:xfrm>
            <a:off x="457200" y="4526280"/>
            <a:ext cx="8229600" cy="365700"/>
          </a:xfrm>
          <a:prstGeom prst="rect">
            <a:avLst/>
          </a:prstGeom>
          <a:solidFill>
            <a:srgbClr val="0A2540"/>
          </a:solidFill>
          <a:ln cap="flat" cmpd="sng" w="12700">
            <a:solidFill>
              <a:srgbClr val="0A254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34"/>
          <p:cNvSpPr/>
          <p:nvPr/>
        </p:nvSpPr>
        <p:spPr>
          <a:xfrm>
            <a:off x="457200" y="4526280"/>
            <a:ext cx="109800" cy="365700"/>
          </a:xfrm>
          <a:prstGeom prst="rect">
            <a:avLst/>
          </a:prstGeom>
          <a:solidFill>
            <a:srgbClr val="F4B942"/>
          </a:solidFill>
          <a:ln cap="flat" cmpd="sng" w="12700">
            <a:solidFill>
              <a:srgbClr val="F4B94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34"/>
          <p:cNvSpPr/>
          <p:nvPr/>
        </p:nvSpPr>
        <p:spPr>
          <a:xfrm>
            <a:off x="731520" y="4526280"/>
            <a:ext cx="7863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Bounding what public data can't explain is the first step to demanding better data.  Thank you.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34"/>
          <p:cNvSpPr/>
          <p:nvPr/>
        </p:nvSpPr>
        <p:spPr>
          <a:xfrm>
            <a:off x="8138160" y="4937760"/>
            <a:ext cx="640200" cy="1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800"/>
              <a:buFont typeface="Calibri"/>
              <a:buNone/>
            </a:pPr>
            <a:r>
              <a:rPr b="0" i="0" lang="en-US" sz="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11 / 11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0100621-Campus_2_1348.jpg" id="545" name="Google Shape;545;p35"/>
          <p:cNvPicPr preferRelativeResize="0"/>
          <p:nvPr/>
        </p:nvPicPr>
        <p:blipFill rotWithShape="1">
          <a:blip r:embed="rId3">
            <a:alphaModFix/>
          </a:blip>
          <a:srcRect b="0" l="17597" r="7498" t="0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546" name="Google Shape;546;p35"/>
          <p:cNvSpPr/>
          <p:nvPr/>
        </p:nvSpPr>
        <p:spPr>
          <a:xfrm>
            <a:off x="4740313" y="0"/>
            <a:ext cx="4403700" cy="5143500"/>
          </a:xfrm>
          <a:prstGeom prst="rect">
            <a:avLst/>
          </a:prstGeom>
          <a:solidFill>
            <a:srgbClr val="011B39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35"/>
          <p:cNvSpPr txBox="1"/>
          <p:nvPr>
            <p:ph type="title"/>
          </p:nvPr>
        </p:nvSpPr>
        <p:spPr>
          <a:xfrm>
            <a:off x="5028627" y="1761805"/>
            <a:ext cx="3827100" cy="39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BBBCBC"/>
              </a:buClr>
              <a:buSzPts val="2700"/>
              <a:buFont typeface="Helvetica Neue"/>
              <a:buNone/>
            </a:pPr>
            <a:r>
              <a:rPr lang="en-US" sz="4800">
                <a:solidFill>
                  <a:srgbClr val="BBBCBC"/>
                </a:solidFill>
              </a:rPr>
              <a:t>Thank You!</a:t>
            </a:r>
            <a:endParaRPr sz="4800">
              <a:solidFill>
                <a:srgbClr val="BBBCBC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Georgetown University OA">
      <a:dk1>
        <a:srgbClr val="000000"/>
      </a:dk1>
      <a:lt1>
        <a:srgbClr val="FFFFFF"/>
      </a:lt1>
      <a:dk2>
        <a:srgbClr val="011B39"/>
      </a:dk2>
      <a:lt2>
        <a:srgbClr val="4A4C4D"/>
      </a:lt2>
      <a:accent1>
        <a:srgbClr val="003B7C"/>
      </a:accent1>
      <a:accent2>
        <a:srgbClr val="9CA09C"/>
      </a:accent2>
      <a:accent3>
        <a:srgbClr val="00A4CC"/>
      </a:accent3>
      <a:accent4>
        <a:srgbClr val="46A536"/>
      </a:accent4>
      <a:accent5>
        <a:srgbClr val="CD0032"/>
      </a:accent5>
      <a:accent6>
        <a:srgbClr val="580A1D"/>
      </a:accent6>
      <a:hlink>
        <a:srgbClr val="003D81"/>
      </a:hlink>
      <a:folHlink>
        <a:srgbClr val="00A4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