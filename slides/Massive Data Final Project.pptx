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  <p:sldMasterId id="2147483665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80" r:id="rId9"/>
    <p:sldId id="281" r:id="rId10"/>
    <p:sldId id="282" r:id="rId11"/>
    <p:sldId id="283" r:id="rId12"/>
    <p:sldId id="261" r:id="rId13"/>
    <p:sldId id="262" r:id="rId14"/>
    <p:sldId id="263" r:id="rId15"/>
    <p:sldId id="264" r:id="rId16"/>
    <p:sldId id="265" r:id="rId17"/>
    <p:sldId id="266" r:id="rId18"/>
    <p:sldId id="272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Helvetica Neue" panose="02010600030101010101" charset="0"/>
      <p:regular r:id="rId29"/>
      <p:bold r:id="rId30"/>
      <p:italic r:id="rId31"/>
      <p:boldItalic r:id="rId32"/>
    </p:embeddedFont>
    <p:embeddedFont>
      <p:font typeface="Roboto Mono" panose="020F0502020204030204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9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34b46fa5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d834b46fa5_1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d834b46fa5_1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34b46fa5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d834b46fa5_1_1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d834b46fa5_1_1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1f3b35e5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d81f3b35e5_1_6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Despite processing tens of thousands of petitions each year, there is little public clarity on which factors shape approval outcomes — for employers, applicants, or policymakers.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81f3b35e5_1_6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34b46fa5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d834b46fa5_1_4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d834b46fa5_1_4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U.S. Department of Labor's Office of Foreign Labor Certification (OFLC) publishes every </a:t>
            </a: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Labor Condition Application (LCA)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filed by an employer.</a:t>
            </a:r>
            <a:endParaRPr/>
          </a:p>
        </p:txBody>
      </p:sp>
      <p:sp>
        <p:nvSpPr>
          <p:cNvPr id="184" name="Google Shape;1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834b46fa5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d834b46fa5_1_15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d834b46fa5_1_15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834b46fa5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d834b46fa5_1_18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d834b46fa5_1_18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834b46fa5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d834b46fa5_1_22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d834b46fa5_1_22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834b46fa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3d834b46fa5_1_26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d834b46fa5_1_26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834b46fa5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d834b46fa5_1_28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d834b46fa5_1_28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834b46fa5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3d834b46fa5_1_31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d834b46fa5_1_31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427894" y="397577"/>
            <a:ext cx="52677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Helvetica Neue"/>
              <a:buNone/>
              <a:defRPr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427896" y="1859525"/>
            <a:ext cx="52677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2251"/>
              <a:buNone/>
              <a:defRPr sz="2251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1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427896" y="4593488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500"/>
              <a:buFont typeface="Helvetica Neue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13474" y="1004150"/>
            <a:ext cx="8686500" cy="3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2313" y="3305180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3001"/>
              <a:buFont typeface="Helvetica Neue"/>
              <a:buNone/>
              <a:defRPr sz="3001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57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201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1"/>
              <a:buChar char="•"/>
              <a:defRPr sz="2101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648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201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1"/>
              <a:buChar char="•"/>
              <a:defRPr sz="2101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1"/>
              <a:buFont typeface="Helvetica Neu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457203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500"/>
              <a:buFont typeface="Helvetica Neue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3575050" y="204792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64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Char char="•"/>
              <a:defRPr sz="2401"/>
            </a:lvl1pPr>
            <a:lvl2pPr marL="914400" lvl="1" indent="-36201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1"/>
              <a:buChar char="–"/>
              <a:defRPr sz="2101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57203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 rot="5400000">
            <a:off x="2958100" y="-1740550"/>
            <a:ext cx="3197100" cy="8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 rot="5400000">
            <a:off x="5463750" y="1371633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67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457200" y="476726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3124200" y="4767267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1" y="4537007"/>
            <a:ext cx="9157800" cy="606600"/>
          </a:xfrm>
          <a:prstGeom prst="rect">
            <a:avLst/>
          </a:prstGeom>
          <a:solidFill>
            <a:srgbClr val="041E42"/>
          </a:solidFill>
          <a:ln w="9525" cap="flat" cmpd="sng">
            <a:solidFill>
              <a:srgbClr val="00387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13474" y="256327"/>
            <a:ext cx="868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1"/>
              <a:buFont typeface="Helvetica Neue"/>
              <a:buNone/>
              <a:defRPr sz="2701" b="1" i="0" u="none" strike="noStrike" cap="none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213474" y="1004150"/>
            <a:ext cx="8686500" cy="3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64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•"/>
              <a:defRPr sz="24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2014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1"/>
              <a:buFont typeface="Arial"/>
              <a:buChar char="–"/>
              <a:defRPr sz="210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427896" y="4553146"/>
            <a:ext cx="39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831905" y="4778446"/>
            <a:ext cx="2300996" cy="167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-1" y="4467486"/>
            <a:ext cx="9144000" cy="69600"/>
          </a:xfrm>
          <a:prstGeom prst="rect">
            <a:avLst/>
          </a:prstGeom>
          <a:solidFill>
            <a:srgbClr val="BBBCB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457200" y="457200"/>
            <a:ext cx="914400" cy="366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457200" y="5943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457200" y="1315189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H-1B Approval: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457200" y="2613233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3600"/>
              <a:buFont typeface="Georgia"/>
              <a:buNone/>
            </a:pPr>
            <a:r>
              <a:rPr lang="en-US" sz="3800" b="1" i="1" u="none" strike="noStrike" cap="non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How Much Can Public Data Explain?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91050" y="594358"/>
            <a:ext cx="82296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Georgia"/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rPr>
              <a:t>A three-layer explainability audit of USCIS, OFLC, and Census data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298450" y="4543286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Xiao Xu  ·  Cassie Zhang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8671" y="3796034"/>
            <a:ext cx="1512592" cy="106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589488" y="335491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3800" b="1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is t</a:t>
            </a:r>
            <a:r>
              <a:rPr lang="en-US" sz="3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he H-1B Visa Program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457138" y="11412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295450" y="1010372"/>
            <a:ext cx="827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H-1B visa allows U.S. employers to recruit highly skilled foreign professionals to address domestic labor shortages.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237438" y="2224279"/>
            <a:ext cx="484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2600" b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Industry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248188" y="2688384"/>
            <a:ext cx="640200" cy="4389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597" y="2847218"/>
            <a:ext cx="198883" cy="19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1037013" y="2681499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2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Technology, engineering, finance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295438" y="3426028"/>
            <a:ext cx="571500" cy="4389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610" y="3545969"/>
            <a:ext cx="198883" cy="19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1026288" y="3447750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2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Healthcare and scientific research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 rot="10800000" flipH="1">
            <a:off x="253588" y="4163595"/>
            <a:ext cx="629400" cy="4962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622" y="4288154"/>
            <a:ext cx="198883" cy="19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1026300" y="4242356"/>
            <a:ext cx="4403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2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U.S. global competitiveness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5292075" y="1950000"/>
            <a:ext cx="3752400" cy="31083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5499135" y="205382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24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5499135" y="246074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700" b="0" i="1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FY 2024 petition data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499135" y="2644716"/>
            <a:ext cx="2560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~407K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5474401" y="3360544"/>
            <a:ext cx="331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7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7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etitions adjudicated by USCIS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20"/>
          <p:cNvCxnSpPr/>
          <p:nvPr/>
        </p:nvCxnSpPr>
        <p:spPr>
          <a:xfrm>
            <a:off x="5474400" y="3734559"/>
            <a:ext cx="3319200" cy="300"/>
          </a:xfrm>
          <a:prstGeom prst="straightConnector1">
            <a:avLst/>
          </a:prstGeom>
          <a:noFill/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20"/>
          <p:cNvSpPr/>
          <p:nvPr/>
        </p:nvSpPr>
        <p:spPr>
          <a:xfrm>
            <a:off x="5499123" y="3750953"/>
            <a:ext cx="2560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61,452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5463975" y="4315669"/>
            <a:ext cx="340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7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17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nique employer petitioners (USCIS release)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265450" y="329275"/>
            <a:ext cx="7315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Policy Problem: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344400" y="1693475"/>
            <a:ext cx="73200" cy="28347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18720" y="3293675"/>
            <a:ext cx="35661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744450" y="1602025"/>
            <a:ext cx="77718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1149000" y="1784905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0960" y="190380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1834800" y="1858079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9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Opaque decision factors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4852500" y="1812337"/>
            <a:ext cx="331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Little transparency on what predicts approval vs. denial.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744450" y="2580425"/>
            <a:ext cx="77718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149000" y="2763313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0960" y="2915398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/>
          <p:nvPr/>
        </p:nvSpPr>
        <p:spPr>
          <a:xfrm>
            <a:off x="1834800" y="2854799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7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Possible structural disparities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4852500" y="2809025"/>
            <a:ext cx="2907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Unclear whether outcomes vary by industry, region, or employer type.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744450" y="3558850"/>
            <a:ext cx="78297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1149000" y="3760121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960" y="3926993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1832525" y="3851470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9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public data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847950" y="3851475"/>
            <a:ext cx="308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Available variables may be too coarse for robust oversight.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344400" y="4573835"/>
            <a:ext cx="8229600" cy="2742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2831175" y="932625"/>
            <a:ext cx="870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"The adjudication process is a black box"</a:t>
            </a:r>
            <a:endParaRPr>
              <a:solidFill>
                <a:srgbClr val="B91C1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37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H-1B Process </a:t>
            </a:r>
            <a:endParaRPr sz="3700" b="1">
              <a:solidFill>
                <a:srgbClr val="1E293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3700" b="1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</a:t>
            </a:r>
            <a:r>
              <a:rPr lang="en-US" sz="37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— Where We Focus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168938" y="2278941"/>
            <a:ext cx="2685000" cy="23760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397463" y="2405512"/>
            <a:ext cx="640200" cy="4572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168912" y="2483156"/>
            <a:ext cx="922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55917" y="3074621"/>
            <a:ext cx="214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Registration Lottery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447017" y="3666080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2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USCIS electronic selection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47017" y="4062884"/>
            <a:ext cx="2148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Georgia"/>
              <a:buNone/>
            </a:pPr>
            <a:r>
              <a:rPr lang="en-US" sz="3100" b="1" i="0" u="none" strike="noStrike" cap="non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~25%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384862" y="4233697"/>
            <a:ext cx="214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876713" y="1942988"/>
            <a:ext cx="411600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3311100" y="2244732"/>
            <a:ext cx="2514600" cy="23760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3522887" y="2462663"/>
            <a:ext cx="640200" cy="411600"/>
          </a:xfrm>
          <a:prstGeom prst="ellipse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3681355" y="246266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3427568" y="2961090"/>
            <a:ext cx="214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Petition Adjudication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3493980" y="3469280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900" b="0" i="1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Form I-129 review by USCIS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3493968" y="3789659"/>
            <a:ext cx="2148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~97%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493968" y="4168073"/>
            <a:ext cx="2148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900"/>
              <a:buFont typeface="Calibri"/>
              <a:buNone/>
            </a:pPr>
            <a:r>
              <a:rPr lang="en-US" sz="2600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600" b="0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pproval rate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3475593" y="4292984"/>
            <a:ext cx="2148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848513" y="2056725"/>
            <a:ext cx="4116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345588" y="2244731"/>
            <a:ext cx="2629500" cy="2410200"/>
          </a:xfrm>
          <a:prstGeom prst="rect">
            <a:avLst/>
          </a:prstGeom>
          <a:solidFill>
            <a:srgbClr val="F1F5F9"/>
          </a:solidFill>
          <a:ln w="101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625" tIns="97625" rIns="97625" bIns="97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6540889" y="2469206"/>
            <a:ext cx="701100" cy="411600"/>
          </a:xfrm>
          <a:prstGeom prst="ellipse">
            <a:avLst/>
          </a:prstGeom>
          <a:solidFill>
            <a:srgbClr val="1C7293"/>
          </a:solidFill>
          <a:ln w="1355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625" tIns="97625" rIns="97625" bIns="97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6648310" y="2455552"/>
            <a:ext cx="4395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8"/>
              <a:buFont typeface="Georgia"/>
              <a:buNone/>
            </a:pPr>
            <a:r>
              <a:rPr lang="en-US" sz="1708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7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6532185" y="2959550"/>
            <a:ext cx="22944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2"/>
              <a:buFont typeface="Calibri"/>
              <a:buNone/>
            </a:pPr>
            <a:r>
              <a:rPr lang="en-US" sz="2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Visa Issuance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6540863" y="3960020"/>
            <a:ext cx="22944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68"/>
              <a:buFont typeface="Calibri"/>
              <a:buNone/>
            </a:pPr>
            <a:r>
              <a:rPr lang="en-US" sz="2200" i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tatus change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3610475" y="1942894"/>
            <a:ext cx="1783200" cy="2742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3610423" y="194289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00"/>
              <a:buFont typeface="Calibri"/>
              <a:buNone/>
            </a:pPr>
            <a:r>
              <a:rPr lang="en-US" sz="19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OUR SCOPE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8024773" y="4960504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228751" y="196372"/>
            <a:ext cx="86865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430"/>
              <a:buFont typeface="Helvetica Neue"/>
              <a:buNone/>
            </a:pPr>
            <a:r>
              <a:rPr lang="en-US" sz="2631"/>
              <a:t>Dataset</a:t>
            </a:r>
            <a:endParaRPr sz="2631"/>
          </a:p>
        </p:txBody>
      </p:sp>
      <p:sp>
        <p:nvSpPr>
          <p:cNvPr id="187" name="Google Shape;187;p23"/>
          <p:cNvSpPr txBox="1"/>
          <p:nvPr/>
        </p:nvSpPr>
        <p:spPr>
          <a:xfrm>
            <a:off x="325397" y="1019635"/>
            <a:ext cx="80667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1.USCIS</a:t>
            </a:r>
            <a:r>
              <a:rPr lang="en-US" sz="1700">
                <a:solidFill>
                  <a:schemeClr val="dk1"/>
                </a:solidFill>
              </a:rPr>
              <a:t> — H-1B Employer Data Hub</a:t>
            </a:r>
            <a:endParaRPr sz="1700">
              <a:solidFill>
                <a:schemeClr val="dk1"/>
              </a:solidFill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Char char="●"/>
            </a:pPr>
            <a:r>
              <a:rPr lang="en-US" sz="1700">
                <a:solidFill>
                  <a:srgbClr val="188038"/>
                </a:solidFill>
              </a:rPr>
              <a:t>State, industry, and approval/denial counts</a:t>
            </a:r>
            <a:endParaRPr sz="1700">
              <a:solidFill>
                <a:srgbClr val="188038"/>
              </a:solidFill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1880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2.OFLC LCA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— Department of Labor's Labor Condition Application disclosures</a:t>
            </a:r>
            <a:endParaRPr sz="1700">
              <a:solidFill>
                <a:schemeClr val="dk1"/>
              </a:solidFill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Char char="●"/>
            </a:pP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Worksite City / State, AVG_ANNUAL_WAGE</a:t>
            </a:r>
            <a:r>
              <a:rPr lang="en-US" sz="1700">
                <a:solidFill>
                  <a:srgbClr val="188038"/>
                </a:solidFill>
              </a:rPr>
              <a:t> </a:t>
            </a:r>
            <a:endParaRPr sz="1700">
              <a:solidFill>
                <a:srgbClr val="1880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1880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3.</a:t>
            </a:r>
            <a:r>
              <a:rPr lang="en-US" sz="1700" b="1">
                <a:solidFill>
                  <a:schemeClr val="dk1"/>
                </a:solidFill>
              </a:rPr>
              <a:t>U.S. Census Bureau</a:t>
            </a:r>
            <a:r>
              <a:rPr lang="en-US" sz="1700">
                <a:solidFill>
                  <a:schemeClr val="dk1"/>
                </a:solidFill>
              </a:rPr>
              <a:t> and the </a:t>
            </a:r>
            <a:r>
              <a:rPr lang="en-US" sz="1700" b="1">
                <a:solidFill>
                  <a:schemeClr val="dk1"/>
                </a:solidFill>
              </a:rPr>
              <a:t>Bureau of Labor Statistics (BLS)</a:t>
            </a:r>
            <a:r>
              <a:rPr lang="en-US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— City-level economic indicators</a:t>
            </a:r>
            <a:endParaRPr sz="1700">
              <a:solidFill>
                <a:schemeClr val="dk1"/>
              </a:solidFill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700"/>
              <a:buChar char="●"/>
            </a:pPr>
            <a:r>
              <a:rPr lang="en-US" sz="1700">
                <a:solidFill>
                  <a:srgbClr val="188038"/>
                </a:solidFill>
              </a:rPr>
              <a:t>Population, density, rent, employment rates</a:t>
            </a:r>
            <a:endParaRPr sz="1700">
              <a:solidFill>
                <a:srgbClr val="1880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4683208" y="16144638"/>
            <a:ext cx="4376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Bulleted Text Style Title—</a:t>
            </a:r>
            <a:b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 Neue 20pt Bold</a:t>
            </a:r>
            <a:endParaRPr/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613" y="631675"/>
            <a:ext cx="1387375" cy="11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3245" y="1725795"/>
            <a:ext cx="1223975" cy="12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3250" y="3243550"/>
            <a:ext cx="1397064" cy="12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METHODS  — 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84124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Georgia"/>
              </a:rPr>
              <a:t>End-to-End Reproducible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412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>
                <a:solidFill>
                  <a:srgbClr val="475569"/>
                </a:solidFill>
                <a:latin typeface="Calibri"/>
              </a:rPr>
              <a:t>One input → one output per stage  ·  Parquet at every boundary  ·  any stage re-runnable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scripts/run_pipeline.py orchestrates 5 stages  ·  61,452 employer rows  →  3,968 merged cities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937760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1C7293"/>
                </a:solidFill>
                <a:latin typeface="Calibri"/>
              </a:rPr>
              <a:t>RAW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7830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data/raw/h1b_fy2024.csv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USCIS FY2024 employer release · UTF-16 · 61,452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alibri"/>
              </a:rPr>
              <a:t>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2402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scripts/cleaning.py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snake_case · NAICS split · zip3 proxy · re-derived approval_rate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alibri"/>
              </a:rPr>
              <a:t>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6974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scripts/feature_engineering.py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is_stem · region · size_bucket · share_continuing · log volumes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alibri"/>
              </a:rPr>
              <a:t>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1546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scripts/merge_external.py  (+ _spark.py)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USCIS × LCA × Census  →  3,968 cities  ·  96.7% petition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alibri"/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6118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modeling.py  +  modeling_city.py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OLS / RandomForest / XGBoost  ·  structural vs enriched specs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777240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EA5E9"/>
                </a:solidFill>
                <a:latin typeface="Calibri"/>
              </a:rPr>
              <a:t>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069080"/>
            <a:ext cx="3200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scripts/analysis.py</a:t>
            </a:r>
            <a:r>
              <a:t>
</a:t>
            </a:r>
            <a:r>
              <a:rPr sz="850">
                <a:solidFill>
                  <a:srgbClr val="CBD5E1"/>
                </a:solidFill>
                <a:latin typeface="Calibri"/>
              </a:rPr>
              <a:t>8 figures + variance decomposition tables → outputs/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2176272"/>
            <a:ext cx="0" cy="54864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7" y="2633472"/>
            <a:ext cx="0" cy="54864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1247" y="3090672"/>
            <a:ext cx="0" cy="54864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7" y="3547872"/>
            <a:ext cx="0" cy="54864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7" y="4005072"/>
            <a:ext cx="0" cy="54864"/>
          </a:xfrm>
          <a:prstGeom prst="line">
            <a:avLst/>
          </a:prstGeom>
          <a:ln w="15875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63440" y="1783080"/>
            <a:ext cx="402336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46320" y="1874519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STORAGE  ·  PARQUET EVERYWHERE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103120"/>
            <a:ext cx="365760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Columnar · compressed · schema-typed.</a:t>
            </a:r>
            <a:r>
              <a:t>
</a:t>
            </a:r>
            <a:r>
              <a:rPr sz="1000">
                <a:solidFill>
                  <a:srgbClr val="CBD5E1"/>
                </a:solidFill>
                <a:latin typeface="Calibri"/>
              </a:rPr>
              <a:t>A full decade of releases (~1M rows) still fits on a laptop.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834639"/>
            <a:ext cx="402336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46320" y="2926079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MODULARITY  ·  1-IN  /  1-OUT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154679"/>
            <a:ext cx="365760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Each stage reads one parquet, writes one parquet.</a:t>
            </a:r>
            <a:r>
              <a:t>
</a:t>
            </a:r>
            <a:r>
              <a:rPr sz="1000">
                <a:solidFill>
                  <a:srgbClr val="CBD5E1"/>
                </a:solidFill>
                <a:latin typeface="Calibri"/>
              </a:rPr>
              <a:t>Re-run any stage independently after editing — no full rebuild.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88620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46320" y="3977639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ORCHESTRATION  ·  THIN SHELL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4206240"/>
            <a:ext cx="3657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4B942"/>
                </a:solidFill>
                <a:latin typeface="Consolas"/>
              </a:rPr>
              <a:t>python scripts/run_pipeline.py</a:t>
            </a:r>
            <a:r>
              <a:t>
</a:t>
            </a:r>
            <a:r>
              <a:rPr sz="1000">
                <a:solidFill>
                  <a:srgbClr val="CBD5E1"/>
                </a:solidFill>
                <a:latin typeface="Calibri"/>
              </a:rPr>
              <a:t>Swap to Airflow / Prefect / Dagster — only the trigger changes, not the stages.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METHODS  —  CLEANING &amp;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84124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Georgia"/>
              </a:rPr>
              <a:t>Honest Features from a Messy Public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412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>
                <a:solidFill>
                  <a:srgbClr val="475569"/>
                </a:solidFill>
                <a:latin typeface="Calibri"/>
              </a:rPr>
              <a:t>Feature set deliberately bounded to what USCIS actually exposes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61,452 employer rows · 17 raw columns → 25 modeling columns · zero leakage from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937760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40233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CLEANING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UTF-16 LE w/ 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194560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encoding fix in cleaning.py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78608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2578608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NAICS string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578608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"54 - Professional..." → code + label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962656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962656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Zip → 5-digit + zip3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962656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zip3 = region proxy (Layer 2)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346703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3346703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Re-derive approval_rate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346703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raw nudges 0/1 by ~10⁻⁶ — distorts means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730752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3730752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LCA wage cap $500k/yr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730752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raw values reach $238M (hourly/annual mix)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114800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4114800"/>
            <a:ext cx="16916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Keep "UNKNOWN" employer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114800"/>
            <a:ext cx="196596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kept as distinct category, not dropped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498848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46320" y="1874519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ENGINEERED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167128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059669"/>
                </a:solidFill>
                <a:latin typeface="Calibri"/>
              </a:rPr>
              <a:t>STRUCTURAL  ·  USCIS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423160"/>
            <a:ext cx="2103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is_stem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59" y="2423160"/>
            <a:ext cx="1508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NAICS prefix ∈ {51, 54, 33, 52, 61}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42615"/>
            <a:ext cx="2103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region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59" y="2642615"/>
            <a:ext cx="1508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Census 4-region 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862072"/>
            <a:ext cx="2103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size_bucket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59" y="2862072"/>
            <a:ext cx="1508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single / small / medium / large / mega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081528"/>
            <a:ext cx="2103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share_continuing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59" y="3081528"/>
            <a:ext cx="1508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application mix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300984"/>
            <a:ext cx="2103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log_petitions, log_employer_total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59" y="3300984"/>
            <a:ext cx="15087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volume controls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46320" y="3566160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846320" y="3630168"/>
            <a:ext cx="3657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4B942"/>
                </a:solidFill>
                <a:latin typeface="Calibri"/>
              </a:rPr>
              <a:t>ENRICHMENT  ·  LCA + Census  ·  city-level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86791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log_wage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59" y="3867912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OFLC LCA avg annual wage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069080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log_population, log_density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59" y="4069080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Census pop + density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270248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log_rent, employed_pct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59" y="4270248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BLS housing + labor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471416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unemployed_z, log_lca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95159" y="4471416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alibri"/>
              </a:rPr>
              <a:t>labor slack + LCA volume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SCALABILITY  —  DISTRIBUTED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84124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Georgia"/>
              </a:rPr>
              <a:t>Same Merge, Pandas and PySpark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412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>
                <a:solidFill>
                  <a:srgbClr val="475569"/>
                </a:solidFill>
                <a:latin typeface="Calibri"/>
              </a:rPr>
              <a:t>merge_external_spark.py: cluster-ready by design, verified bit-identical on local[*]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PySpark 3.5  ·  Spark SQL adaptive execution  ·  one-line swap from local[*] to Dataproc / EMR / Databricks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937760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4480560" cy="2834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merge_external_spark.py  ·  EXCERPT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4114800" cy="2331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9CDCFE"/>
                </a:solidFill>
                <a:latin typeface="Consolas"/>
              </a:rPr>
              <a:t>spark = (SparkSession.builder
    .appName("h1b-merge-external")
    .config("spark.sql.adaptive.enabled", "true")
    .config("spark.sql.shuffle.partitions", "16")
    .getOrCreate())
uscis_by_city = (df.groupBy("state","city")
  .agg(F.sum("total_petitions"),
       F.countDistinct("employer"),
       F.avg("is_stem"),
       F.first("region")))
merged = uscis.join(external,
    on=["state","city"], how="inner")
# cluster: merged.write.parquet(OUT)
# local : merged.toPandas().to_parquet(OUT)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83080"/>
            <a:ext cx="3566160" cy="1417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0" y="1874519"/>
            <a:ext cx="320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Calibri"/>
              </a:rPr>
              <a:t>PARITY VERIFICATION  ·  PANDAS  vs  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1645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Output 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194560"/>
            <a:ext cx="155447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Consolas"/>
              </a:rPr>
              <a:t>3,968  ≡  3,968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468879"/>
            <a:ext cx="32004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303520" y="2487168"/>
            <a:ext cx="1645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approval_rate 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487168"/>
            <a:ext cx="155447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Consolas"/>
              </a:rPr>
              <a:t>0.0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0" y="2761487"/>
            <a:ext cx="32004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03520" y="2779775"/>
            <a:ext cx="1645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avg_wage 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779775"/>
            <a:ext cx="155447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Consolas"/>
              </a:rPr>
              <a:t>≤ 8e-13  (float roundoff)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3054095"/>
            <a:ext cx="32004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20640" y="3291839"/>
            <a:ext cx="356616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03520" y="3383279"/>
            <a:ext cx="32004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4B942"/>
                </a:solidFill>
                <a:latin typeface="Calibri"/>
              </a:rPr>
              <a:t>ONE-LINE SCALE-OUT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657599"/>
            <a:ext cx="3200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Consolas"/>
              </a:rPr>
              <a:t>.toPandas().to_parquet(OUT)</a:t>
            </a:r>
            <a:r>
              <a:t>
</a:t>
            </a:r>
            <a:r>
              <a:rPr sz="1100">
                <a:solidFill>
                  <a:srgbClr val="F4B942"/>
                </a:solidFill>
                <a:latin typeface="Calibri"/>
              </a:rPr>
              <a:t>→  </a:t>
            </a:r>
            <a:r>
              <a:rPr sz="1000" b="1">
                <a:solidFill>
                  <a:srgbClr val="FFFFFF"/>
                </a:solidFill>
                <a:latin typeface="Consolas"/>
              </a:rPr>
              <a:t>.write.parquet(OUT)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160520"/>
            <a:ext cx="3200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50">
                <a:solidFill>
                  <a:srgbClr val="CBD5E1"/>
                </a:solidFill>
                <a:latin typeface="Calibri"/>
              </a:rPr>
              <a:t>Same DataFrame code targets Dataproc / EMR / Databricks unchanged.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METHODS  —  MODELING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84124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800" b="1">
                <a:solidFill>
                  <a:srgbClr val="1E293B"/>
                </a:solidFill>
                <a:latin typeface="Georgia"/>
              </a:rPr>
              <a:t>Three Model Families, One Ceiling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412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>
                <a:solidFill>
                  <a:srgbClr val="475569"/>
                </a:solidFill>
                <a:latin typeface="Calibri"/>
              </a:rPr>
              <a:t>Goal is to bound explanatory power, not to search hyperparameters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ColumnTransformer + sparse one-hot (min_frequency = 20)  ·  80/20 split  ·  random_state = 42  ·  R² + MAE 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937760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40233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PREPROCESSING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356616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231136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X  =  numeric  +  categorical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14015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50">
                <a:solidFill>
                  <a:srgbClr val="CBD5E1"/>
                </a:solidFill>
                <a:latin typeface="Calibri"/>
              </a:rPr>
              <a:t>share_continuing, log_*  +  state, naics, region, size_bucket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33472"/>
            <a:ext cx="356616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670048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ColumnTransformer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52928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50">
                <a:solidFill>
                  <a:srgbClr val="CBD5E1"/>
                </a:solidFill>
                <a:latin typeface="Calibri"/>
              </a:rPr>
              <a:t>num: passthrough  ·  cat: OneHotEncoder(min_frequency=20, sparse)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2384"/>
            <a:ext cx="356616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sklearn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91839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50">
                <a:solidFill>
                  <a:srgbClr val="CBD5E1"/>
                </a:solidFill>
                <a:latin typeface="Calibri"/>
              </a:rPr>
              <a:t>fit on train  ·  predict on held-out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11296"/>
            <a:ext cx="356616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547872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train_test_split (80 / 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30752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50">
                <a:solidFill>
                  <a:srgbClr val="CBD5E1"/>
                </a:solidFill>
                <a:latin typeface="Calibri"/>
              </a:rPr>
              <a:t>random_state = 42  ·  identical rows across model families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950208"/>
            <a:ext cx="356616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986784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Score on 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69664"/>
            <a:ext cx="3291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50">
                <a:solidFill>
                  <a:srgbClr val="CBD5E1"/>
                </a:solidFill>
                <a:latin typeface="Calibri"/>
              </a:rPr>
              <a:t>R²  +  MAE  ·  reported as the ceiling, not a tuning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783080"/>
            <a:ext cx="4023360" cy="1691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46320" y="1874519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EA5E9"/>
                </a:solidFill>
                <a:latin typeface="Calibri"/>
              </a:rPr>
              <a:t>THREE MODEL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194560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onsolas"/>
              </a:rPr>
              <a:t>LinearRegression  —  canonical baseline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46320" y="2560320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46320" y="2578608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578608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onsolas"/>
              </a:rPr>
              <a:t>n=200–300, max_depth=12, n_jobs=-1, seed=42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46320" y="2944368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46320" y="2962656"/>
            <a:ext cx="1371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962656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>
                <a:solidFill>
                  <a:srgbClr val="CBD5E1"/>
                </a:solidFill>
                <a:latin typeface="Consolas"/>
              </a:rPr>
              <a:t>n=400–500, depth=5–6, lr=0.05, tree_method=hist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46320" y="3328415"/>
            <a:ext cx="3657600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46320" y="3639312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4B942"/>
                </a:solidFill>
                <a:latin typeface="Calibri"/>
              </a:rPr>
              <a:t>TWO SPECS  ·  IDENTICAL ROWS  →  FAIR Δ 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877056"/>
            <a:ext cx="3657600" cy="6857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Calibri"/>
              </a:rPr>
              <a:t>Structural</a:t>
            </a:r>
            <a:r>
              <a:rPr sz="950">
                <a:solidFill>
                  <a:srgbClr val="CBD5E1"/>
                </a:solidFill>
                <a:latin typeface="Calibri"/>
              </a:rPr>
              <a:t>:  state · region · share_stem · share_continuing · log_petitions · log_employers</a:t>
            </a:r>
            <a:r>
              <a:t>
</a:t>
            </a:r>
            <a:r>
              <a:rPr sz="1000" b="1">
                <a:solidFill>
                  <a:srgbClr val="F4B942"/>
                </a:solidFill>
                <a:latin typeface="Calibri"/>
              </a:rPr>
              <a:t>Enriched</a:t>
            </a:r>
            <a:r>
              <a:rPr sz="950">
                <a:solidFill>
                  <a:srgbClr val="CBD5E1"/>
                </a:solidFill>
                <a:latin typeface="Calibri"/>
              </a:rPr>
              <a:t>:  + log_wage · log_population · log_density · log_rent · employed_pct · unemployed_z · log_lca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LAYER 01  —  DEMAND (CASSIE ZHANG)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Economic Geography Predicts Where Petitions Cluster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LCA + Census features classify cities by petition volume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457200" y="1783080"/>
            <a:ext cx="3474600" cy="28347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731520" y="20574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CLASSIFICATION TASK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731520" y="22860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Low / Medium / High petition volume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731520" y="2697480"/>
            <a:ext cx="29262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400"/>
              <a:buFont typeface="Georgia"/>
              <a:buNone/>
            </a:pPr>
            <a:r>
              <a:rPr lang="en-US" sz="84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0.79</a:t>
            </a:r>
            <a:endParaRPr sz="8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731520" y="374904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  —  High-demand class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>
            <a:off x="731520" y="4114800"/>
            <a:ext cx="2926200" cy="0"/>
          </a:xfrm>
          <a:prstGeom prst="straightConnector1">
            <a:avLst/>
          </a:prstGeom>
          <a:noFill/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24"/>
          <p:cNvSpPr/>
          <p:nvPr/>
        </p:nvSpPr>
        <p:spPr>
          <a:xfrm>
            <a:off x="731520" y="425196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Weighted F1 = 0.60 (XGBoost + State + SMOTE)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4206240" y="1783080"/>
            <a:ext cx="44805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4"/>
          <p:cNvSpPr/>
          <p:nvPr/>
        </p:nvSpPr>
        <p:spPr>
          <a:xfrm>
            <a:off x="4389120" y="194767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4983480" y="1892808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Wages and density carry real signal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983480" y="2212848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Tech-wage premiums and dense metros cluster in the High tier.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206240" y="2743200"/>
            <a:ext cx="44805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4389120" y="290779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983480" y="2852928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CA, NJ, TX concentrate High-demand cities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983480" y="3172968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Silicon Valley, Edison-NJ, and Texas tech metros drive the top.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206240" y="3703320"/>
            <a:ext cx="4480500" cy="8688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4389120" y="386791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983480" y="3813048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But this is demand — not approval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983480" y="4133088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Predicting where filings happen ≠ predicting whether they succeed.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 = 9,866 cities  ·  target: LCA volume tier  ·  RF / XGBoost / BRF / LightGBM / Ordinal Logit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LAYER 02  —  APPROVAL, BASELINE (XIAO XU)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USCIS Alone Explains Essentially Nothing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model families, same near-zero ceiling on employer-level approval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457200" y="1783080"/>
            <a:ext cx="3474600" cy="28347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731520" y="20574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MODEL CEILING (TEST R²)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731520" y="246888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2103120" y="246888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+0.006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3017520" y="246888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MAE  0.060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731520" y="2971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2103120" y="29718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+0.008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3017520" y="29718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MAE  0.059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731520" y="347472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2103120" y="34747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+0.006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3017520" y="34747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MAE  0.059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5"/>
          <p:cNvCxnSpPr/>
          <p:nvPr/>
        </p:nvCxnSpPr>
        <p:spPr>
          <a:xfrm>
            <a:off x="731520" y="3977640"/>
            <a:ext cx="2926200" cy="0"/>
          </a:xfrm>
          <a:prstGeom prst="straightConnector1">
            <a:avLst/>
          </a:prstGeom>
          <a:noFill/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25"/>
          <p:cNvSpPr/>
          <p:nvPr/>
        </p:nvSpPr>
        <p:spPr>
          <a:xfrm>
            <a:off x="731520" y="411480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82% of rows sit at ≥ 99.9% approval 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731520" y="432511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the target is near-degenerate.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4206240" y="1783080"/>
            <a:ext cx="4480500" cy="28347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4480560" y="196596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BETWEEN-GROUP VARIANCE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480560" y="2221992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much approval variation lives across groups?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25"/>
          <p:cNvCxnSpPr/>
          <p:nvPr/>
        </p:nvCxnSpPr>
        <p:spPr>
          <a:xfrm>
            <a:off x="4480560" y="3017520"/>
            <a:ext cx="393180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25"/>
          <p:cNvSpPr/>
          <p:nvPr/>
        </p:nvSpPr>
        <p:spPr>
          <a:xfrm>
            <a:off x="4480560" y="265176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6217920" y="2651760"/>
            <a:ext cx="1188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57 groups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406640" y="265176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0.33%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25"/>
          <p:cNvCxnSpPr/>
          <p:nvPr/>
        </p:nvCxnSpPr>
        <p:spPr>
          <a:xfrm>
            <a:off x="4480560" y="3401568"/>
            <a:ext cx="393180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25"/>
          <p:cNvSpPr/>
          <p:nvPr/>
        </p:nvSpPr>
        <p:spPr>
          <a:xfrm>
            <a:off x="4480560" y="3035808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Census region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217920" y="3035808"/>
            <a:ext cx="1188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groups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406640" y="303580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0.06%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5"/>
          <p:cNvCxnSpPr/>
          <p:nvPr/>
        </p:nvCxnSpPr>
        <p:spPr>
          <a:xfrm>
            <a:off x="4480560" y="3785616"/>
            <a:ext cx="393180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25"/>
          <p:cNvSpPr/>
          <p:nvPr/>
        </p:nvSpPr>
        <p:spPr>
          <a:xfrm>
            <a:off x="4480560" y="3419856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NAICS industry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6217920" y="3419856"/>
            <a:ext cx="1188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groups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406640" y="3419856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0.30%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5"/>
          <p:cNvCxnSpPr/>
          <p:nvPr/>
        </p:nvCxnSpPr>
        <p:spPr>
          <a:xfrm>
            <a:off x="4480560" y="4169664"/>
            <a:ext cx="3931800" cy="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25"/>
          <p:cNvSpPr/>
          <p:nvPr/>
        </p:nvSpPr>
        <p:spPr>
          <a:xfrm>
            <a:off x="4480560" y="3803904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Size bucket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6217920" y="3803904"/>
            <a:ext cx="1188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groups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406640" y="3803904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0.03%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4480560" y="42519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1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Observable groupings explain &lt; 0.5% of variation.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 = 61,452 employers  ·  target: employer approval rate  ·  features: state, NAICS, application mix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LAYER 03  —  ENRICHMENT TEST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Wages + Local Economy Still Can't Beat the Mean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 identical cities, no model achieves R² &gt; 0 even with the full enriched feature 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457200" y="1783080"/>
            <a:ext cx="8229600" cy="4116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731520" y="178308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651760" y="178308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4663440" y="178308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ENRICHED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6675120" y="178308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Δ R²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457200" y="2194560"/>
            <a:ext cx="8229600" cy="4116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731520" y="219456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651760" y="21945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−0.022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4663440" y="21945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−0.014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6675120" y="219456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+0.007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57200" y="2606040"/>
            <a:ext cx="8229600" cy="41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731520" y="260604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2651760" y="260604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−0.222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663440" y="260604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−0.055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6675120" y="26060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+0.167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457200" y="3017520"/>
            <a:ext cx="8229600" cy="4116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731520" y="301752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2651760" y="301752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−0.305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4663440" y="301752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−0.164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675120" y="301752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+0.141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57200" y="3657600"/>
            <a:ext cx="4023300" cy="10974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457200" y="3657600"/>
            <a:ext cx="73200" cy="10974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85800" y="3767328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READ IT CAREFULLY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685800" y="4005072"/>
            <a:ext cx="3749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Tree models rise when enriched — but only because they stop overfitting. None crosses zero.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4663440" y="3657600"/>
            <a:ext cx="4023300" cy="10974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4892040" y="3767328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THE CEILING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4892040" y="4005072"/>
            <a:ext cx="3749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 ≈ 0.04</a:t>
            </a:r>
            <a:r>
              <a:rPr lang="en-US" sz="12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—   4 pp of noise around a mean of 96.6%.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A constant-mean predictor beats every model tested.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 = 3,968 cities  ·  96.7% petition coverage  ·  identical rows across specs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Data Is Bounded, Not the Method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layers converge on one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457200" y="1783080"/>
            <a:ext cx="8229600" cy="7773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7"/>
          <p:cNvSpPr/>
          <p:nvPr/>
        </p:nvSpPr>
        <p:spPr>
          <a:xfrm>
            <a:off x="457200" y="1783080"/>
            <a:ext cx="73200" cy="7773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685800" y="19202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L1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1417320" y="1874520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Demand is publicly visible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1417320" y="2194560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H-1B workers are needed — driven by wages, density, state effects — is learnable from public data.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457200" y="2651760"/>
            <a:ext cx="8229600" cy="7773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457200" y="2651760"/>
            <a:ext cx="73200" cy="777300"/>
          </a:xfrm>
          <a:prstGeom prst="rect">
            <a:avLst/>
          </a:prstGeom>
          <a:solidFill>
            <a:srgbClr val="B91C1C"/>
          </a:solidFill>
          <a:ln w="12700" cap="flat" cmpd="sng">
            <a:solidFill>
              <a:srgbClr val="B9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685800" y="278892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L2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1417320" y="2743200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Approval, at the employer level, is not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1417320" y="3063240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State, NAICS, application mix explain &lt; 0.5% of variance. 82% of rows live at ≥99.9% approval.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457200" y="3520440"/>
            <a:ext cx="8229600" cy="7773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457200" y="3520440"/>
            <a:ext cx="73200" cy="777300"/>
          </a:xfrm>
          <a:prstGeom prst="rect">
            <a:avLst/>
          </a:prstGeom>
          <a:solidFill>
            <a:srgbClr val="B91C1C"/>
          </a:solidFill>
          <a:ln w="12700" cap="flat" cmpd="sng">
            <a:solidFill>
              <a:srgbClr val="B9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685800" y="365760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B91C1C"/>
                </a:solidFill>
                <a:latin typeface="Georgia"/>
                <a:ea typeface="Georgia"/>
                <a:cs typeface="Georgia"/>
                <a:sym typeface="Georgia"/>
              </a:rPr>
              <a:t>L3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1417320" y="3611880"/>
            <a:ext cx="7132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Enrichment doesn't move the ceiling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1417320" y="3931920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Adding LCA wage + Census economy across 3,968 cities still yields R² ≤ 0 for every model tried.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457200" y="4434840"/>
            <a:ext cx="8229600" cy="5487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457200" y="4434840"/>
            <a:ext cx="109800" cy="5487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731520" y="443484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THE ANSWER 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variance lives </a:t>
            </a:r>
            <a:r>
              <a:rPr lang="en-US" sz="12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inside individual case files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wage vs. prevailing-wage by SOC, RFE history, attorney, documentation quality. None of those are in any public release.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What We Claim — and What We Don't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Being explicit about scope is part of the contribution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457200" y="1783080"/>
            <a:ext cx="4023300" cy="14172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731520" y="2057400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" y="217627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/>
          <p:nvPr/>
        </p:nvSpPr>
        <p:spPr>
          <a:xfrm>
            <a:off x="1371600" y="2075688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predictive claim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731520" y="2651760"/>
            <a:ext cx="3566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models exist to bound explanatory power, not to ship a predictor. Near-zero R² is the finding.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4663440" y="1783080"/>
            <a:ext cx="4023300" cy="14172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8"/>
          <p:cNvSpPr/>
          <p:nvPr/>
        </p:nvSpPr>
        <p:spPr>
          <a:xfrm>
            <a:off x="4937760" y="2057400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6632" y="217627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/>
          <p:nvPr/>
        </p:nvSpPr>
        <p:spPr>
          <a:xfrm>
            <a:off x="5577840" y="2075688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causal claim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4937760" y="2651760"/>
            <a:ext cx="3566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State and industry correlate with approval; they do not cause it. Every result is read as an upper bound on between-group signal.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457200" y="3383280"/>
            <a:ext cx="4023300" cy="14172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731520" y="3657600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392" y="377647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8"/>
          <p:cNvSpPr/>
          <p:nvPr/>
        </p:nvSpPr>
        <p:spPr>
          <a:xfrm>
            <a:off x="1371600" y="3675888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Post-lottery only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731520" y="4251960"/>
            <a:ext cx="3566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observe the ~25% who reached adjudication. The larger, earlier selection step is outside our scope.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4663440" y="3383280"/>
            <a:ext cx="4023300" cy="14172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8"/>
          <p:cNvSpPr/>
          <p:nvPr/>
        </p:nvSpPr>
        <p:spPr>
          <a:xfrm>
            <a:off x="4937760" y="3657600"/>
            <a:ext cx="502800" cy="502800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Google Shape;354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56632" y="3776472"/>
            <a:ext cx="198882" cy="19888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8"/>
          <p:cNvSpPr/>
          <p:nvPr/>
        </p:nvSpPr>
        <p:spPr>
          <a:xfrm>
            <a:off x="5577840" y="3675888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fiscal year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4937760" y="4251960"/>
            <a:ext cx="3566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FY2024 cannot separate structural patterns from administration-specific policy regimes.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/>
          <p:nvPr/>
        </p:nvSpPr>
        <p:spPr>
          <a:xfrm>
            <a:off x="457200" y="2743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457200" y="566928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The Commit Worth Making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457200" y="1280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bottleneck is the input, not the compute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457200" y="1783080"/>
            <a:ext cx="8229600" cy="8229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" y="206654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/>
          <p:nvPr/>
        </p:nvSpPr>
        <p:spPr>
          <a:xfrm>
            <a:off x="1280160" y="1892808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01  Case-level data, not aggregates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1280160" y="2194560"/>
            <a:ext cx="7223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Join USCIS I-129 case releases with wage-relative-to-prevailing by SOC, RFE history, and attorney metadata. This is where the unexplained variance lives.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57200" y="2715768"/>
            <a:ext cx="8229600" cy="8229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73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" y="2999232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/>
          <p:nvPr/>
        </p:nvSpPr>
        <p:spPr>
          <a:xfrm>
            <a:off x="1280160" y="2825496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02  Multi-year temporal coverage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1280160" y="3127248"/>
            <a:ext cx="7223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Extend to FY2019–FY2025 to separate policy-regime effects (Buy American EO, 2025 $100K proclamation) from structural patterns.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457200" y="3648456"/>
            <a:ext cx="8229600" cy="822900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685800" y="3831336"/>
            <a:ext cx="457200" cy="457200"/>
          </a:xfrm>
          <a:prstGeom prst="ellipse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" name="Google Shape;378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384" y="39319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9"/>
          <p:cNvSpPr/>
          <p:nvPr/>
        </p:nvSpPr>
        <p:spPr>
          <a:xfrm>
            <a:off x="1280160" y="3758184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03  Productionize the Spark pipeline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1280160" y="4059936"/>
            <a:ext cx="7223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Move the verified PySpark merge from local[*] to Dataproc/EMR/Databricks — one-line swap from .toPandas() to .write.parquet().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457200" y="4526280"/>
            <a:ext cx="8229600" cy="36570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457200" y="4526280"/>
            <a:ext cx="109800" cy="365700"/>
          </a:xfrm>
          <a:prstGeom prst="rect">
            <a:avLst/>
          </a:prstGeom>
          <a:solidFill>
            <a:srgbClr val="F4B942"/>
          </a:solidFill>
          <a:ln w="12700" cap="flat" cmpd="sng">
            <a:solidFill>
              <a:srgbClr val="F4B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731520" y="452628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Bounding what public data can't explain is the first step to demanding better data.  Thank you.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8138160" y="493776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5" descr="20100621-Campus_2_1348.jpg"/>
          <p:cNvPicPr preferRelativeResize="0"/>
          <p:nvPr/>
        </p:nvPicPr>
        <p:blipFill rotWithShape="1">
          <a:blip r:embed="rId3">
            <a:alphaModFix/>
          </a:blip>
          <a:srcRect l="17597" r="7498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5"/>
          <p:cNvSpPr/>
          <p:nvPr/>
        </p:nvSpPr>
        <p:spPr>
          <a:xfrm>
            <a:off x="4740313" y="0"/>
            <a:ext cx="4403700" cy="5143500"/>
          </a:xfrm>
          <a:prstGeom prst="rect">
            <a:avLst/>
          </a:prstGeom>
          <a:solidFill>
            <a:srgbClr val="011B39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 txBox="1">
            <a:spLocks noGrp="1"/>
          </p:cNvSpPr>
          <p:nvPr>
            <p:ph type="title"/>
          </p:nvPr>
        </p:nvSpPr>
        <p:spPr>
          <a:xfrm>
            <a:off x="4867874" y="1499323"/>
            <a:ext cx="3827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2700"/>
              <a:buFont typeface="Helvetica Neue"/>
              <a:buNone/>
            </a:pPr>
            <a:r>
              <a:rPr lang="en-US" altLang="zh-CN" sz="6000" dirty="0">
                <a:solidFill>
                  <a:srgbClr val="BBBCBC"/>
                </a:solidFill>
              </a:rPr>
              <a:t>Thank You!</a:t>
            </a:r>
            <a:endParaRPr sz="6000" dirty="0">
              <a:solidFill>
                <a:srgbClr val="BBBCB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rgetown University OA">
      <a:dk1>
        <a:srgbClr val="000000"/>
      </a:dk1>
      <a:lt1>
        <a:srgbClr val="FFFFFF"/>
      </a:lt1>
      <a:dk2>
        <a:srgbClr val="011B39"/>
      </a:dk2>
      <a:lt2>
        <a:srgbClr val="4A4C4D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3D81"/>
      </a:hlink>
      <a:folHlink>
        <a:srgbClr val="00A4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2091</Words>
  <Application>Microsoft Office PowerPoint</Application>
  <PresentationFormat>全屏显示(16:9)</PresentationFormat>
  <Paragraphs>287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Calibri</vt:lpstr>
      <vt:lpstr>Roboto Mono</vt:lpstr>
      <vt:lpstr>Helvetica Neue</vt:lpstr>
      <vt:lpstr>Georgia</vt:lpstr>
      <vt:lpstr>Consolas</vt:lpstr>
      <vt:lpstr>Arial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Dataset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骁 许</cp:lastModifiedBy>
  <cp:revision>1</cp:revision>
  <dcterms:modified xsi:type="dcterms:W3CDTF">2026-04-22T23:30:35Z</dcterms:modified>
</cp:coreProperties>
</file>