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 id="2147483664" r:id="rId5"/>
    <p:sldMasterId id="214748366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Helvetica Neue"/>
      <p:regular r:id="rId32"/>
      <p:bold r:id="rId33"/>
      <p:italic r:id="rId34"/>
      <p:boldItalic r:id="rId35"/>
    </p:embeddedFon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HelveticaNeue-bold.fntdata"/><Relationship Id="rId10" Type="http://schemas.openxmlformats.org/officeDocument/2006/relationships/slide" Target="slides/slide3.xml"/><Relationship Id="rId32" Type="http://schemas.openxmlformats.org/officeDocument/2006/relationships/font" Target="fonts/HelveticaNeue-regular.fntdata"/><Relationship Id="rId13" Type="http://schemas.openxmlformats.org/officeDocument/2006/relationships/slide" Target="slides/slide6.xml"/><Relationship Id="rId35" Type="http://schemas.openxmlformats.org/officeDocument/2006/relationships/font" Target="fonts/HelveticaNeue-boldItalic.fntdata"/><Relationship Id="rId12" Type="http://schemas.openxmlformats.org/officeDocument/2006/relationships/slide" Target="slides/slide5.xml"/><Relationship Id="rId34" Type="http://schemas.openxmlformats.org/officeDocument/2006/relationships/font" Target="fonts/HelveticaNeue-italic.fntdata"/><Relationship Id="rId15" Type="http://schemas.openxmlformats.org/officeDocument/2006/relationships/slide" Target="slides/slide8.xml"/><Relationship Id="rId37" Type="http://schemas.openxmlformats.org/officeDocument/2006/relationships/font" Target="fonts/RobotoMono-bold.fntdata"/><Relationship Id="rId14" Type="http://schemas.openxmlformats.org/officeDocument/2006/relationships/slide" Target="slides/slide7.xml"/><Relationship Id="rId36" Type="http://schemas.openxmlformats.org/officeDocument/2006/relationships/font" Target="fonts/RobotoMono-regular.fntdata"/><Relationship Id="rId17" Type="http://schemas.openxmlformats.org/officeDocument/2006/relationships/slide" Target="slides/slide10.xml"/><Relationship Id="rId39" Type="http://schemas.openxmlformats.org/officeDocument/2006/relationships/font" Target="fonts/RobotoMono-boldItalic.fntdata"/><Relationship Id="rId16" Type="http://schemas.openxmlformats.org/officeDocument/2006/relationships/slide" Target="slides/slide9.xml"/><Relationship Id="rId38" Type="http://schemas.openxmlformats.org/officeDocument/2006/relationships/font" Target="fonts/RobotoMono-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834b46fa5_1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d834b46fa5_1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g3d834b46fa5_1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834b46fa5_1_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d834b46fa5_1_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g3d834b46fa5_1_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81f3b35e5_1_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g3d81f3b35e5_1_66:notes"/>
          <p:cNvSpPr txBox="1"/>
          <p:nvPr>
            <p:ph idx="1" type="body"/>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475569"/>
              </a:buClr>
              <a:buSzPts val="1300"/>
              <a:buFont typeface="Calibri"/>
              <a:buNone/>
            </a:pPr>
            <a:r>
              <a:rPr lang="en-US" sz="1300">
                <a:solidFill>
                  <a:srgbClr val="475569"/>
                </a:solidFill>
                <a:latin typeface="Calibri"/>
                <a:ea typeface="Calibri"/>
                <a:cs typeface="Calibri"/>
                <a:sym typeface="Calibri"/>
              </a:rPr>
              <a:t>Despite processing tens of thousands of petitions each year, there is little public clarity on which factors shape approval outcomes — for employers, applicants, or policymakers.</a:t>
            </a:r>
            <a:endParaRPr sz="1200">
              <a:solidFill>
                <a:schemeClr val="dk1"/>
              </a:solidFill>
              <a:latin typeface="Arial"/>
              <a:ea typeface="Arial"/>
              <a:cs typeface="Arial"/>
              <a:sym typeface="Arial"/>
            </a:endParaRPr>
          </a:p>
        </p:txBody>
      </p:sp>
      <p:sp>
        <p:nvSpPr>
          <p:cNvPr id="128" name="Google Shape;128;g3d81f3b35e5_1_66:notes"/>
          <p:cNvSpPr txBox="1"/>
          <p:nvPr>
            <p:ph idx="12" type="sldNum"/>
          </p:nvPr>
        </p:nvSpPr>
        <p:spPr>
          <a:xfrm>
            <a:off x="0" y="0"/>
            <a:ext cx="4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834b46fa5_1_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d834b46fa5_1_4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d834b46fa5_1_4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100">
                <a:latin typeface="Arial"/>
                <a:ea typeface="Arial"/>
                <a:cs typeface="Arial"/>
                <a:sym typeface="Arial"/>
              </a:rPr>
              <a:t>The U.S. Department of Labor's Office of Foreign Labor Certification (OFLC) publishes every </a:t>
            </a:r>
            <a:r>
              <a:rPr b="1" lang="en-US" sz="1100">
                <a:latin typeface="Arial"/>
                <a:ea typeface="Arial"/>
                <a:cs typeface="Arial"/>
                <a:sym typeface="Arial"/>
              </a:rPr>
              <a:t>Labor Condition Application (LCA)</a:t>
            </a:r>
            <a:r>
              <a:rPr lang="en-US" sz="1100">
                <a:latin typeface="Arial"/>
                <a:ea typeface="Arial"/>
                <a:cs typeface="Arial"/>
                <a:sym typeface="Arial"/>
              </a:rPr>
              <a:t> filed by an employer.</a:t>
            </a:r>
            <a:endParaRPr/>
          </a:p>
        </p:txBody>
      </p:sp>
      <p:sp>
        <p:nvSpPr>
          <p:cNvPr id="184" name="Google Shape;184;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834b46fa5_1_1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d834b46fa5_1_15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d834b46fa5_1_15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834b46fa5_1_18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g3d834b46fa5_1_18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g3d834b46fa5_1_18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834b46fa5_1_22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d834b46fa5_1_22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3d834b46fa5_1_22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d834b46fa5_1_2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g3d834b46fa5_1_26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d834b46fa5_1_26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834b46fa5_1_28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g3d834b46fa5_1_28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g3d834b46fa5_1_28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834b46fa5_1_3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d834b46fa5_1_3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d834b46fa5_1_3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
        <p:nvSpPr>
          <p:cNvPr id="412" name="Google Shape;412;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8" name="Google Shape;458;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4" name="Google Shape;51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427894" y="397577"/>
            <a:ext cx="5267700" cy="1299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1"/>
              </a:buClr>
              <a:buSzPts val="2701"/>
              <a:buFont typeface="Helvetica Neue"/>
              <a:buNone/>
              <a:defRPr b="1" i="0">
                <a:solidFill>
                  <a:schemeClr val="lt1"/>
                </a:solidFill>
                <a:latin typeface="Helvetica Neue"/>
                <a:ea typeface="Helvetica Neue"/>
                <a:cs typeface="Helvetica Neue"/>
                <a:sym typeface="Helvetica Neu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427896" y="1859525"/>
            <a:ext cx="5267700" cy="734100"/>
          </a:xfrm>
          <a:prstGeom prst="rect">
            <a:avLst/>
          </a:prstGeom>
          <a:noFill/>
          <a:ln>
            <a:noFill/>
          </a:ln>
        </p:spPr>
        <p:txBody>
          <a:bodyPr anchorCtr="0" anchor="t" bIns="45700" lIns="91425" spcFirstLastPara="1" rIns="91425" wrap="square" tIns="45700">
            <a:normAutofit/>
          </a:bodyPr>
          <a:lstStyle>
            <a:lvl1pPr lvl="0" algn="l">
              <a:spcBef>
                <a:spcPts val="450"/>
              </a:spcBef>
              <a:spcAft>
                <a:spcPts val="0"/>
              </a:spcAft>
              <a:buClr>
                <a:schemeClr val="lt1"/>
              </a:buClr>
              <a:buSzPts val="2251"/>
              <a:buNone/>
              <a:defRPr b="1" i="0" sz="2251">
                <a:solidFill>
                  <a:schemeClr val="lt1"/>
                </a:solidFill>
                <a:latin typeface="Helvetica Neue"/>
                <a:ea typeface="Helvetica Neue"/>
                <a:cs typeface="Helvetica Neue"/>
                <a:sym typeface="Helvetica Neue"/>
              </a:defRPr>
            </a:lvl1pPr>
            <a:lvl2pPr lvl="1" algn="ctr">
              <a:spcBef>
                <a:spcPts val="420"/>
              </a:spcBef>
              <a:spcAft>
                <a:spcPts val="0"/>
              </a:spcAft>
              <a:buClr>
                <a:srgbClr val="888888"/>
              </a:buClr>
              <a:buSzPts val="2101"/>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19" name="Google Shape;19;p2"/>
          <p:cNvSpPr txBox="1"/>
          <p:nvPr>
            <p:ph idx="12" type="sldNum"/>
          </p:nvPr>
        </p:nvSpPr>
        <p:spPr>
          <a:xfrm>
            <a:off x="427896" y="4593488"/>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3"/>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2" name="Google Shape;22;p3"/>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3"/>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 name="Shape 24"/>
        <p:cNvGrpSpPr/>
        <p:nvPr/>
      </p:nvGrpSpPr>
      <p:grpSpPr>
        <a:xfrm>
          <a:off x="0" y="0"/>
          <a:ext cx="0" cy="0"/>
          <a:chOff x="0" y="0"/>
          <a:chExt cx="0" cy="0"/>
        </a:xfrm>
      </p:grpSpPr>
      <p:sp>
        <p:nvSpPr>
          <p:cNvPr id="25" name="Google Shape;25;p4"/>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2D50"/>
              </a:buClr>
              <a:buSzPts val="1500"/>
              <a:buFont typeface="Helvetica Neue"/>
              <a:buNone/>
              <a:defRPr b="1"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4"/>
          <p:cNvSpPr/>
          <p:nvPr>
            <p:ph idx="2" type="pic"/>
          </p:nvPr>
        </p:nvSpPr>
        <p:spPr>
          <a:xfrm>
            <a:off x="1792288" y="459581"/>
            <a:ext cx="5486400" cy="3086100"/>
          </a:xfrm>
          <a:prstGeom prst="rect">
            <a:avLst/>
          </a:prstGeom>
          <a:noFill/>
          <a:ln>
            <a:noFill/>
          </a:ln>
        </p:spPr>
      </p:sp>
      <p:sp>
        <p:nvSpPr>
          <p:cNvPr id="27" name="Google Shape;27;p4"/>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rmAutofit/>
          </a:bodyPr>
          <a:lstStyle>
            <a:lvl1pPr indent="-228600" lvl="0" marL="457200" algn="l">
              <a:spcBef>
                <a:spcPts val="210"/>
              </a:spcBef>
              <a:spcAft>
                <a:spcPts val="0"/>
              </a:spcAft>
              <a:buClr>
                <a:schemeClr val="dk1"/>
              </a:buClr>
              <a:buSzPts val="1050"/>
              <a:buNone/>
              <a:defRPr sz="1050"/>
            </a:lvl1pPr>
            <a:lvl2pPr indent="-228600" lvl="1" marL="914400" algn="l">
              <a:spcBef>
                <a:spcPts val="180"/>
              </a:spcBef>
              <a:spcAft>
                <a:spcPts val="0"/>
              </a:spcAft>
              <a:buClr>
                <a:schemeClr val="dk1"/>
              </a:buClr>
              <a:buSzPts val="900"/>
              <a:buNone/>
              <a:defRPr sz="900"/>
            </a:lvl2pPr>
            <a:lvl3pPr indent="-228600" lvl="2" marL="1371600" algn="l">
              <a:spcBef>
                <a:spcPts val="150"/>
              </a:spcBef>
              <a:spcAft>
                <a:spcPts val="0"/>
              </a:spcAft>
              <a:buClr>
                <a:schemeClr val="dk1"/>
              </a:buClr>
              <a:buSzPts val="750"/>
              <a:buNone/>
              <a:defRPr sz="750"/>
            </a:lvl3pPr>
            <a:lvl4pPr indent="-228600" lvl="3" marL="1828800" algn="l">
              <a:spcBef>
                <a:spcPts val="135"/>
              </a:spcBef>
              <a:spcAft>
                <a:spcPts val="0"/>
              </a:spcAft>
              <a:buClr>
                <a:schemeClr val="dk1"/>
              </a:buClr>
              <a:buSzPts val="675"/>
              <a:buNone/>
              <a:defRPr sz="675"/>
            </a:lvl4pPr>
            <a:lvl5pPr indent="-228600" lvl="4" marL="2286000" algn="l">
              <a:spcBef>
                <a:spcPts val="13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28" name="Google Shape;28;p4"/>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4"/>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4"/>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 name="Shape 31"/>
        <p:cNvGrpSpPr/>
        <p:nvPr/>
      </p:nvGrpSpPr>
      <p:grpSpPr>
        <a:xfrm>
          <a:off x="0" y="0"/>
          <a:ext cx="0" cy="0"/>
          <a:chOff x="0" y="0"/>
          <a:chExt cx="0" cy="0"/>
        </a:xfrm>
      </p:grpSpPr>
      <p:sp>
        <p:nvSpPr>
          <p:cNvPr id="32" name="Google Shape;32;p5"/>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213474" y="1004150"/>
            <a:ext cx="8686500" cy="3197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6"/>
          <p:cNvSpPr txBox="1"/>
          <p:nvPr>
            <p:ph type="title"/>
          </p:nvPr>
        </p:nvSpPr>
        <p:spPr>
          <a:xfrm>
            <a:off x="722313" y="3305180"/>
            <a:ext cx="7772400" cy="10215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3001"/>
              <a:buFont typeface="Helvetica Neue"/>
              <a:buNone/>
              <a:defRPr b="1" sz="300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722313" y="2180035"/>
            <a:ext cx="7772400" cy="1125000"/>
          </a:xfrm>
          <a:prstGeom prst="rect">
            <a:avLst/>
          </a:prstGeom>
          <a:noFill/>
          <a:ln>
            <a:noFill/>
          </a:ln>
        </p:spPr>
        <p:txBody>
          <a:bodyPr anchorCtr="0" anchor="b" bIns="45700" lIns="91425" spcFirstLastPara="1" rIns="91425" wrap="square" tIns="45700">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270"/>
              </a:spcBef>
              <a:spcAft>
                <a:spcPts val="0"/>
              </a:spcAft>
              <a:buClr>
                <a:srgbClr val="888888"/>
              </a:buClr>
              <a:buSzPts val="1350"/>
              <a:buNone/>
              <a:defRPr sz="1350">
                <a:solidFill>
                  <a:srgbClr val="888888"/>
                </a:solidFill>
              </a:defRPr>
            </a:lvl2pPr>
            <a:lvl3pPr indent="-228600" lvl="2" marL="1371600" algn="l">
              <a:spcBef>
                <a:spcPts val="240"/>
              </a:spcBef>
              <a:spcAft>
                <a:spcPts val="0"/>
              </a:spcAft>
              <a:buClr>
                <a:srgbClr val="888888"/>
              </a:buClr>
              <a:buSzPts val="1200"/>
              <a:buNone/>
              <a:defRPr sz="1200">
                <a:solidFill>
                  <a:srgbClr val="888888"/>
                </a:solidFill>
              </a:defRPr>
            </a:lvl3pPr>
            <a:lvl4pPr indent="-228600" lvl="3" marL="1828800" algn="l">
              <a:spcBef>
                <a:spcPts val="210"/>
              </a:spcBef>
              <a:spcAft>
                <a:spcPts val="0"/>
              </a:spcAft>
              <a:buClr>
                <a:srgbClr val="888888"/>
              </a:buClr>
              <a:buSzPts val="1050"/>
              <a:buNone/>
              <a:defRPr sz="1050">
                <a:solidFill>
                  <a:srgbClr val="888888"/>
                </a:solidFill>
              </a:defRPr>
            </a:lvl4pPr>
            <a:lvl5pPr indent="-228600" lvl="4" marL="2286000" algn="l">
              <a:spcBef>
                <a:spcPts val="210"/>
              </a:spcBef>
              <a:spcAft>
                <a:spcPts val="0"/>
              </a:spcAft>
              <a:buClr>
                <a:srgbClr val="888888"/>
              </a:buClr>
              <a:buSzPts val="1050"/>
              <a:buNone/>
              <a:defRPr sz="1050">
                <a:solidFill>
                  <a:srgbClr val="888888"/>
                </a:solidFill>
              </a:defRPr>
            </a:lvl5pPr>
            <a:lvl6pPr indent="-228600" lvl="5" marL="2743200" algn="l">
              <a:spcBef>
                <a:spcPts val="210"/>
              </a:spcBef>
              <a:spcAft>
                <a:spcPts val="0"/>
              </a:spcAft>
              <a:buClr>
                <a:srgbClr val="888888"/>
              </a:buClr>
              <a:buSzPts val="1050"/>
              <a:buNone/>
              <a:defRPr sz="1050">
                <a:solidFill>
                  <a:srgbClr val="888888"/>
                </a:solidFill>
              </a:defRPr>
            </a:lvl6pPr>
            <a:lvl7pPr indent="-228600" lvl="6" marL="3200400" algn="l">
              <a:spcBef>
                <a:spcPts val="210"/>
              </a:spcBef>
              <a:spcAft>
                <a:spcPts val="0"/>
              </a:spcAft>
              <a:buClr>
                <a:srgbClr val="888888"/>
              </a:buClr>
              <a:buSzPts val="1050"/>
              <a:buNone/>
              <a:defRPr sz="1050">
                <a:solidFill>
                  <a:srgbClr val="888888"/>
                </a:solidFill>
              </a:defRPr>
            </a:lvl7pPr>
            <a:lvl8pPr indent="-228600" lvl="7" marL="3657600" algn="l">
              <a:spcBef>
                <a:spcPts val="210"/>
              </a:spcBef>
              <a:spcAft>
                <a:spcPts val="0"/>
              </a:spcAft>
              <a:buClr>
                <a:srgbClr val="888888"/>
              </a:buClr>
              <a:buSzPts val="1050"/>
              <a:buNone/>
              <a:defRPr sz="1050">
                <a:solidFill>
                  <a:srgbClr val="888888"/>
                </a:solidFill>
              </a:defRPr>
            </a:lvl8pPr>
            <a:lvl9pPr indent="-228600" lvl="8" marL="4114800" algn="l">
              <a:spcBef>
                <a:spcPts val="210"/>
              </a:spcBef>
              <a:spcAft>
                <a:spcPts val="0"/>
              </a:spcAft>
              <a:buClr>
                <a:srgbClr val="888888"/>
              </a:buClr>
              <a:buSzPts val="1050"/>
              <a:buNone/>
              <a:defRPr sz="1050">
                <a:solidFill>
                  <a:srgbClr val="888888"/>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37" name="Shape 37"/>
        <p:cNvGrpSpPr/>
        <p:nvPr/>
      </p:nvGrpSpPr>
      <p:grpSpPr>
        <a:xfrm>
          <a:off x="0" y="0"/>
          <a:ext cx="0" cy="0"/>
          <a:chOff x="0" y="0"/>
          <a:chExt cx="0" cy="0"/>
        </a:xfrm>
      </p:grpSpPr>
      <p:sp>
        <p:nvSpPr>
          <p:cNvPr id="38" name="Google Shape;38;p7"/>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7"/>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sp>
        <p:nvSpPr>
          <p:cNvPr id="41" name="Google Shape;41;p8"/>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9"/>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9"/>
          <p:cNvSpPr txBox="1"/>
          <p:nvPr>
            <p:ph idx="1" type="body"/>
          </p:nvPr>
        </p:nvSpPr>
        <p:spPr>
          <a:xfrm>
            <a:off x="457200" y="1200154"/>
            <a:ext cx="4038600" cy="3394500"/>
          </a:xfrm>
          <a:prstGeom prst="rect">
            <a:avLst/>
          </a:prstGeom>
          <a:noFill/>
          <a:ln>
            <a:noFill/>
          </a:ln>
        </p:spPr>
        <p:txBody>
          <a:bodyPr anchorCtr="0" anchor="t" bIns="45700" lIns="91425" spcFirstLastPara="1" rIns="91425" wrap="square" tIns="45700">
            <a:normAutofit/>
          </a:bodyPr>
          <a:lstStyle>
            <a:lvl1pPr indent="-362014" lvl="0" marL="457200" algn="l">
              <a:spcBef>
                <a:spcPts val="420"/>
              </a:spcBef>
              <a:spcAft>
                <a:spcPts val="0"/>
              </a:spcAft>
              <a:buClr>
                <a:schemeClr val="dk1"/>
              </a:buClr>
              <a:buSzPts val="2101"/>
              <a:buChar char="•"/>
              <a:defRPr sz="2101"/>
            </a:lvl1pPr>
            <a:lvl2pPr indent="-342900" lvl="1" marL="914400" algn="l">
              <a:spcBef>
                <a:spcPts val="36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4325" lvl="3" marL="1828800" algn="l">
              <a:spcBef>
                <a:spcPts val="270"/>
              </a:spcBef>
              <a:spcAft>
                <a:spcPts val="0"/>
              </a:spcAft>
              <a:buClr>
                <a:schemeClr val="dk1"/>
              </a:buClr>
              <a:buSzPts val="1350"/>
              <a:buChar char="–"/>
              <a:defRPr sz="1350"/>
            </a:lvl4pPr>
            <a:lvl5pPr indent="-314325" lvl="4" marL="2286000" algn="l">
              <a:spcBef>
                <a:spcPts val="270"/>
              </a:spcBef>
              <a:spcAft>
                <a:spcPts val="0"/>
              </a:spcAft>
              <a:buClr>
                <a:schemeClr val="dk1"/>
              </a:buClr>
              <a:buSzPts val="1350"/>
              <a:buChar char="»"/>
              <a:defRPr sz="1350"/>
            </a:lvl5pPr>
            <a:lvl6pPr indent="-314325" lvl="5" marL="2743200" algn="l">
              <a:spcBef>
                <a:spcPts val="270"/>
              </a:spcBef>
              <a:spcAft>
                <a:spcPts val="0"/>
              </a:spcAft>
              <a:buClr>
                <a:schemeClr val="dk1"/>
              </a:buClr>
              <a:buSzPts val="1350"/>
              <a:buChar char="•"/>
              <a:defRPr sz="1350"/>
            </a:lvl6pPr>
            <a:lvl7pPr indent="-314325" lvl="6" marL="3200400" algn="l">
              <a:spcBef>
                <a:spcPts val="270"/>
              </a:spcBef>
              <a:spcAft>
                <a:spcPts val="0"/>
              </a:spcAft>
              <a:buClr>
                <a:schemeClr val="dk1"/>
              </a:buClr>
              <a:buSzPts val="1350"/>
              <a:buChar char="•"/>
              <a:defRPr sz="1350"/>
            </a:lvl7pPr>
            <a:lvl8pPr indent="-314325" lvl="7" marL="3657600" algn="l">
              <a:spcBef>
                <a:spcPts val="270"/>
              </a:spcBef>
              <a:spcAft>
                <a:spcPts val="0"/>
              </a:spcAft>
              <a:buClr>
                <a:schemeClr val="dk1"/>
              </a:buClr>
              <a:buSzPts val="1350"/>
              <a:buChar char="•"/>
              <a:defRPr sz="1350"/>
            </a:lvl8pPr>
            <a:lvl9pPr indent="-314325" lvl="8" marL="4114800" algn="l">
              <a:spcBef>
                <a:spcPts val="270"/>
              </a:spcBef>
              <a:spcAft>
                <a:spcPts val="0"/>
              </a:spcAft>
              <a:buClr>
                <a:schemeClr val="dk1"/>
              </a:buClr>
              <a:buSzPts val="1350"/>
              <a:buChar char="•"/>
              <a:defRPr sz="1350"/>
            </a:lvl9pPr>
          </a:lstStyle>
          <a:p/>
        </p:txBody>
      </p:sp>
      <p:sp>
        <p:nvSpPr>
          <p:cNvPr id="46" name="Google Shape;46;p9"/>
          <p:cNvSpPr txBox="1"/>
          <p:nvPr>
            <p:ph idx="2" type="body"/>
          </p:nvPr>
        </p:nvSpPr>
        <p:spPr>
          <a:xfrm>
            <a:off x="4648200" y="1200154"/>
            <a:ext cx="4038600" cy="3394500"/>
          </a:xfrm>
          <a:prstGeom prst="rect">
            <a:avLst/>
          </a:prstGeom>
          <a:noFill/>
          <a:ln>
            <a:noFill/>
          </a:ln>
        </p:spPr>
        <p:txBody>
          <a:bodyPr anchorCtr="0" anchor="t" bIns="45700" lIns="91425" spcFirstLastPara="1" rIns="91425" wrap="square" tIns="45700">
            <a:normAutofit/>
          </a:bodyPr>
          <a:lstStyle>
            <a:lvl1pPr indent="-362014" lvl="0" marL="457200" algn="l">
              <a:spcBef>
                <a:spcPts val="420"/>
              </a:spcBef>
              <a:spcAft>
                <a:spcPts val="0"/>
              </a:spcAft>
              <a:buClr>
                <a:schemeClr val="dk1"/>
              </a:buClr>
              <a:buSzPts val="2101"/>
              <a:buChar char="•"/>
              <a:defRPr sz="2101"/>
            </a:lvl1pPr>
            <a:lvl2pPr indent="-342900" lvl="1" marL="914400" algn="l">
              <a:spcBef>
                <a:spcPts val="36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4325" lvl="3" marL="1828800" algn="l">
              <a:spcBef>
                <a:spcPts val="270"/>
              </a:spcBef>
              <a:spcAft>
                <a:spcPts val="0"/>
              </a:spcAft>
              <a:buClr>
                <a:schemeClr val="dk1"/>
              </a:buClr>
              <a:buSzPts val="1350"/>
              <a:buChar char="–"/>
              <a:defRPr sz="1350"/>
            </a:lvl4pPr>
            <a:lvl5pPr indent="-314325" lvl="4" marL="2286000" algn="l">
              <a:spcBef>
                <a:spcPts val="270"/>
              </a:spcBef>
              <a:spcAft>
                <a:spcPts val="0"/>
              </a:spcAft>
              <a:buClr>
                <a:schemeClr val="dk1"/>
              </a:buClr>
              <a:buSzPts val="1350"/>
              <a:buChar char="»"/>
              <a:defRPr sz="1350"/>
            </a:lvl5pPr>
            <a:lvl6pPr indent="-314325" lvl="5" marL="2743200" algn="l">
              <a:spcBef>
                <a:spcPts val="270"/>
              </a:spcBef>
              <a:spcAft>
                <a:spcPts val="0"/>
              </a:spcAft>
              <a:buClr>
                <a:schemeClr val="dk1"/>
              </a:buClr>
              <a:buSzPts val="1350"/>
              <a:buChar char="•"/>
              <a:defRPr sz="1350"/>
            </a:lvl6pPr>
            <a:lvl7pPr indent="-314325" lvl="6" marL="3200400" algn="l">
              <a:spcBef>
                <a:spcPts val="270"/>
              </a:spcBef>
              <a:spcAft>
                <a:spcPts val="0"/>
              </a:spcAft>
              <a:buClr>
                <a:schemeClr val="dk1"/>
              </a:buClr>
              <a:buSzPts val="1350"/>
              <a:buChar char="•"/>
              <a:defRPr sz="1350"/>
            </a:lvl7pPr>
            <a:lvl8pPr indent="-314325" lvl="7" marL="3657600" algn="l">
              <a:spcBef>
                <a:spcPts val="270"/>
              </a:spcBef>
              <a:spcAft>
                <a:spcPts val="0"/>
              </a:spcAft>
              <a:buClr>
                <a:schemeClr val="dk1"/>
              </a:buClr>
              <a:buSzPts val="1350"/>
              <a:buChar char="•"/>
              <a:defRPr sz="1350"/>
            </a:lvl8pPr>
            <a:lvl9pPr indent="-314325" lvl="8" marL="4114800" algn="l">
              <a:spcBef>
                <a:spcPts val="270"/>
              </a:spcBef>
              <a:spcAft>
                <a:spcPts val="0"/>
              </a:spcAft>
              <a:buClr>
                <a:schemeClr val="dk1"/>
              </a:buClr>
              <a:buSzPts val="1350"/>
              <a:buChar char="•"/>
              <a:defRPr sz="1350"/>
            </a:lvl9pPr>
          </a:lstStyle>
          <a:p/>
        </p:txBody>
      </p:sp>
      <p:sp>
        <p:nvSpPr>
          <p:cNvPr id="47" name="Google Shape;47;p9"/>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9"/>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9"/>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10"/>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2701"/>
              <a:buFont typeface="Helvetica Neue"/>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0"/>
          <p:cNvSpPr txBox="1"/>
          <p:nvPr>
            <p:ph idx="1" type="body"/>
          </p:nvPr>
        </p:nvSpPr>
        <p:spPr>
          <a:xfrm>
            <a:off x="457200" y="1151335"/>
            <a:ext cx="40401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36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270"/>
              </a:spcBef>
              <a:spcAft>
                <a:spcPts val="0"/>
              </a:spcAft>
              <a:buClr>
                <a:schemeClr val="dk1"/>
              </a:buClr>
              <a:buSzPts val="1350"/>
              <a:buNone/>
              <a:defRPr b="1" sz="1350"/>
            </a:lvl3pPr>
            <a:lvl4pPr indent="-228600" lvl="3" marL="1828800" algn="l">
              <a:spcBef>
                <a:spcPts val="240"/>
              </a:spcBef>
              <a:spcAft>
                <a:spcPts val="0"/>
              </a:spcAft>
              <a:buClr>
                <a:schemeClr val="dk1"/>
              </a:buClr>
              <a:buSzPts val="1200"/>
              <a:buNone/>
              <a:defRPr b="1" sz="1200"/>
            </a:lvl4pPr>
            <a:lvl5pPr indent="-228600" lvl="4" marL="2286000" algn="l">
              <a:spcBef>
                <a:spcPts val="240"/>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53" name="Google Shape;53;p10"/>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4325" lvl="2" marL="1371600" algn="l">
              <a:spcBef>
                <a:spcPts val="270"/>
              </a:spcBef>
              <a:spcAft>
                <a:spcPts val="0"/>
              </a:spcAft>
              <a:buClr>
                <a:schemeClr val="dk1"/>
              </a:buClr>
              <a:buSzPts val="1350"/>
              <a:buChar char="•"/>
              <a:defRPr sz="1350"/>
            </a:lvl3pPr>
            <a:lvl4pPr indent="-304800" lvl="3" marL="1828800" algn="l">
              <a:spcBef>
                <a:spcPts val="240"/>
              </a:spcBef>
              <a:spcAft>
                <a:spcPts val="0"/>
              </a:spcAft>
              <a:buClr>
                <a:schemeClr val="dk1"/>
              </a:buClr>
              <a:buSzPts val="1200"/>
              <a:buChar char="–"/>
              <a:defRPr sz="1200"/>
            </a:lvl4pPr>
            <a:lvl5pPr indent="-304800" lvl="4" marL="2286000" algn="l">
              <a:spcBef>
                <a:spcPts val="240"/>
              </a:spcBef>
              <a:spcAft>
                <a:spcPts val="0"/>
              </a:spcAft>
              <a:buClr>
                <a:schemeClr val="dk1"/>
              </a:buClr>
              <a:buSzPts val="1200"/>
              <a:buChar char="»"/>
              <a:defRPr sz="1200"/>
            </a:lvl5pPr>
            <a:lvl6pPr indent="-304800" lvl="5" marL="2743200" algn="l">
              <a:spcBef>
                <a:spcPts val="240"/>
              </a:spcBef>
              <a:spcAft>
                <a:spcPts val="0"/>
              </a:spcAft>
              <a:buClr>
                <a:schemeClr val="dk1"/>
              </a:buClr>
              <a:buSzPts val="1200"/>
              <a:buChar char="•"/>
              <a:defRPr sz="1200"/>
            </a:lvl6pPr>
            <a:lvl7pPr indent="-304800" lvl="6" marL="3200400" algn="l">
              <a:spcBef>
                <a:spcPts val="240"/>
              </a:spcBef>
              <a:spcAft>
                <a:spcPts val="0"/>
              </a:spcAft>
              <a:buClr>
                <a:schemeClr val="dk1"/>
              </a:buClr>
              <a:buSzPts val="1200"/>
              <a:buChar char="•"/>
              <a:defRPr sz="1200"/>
            </a:lvl7pPr>
            <a:lvl8pPr indent="-304800" lvl="7" marL="3657600" algn="l">
              <a:spcBef>
                <a:spcPts val="240"/>
              </a:spcBef>
              <a:spcAft>
                <a:spcPts val="0"/>
              </a:spcAft>
              <a:buClr>
                <a:schemeClr val="dk1"/>
              </a:buClr>
              <a:buSzPts val="1200"/>
              <a:buChar char="•"/>
              <a:defRPr sz="1200"/>
            </a:lvl8pPr>
            <a:lvl9pPr indent="-304800" lvl="8" marL="4114800" algn="l">
              <a:spcBef>
                <a:spcPts val="240"/>
              </a:spcBef>
              <a:spcAft>
                <a:spcPts val="0"/>
              </a:spcAft>
              <a:buClr>
                <a:schemeClr val="dk1"/>
              </a:buClr>
              <a:buSzPts val="1200"/>
              <a:buChar char="•"/>
              <a:defRPr sz="1200"/>
            </a:lvl9pPr>
          </a:lstStyle>
          <a:p/>
        </p:txBody>
      </p:sp>
      <p:sp>
        <p:nvSpPr>
          <p:cNvPr id="54" name="Google Shape;54;p10"/>
          <p:cNvSpPr txBox="1"/>
          <p:nvPr>
            <p:ph idx="3" type="body"/>
          </p:nvPr>
        </p:nvSpPr>
        <p:spPr>
          <a:xfrm>
            <a:off x="4645025" y="1151335"/>
            <a:ext cx="4041900" cy="479700"/>
          </a:xfrm>
          <a:prstGeom prst="rect">
            <a:avLst/>
          </a:prstGeom>
          <a:noFill/>
          <a:ln>
            <a:noFill/>
          </a:ln>
        </p:spPr>
        <p:txBody>
          <a:bodyPr anchorCtr="0" anchor="b" bIns="45700" lIns="91425" spcFirstLastPara="1" rIns="91425" wrap="square" tIns="45700">
            <a:normAutofit/>
          </a:bodyPr>
          <a:lstStyle>
            <a:lvl1pPr indent="-228600" lvl="0" marL="457200" algn="l">
              <a:spcBef>
                <a:spcPts val="36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270"/>
              </a:spcBef>
              <a:spcAft>
                <a:spcPts val="0"/>
              </a:spcAft>
              <a:buClr>
                <a:schemeClr val="dk1"/>
              </a:buClr>
              <a:buSzPts val="1350"/>
              <a:buNone/>
              <a:defRPr b="1" sz="1350"/>
            </a:lvl3pPr>
            <a:lvl4pPr indent="-228600" lvl="3" marL="1828800" algn="l">
              <a:spcBef>
                <a:spcPts val="240"/>
              </a:spcBef>
              <a:spcAft>
                <a:spcPts val="0"/>
              </a:spcAft>
              <a:buClr>
                <a:schemeClr val="dk1"/>
              </a:buClr>
              <a:buSzPts val="1200"/>
              <a:buNone/>
              <a:defRPr b="1" sz="1200"/>
            </a:lvl4pPr>
            <a:lvl5pPr indent="-228600" lvl="4" marL="2286000" algn="l">
              <a:spcBef>
                <a:spcPts val="240"/>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55" name="Google Shape;55;p10"/>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4325" lvl="2" marL="1371600" algn="l">
              <a:spcBef>
                <a:spcPts val="270"/>
              </a:spcBef>
              <a:spcAft>
                <a:spcPts val="0"/>
              </a:spcAft>
              <a:buClr>
                <a:schemeClr val="dk1"/>
              </a:buClr>
              <a:buSzPts val="1350"/>
              <a:buChar char="•"/>
              <a:defRPr sz="1350"/>
            </a:lvl3pPr>
            <a:lvl4pPr indent="-304800" lvl="3" marL="1828800" algn="l">
              <a:spcBef>
                <a:spcPts val="240"/>
              </a:spcBef>
              <a:spcAft>
                <a:spcPts val="0"/>
              </a:spcAft>
              <a:buClr>
                <a:schemeClr val="dk1"/>
              </a:buClr>
              <a:buSzPts val="1200"/>
              <a:buChar char="–"/>
              <a:defRPr sz="1200"/>
            </a:lvl4pPr>
            <a:lvl5pPr indent="-304800" lvl="4" marL="2286000" algn="l">
              <a:spcBef>
                <a:spcPts val="240"/>
              </a:spcBef>
              <a:spcAft>
                <a:spcPts val="0"/>
              </a:spcAft>
              <a:buClr>
                <a:schemeClr val="dk1"/>
              </a:buClr>
              <a:buSzPts val="1200"/>
              <a:buChar char="»"/>
              <a:defRPr sz="1200"/>
            </a:lvl5pPr>
            <a:lvl6pPr indent="-304800" lvl="5" marL="2743200" algn="l">
              <a:spcBef>
                <a:spcPts val="240"/>
              </a:spcBef>
              <a:spcAft>
                <a:spcPts val="0"/>
              </a:spcAft>
              <a:buClr>
                <a:schemeClr val="dk1"/>
              </a:buClr>
              <a:buSzPts val="1200"/>
              <a:buChar char="•"/>
              <a:defRPr sz="1200"/>
            </a:lvl6pPr>
            <a:lvl7pPr indent="-304800" lvl="6" marL="3200400" algn="l">
              <a:spcBef>
                <a:spcPts val="240"/>
              </a:spcBef>
              <a:spcAft>
                <a:spcPts val="0"/>
              </a:spcAft>
              <a:buClr>
                <a:schemeClr val="dk1"/>
              </a:buClr>
              <a:buSzPts val="1200"/>
              <a:buChar char="•"/>
              <a:defRPr sz="1200"/>
            </a:lvl7pPr>
            <a:lvl8pPr indent="-304800" lvl="7" marL="3657600" algn="l">
              <a:spcBef>
                <a:spcPts val="240"/>
              </a:spcBef>
              <a:spcAft>
                <a:spcPts val="0"/>
              </a:spcAft>
              <a:buClr>
                <a:schemeClr val="dk1"/>
              </a:buClr>
              <a:buSzPts val="1200"/>
              <a:buChar char="•"/>
              <a:defRPr sz="1200"/>
            </a:lvl8pPr>
            <a:lvl9pPr indent="-304800" lvl="8" marL="4114800" algn="l">
              <a:spcBef>
                <a:spcPts val="240"/>
              </a:spcBef>
              <a:spcAft>
                <a:spcPts val="0"/>
              </a:spcAft>
              <a:buClr>
                <a:schemeClr val="dk1"/>
              </a:buClr>
              <a:buSzPts val="1200"/>
              <a:buChar char="•"/>
              <a:defRPr sz="1200"/>
            </a:lvl9pPr>
          </a:lstStyle>
          <a:p/>
        </p:txBody>
      </p:sp>
      <p:sp>
        <p:nvSpPr>
          <p:cNvPr id="56" name="Google Shape;56;p10"/>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10"/>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11"/>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1"/>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457203" y="204788"/>
            <a:ext cx="3008400" cy="8715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002D50"/>
              </a:buClr>
              <a:buSzPts val="1500"/>
              <a:buFont typeface="Helvetica Neue"/>
              <a:buNone/>
              <a:defRPr b="1"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2"/>
          <p:cNvSpPr txBox="1"/>
          <p:nvPr>
            <p:ph idx="1" type="body"/>
          </p:nvPr>
        </p:nvSpPr>
        <p:spPr>
          <a:xfrm>
            <a:off x="3575050" y="204792"/>
            <a:ext cx="5111700" cy="4389900"/>
          </a:xfrm>
          <a:prstGeom prst="rect">
            <a:avLst/>
          </a:prstGeom>
          <a:noFill/>
          <a:ln>
            <a:noFill/>
          </a:ln>
        </p:spPr>
        <p:txBody>
          <a:bodyPr anchorCtr="0" anchor="t" bIns="45700" lIns="91425" spcFirstLastPara="1" rIns="91425" wrap="square" tIns="45700">
            <a:normAutofit/>
          </a:bodyPr>
          <a:lstStyle>
            <a:lvl1pPr indent="-381064" lvl="0" marL="457200" algn="l">
              <a:spcBef>
                <a:spcPts val="480"/>
              </a:spcBef>
              <a:spcAft>
                <a:spcPts val="0"/>
              </a:spcAft>
              <a:buClr>
                <a:schemeClr val="dk1"/>
              </a:buClr>
              <a:buSzPts val="2401"/>
              <a:buChar char="•"/>
              <a:defRPr sz="2401"/>
            </a:lvl1pPr>
            <a:lvl2pPr indent="-362014" lvl="1" marL="914400" algn="l">
              <a:spcBef>
                <a:spcPts val="420"/>
              </a:spcBef>
              <a:spcAft>
                <a:spcPts val="0"/>
              </a:spcAft>
              <a:buClr>
                <a:schemeClr val="dk1"/>
              </a:buClr>
              <a:buSzPts val="2101"/>
              <a:buChar char="–"/>
              <a:defRPr sz="2101"/>
            </a:lvl2pPr>
            <a:lvl3pPr indent="-342900" lvl="2" marL="1371600" algn="l">
              <a:spcBef>
                <a:spcPts val="36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67" name="Google Shape;67;p12"/>
          <p:cNvSpPr txBox="1"/>
          <p:nvPr>
            <p:ph idx="2" type="body"/>
          </p:nvPr>
        </p:nvSpPr>
        <p:spPr>
          <a:xfrm>
            <a:off x="457203" y="1076327"/>
            <a:ext cx="3008400" cy="3518400"/>
          </a:xfrm>
          <a:prstGeom prst="rect">
            <a:avLst/>
          </a:prstGeom>
          <a:noFill/>
          <a:ln>
            <a:noFill/>
          </a:ln>
        </p:spPr>
        <p:txBody>
          <a:bodyPr anchorCtr="0" anchor="t" bIns="45700" lIns="91425" spcFirstLastPara="1" rIns="91425" wrap="square" tIns="45700">
            <a:normAutofit/>
          </a:bodyPr>
          <a:lstStyle>
            <a:lvl1pPr indent="-228600" lvl="0" marL="457200" algn="l">
              <a:spcBef>
                <a:spcPts val="210"/>
              </a:spcBef>
              <a:spcAft>
                <a:spcPts val="0"/>
              </a:spcAft>
              <a:buClr>
                <a:schemeClr val="dk1"/>
              </a:buClr>
              <a:buSzPts val="1050"/>
              <a:buNone/>
              <a:defRPr sz="1050"/>
            </a:lvl1pPr>
            <a:lvl2pPr indent="-228600" lvl="1" marL="914400" algn="l">
              <a:spcBef>
                <a:spcPts val="180"/>
              </a:spcBef>
              <a:spcAft>
                <a:spcPts val="0"/>
              </a:spcAft>
              <a:buClr>
                <a:schemeClr val="dk1"/>
              </a:buClr>
              <a:buSzPts val="900"/>
              <a:buNone/>
              <a:defRPr sz="900"/>
            </a:lvl2pPr>
            <a:lvl3pPr indent="-228600" lvl="2" marL="1371600" algn="l">
              <a:spcBef>
                <a:spcPts val="150"/>
              </a:spcBef>
              <a:spcAft>
                <a:spcPts val="0"/>
              </a:spcAft>
              <a:buClr>
                <a:schemeClr val="dk1"/>
              </a:buClr>
              <a:buSzPts val="750"/>
              <a:buNone/>
              <a:defRPr sz="750"/>
            </a:lvl3pPr>
            <a:lvl4pPr indent="-228600" lvl="3" marL="1828800" algn="l">
              <a:spcBef>
                <a:spcPts val="135"/>
              </a:spcBef>
              <a:spcAft>
                <a:spcPts val="0"/>
              </a:spcAft>
              <a:buClr>
                <a:schemeClr val="dk1"/>
              </a:buClr>
              <a:buSzPts val="675"/>
              <a:buNone/>
              <a:defRPr sz="675"/>
            </a:lvl4pPr>
            <a:lvl5pPr indent="-228600" lvl="4" marL="2286000" algn="l">
              <a:spcBef>
                <a:spcPts val="13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68" name="Google Shape;68;p12"/>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3"/>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3"/>
          <p:cNvSpPr txBox="1"/>
          <p:nvPr>
            <p:ph idx="1" type="body"/>
          </p:nvPr>
        </p:nvSpPr>
        <p:spPr>
          <a:xfrm rot="5400000">
            <a:off x="2958100" y="-1740550"/>
            <a:ext cx="3197100" cy="86865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13"/>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13"/>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4"/>
          <p:cNvSpPr txBox="1"/>
          <p:nvPr>
            <p:ph type="title"/>
          </p:nvPr>
        </p:nvSpPr>
        <p:spPr>
          <a:xfrm rot="5400000">
            <a:off x="5463750" y="1371633"/>
            <a:ext cx="4388700" cy="20574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002D5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4"/>
          <p:cNvSpPr txBox="1"/>
          <p:nvPr>
            <p:ph idx="1" type="body"/>
          </p:nvPr>
        </p:nvSpPr>
        <p:spPr>
          <a:xfrm rot="5400000">
            <a:off x="1272750" y="-609567"/>
            <a:ext cx="43887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0" name="Google Shape;80;p14"/>
          <p:cNvSpPr txBox="1"/>
          <p:nvPr>
            <p:ph idx="10" type="dt"/>
          </p:nvPr>
        </p:nvSpPr>
        <p:spPr>
          <a:xfrm>
            <a:off x="457200" y="4767267"/>
            <a:ext cx="2133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1" type="ftr"/>
          </p:nvPr>
        </p:nvSpPr>
        <p:spPr>
          <a:xfrm>
            <a:off x="3124200" y="4767267"/>
            <a:ext cx="2895600" cy="273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4" name="Shape 84"/>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6" name="Shape 8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4.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1" y="4537007"/>
            <a:ext cx="9157800" cy="606600"/>
          </a:xfrm>
          <a:prstGeom prst="rect">
            <a:avLst/>
          </a:prstGeom>
          <a:solidFill>
            <a:srgbClr val="041E42"/>
          </a:solidFill>
          <a:ln cap="flat" cmpd="sng" w="9525">
            <a:solidFill>
              <a:srgbClr val="00387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11" name="Google Shape;11;p1"/>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002D50"/>
              </a:buClr>
              <a:buSzPts val="2701"/>
              <a:buFont typeface="Helvetica Neue"/>
              <a:buNone/>
              <a:defRPr b="1" i="0" sz="2701" u="none" cap="none" strike="noStrike">
                <a:solidFill>
                  <a:srgbClr val="002D50"/>
                </a:solidFill>
                <a:latin typeface="Helvetica Neue"/>
                <a:ea typeface="Helvetica Neue"/>
                <a:cs typeface="Helvetica Neue"/>
                <a:sym typeface="Helvetica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
          <p:cNvSpPr txBox="1"/>
          <p:nvPr>
            <p:ph idx="1" type="body"/>
          </p:nvPr>
        </p:nvSpPr>
        <p:spPr>
          <a:xfrm>
            <a:off x="213474" y="1004150"/>
            <a:ext cx="8686500" cy="3197100"/>
          </a:xfrm>
          <a:prstGeom prst="rect">
            <a:avLst/>
          </a:prstGeom>
          <a:noFill/>
          <a:ln>
            <a:noFill/>
          </a:ln>
        </p:spPr>
        <p:txBody>
          <a:bodyPr anchorCtr="0" anchor="t" bIns="45700" lIns="91425" spcFirstLastPara="1" rIns="91425" wrap="square" tIns="45700">
            <a:normAutofit/>
          </a:bodyPr>
          <a:lstStyle>
            <a:lvl1pPr indent="-381064" lvl="0" marL="457200" marR="0" rtl="0" algn="l">
              <a:spcBef>
                <a:spcPts val="480"/>
              </a:spcBef>
              <a:spcAft>
                <a:spcPts val="0"/>
              </a:spcAft>
              <a:buClr>
                <a:schemeClr val="dk1"/>
              </a:buClr>
              <a:buSzPts val="2401"/>
              <a:buFont typeface="Arial"/>
              <a:buChar char="•"/>
              <a:defRPr b="0" i="0" sz="2401" u="none" cap="none" strike="noStrike">
                <a:solidFill>
                  <a:schemeClr val="dk1"/>
                </a:solidFill>
                <a:latin typeface="Arial"/>
                <a:ea typeface="Arial"/>
                <a:cs typeface="Arial"/>
                <a:sym typeface="Arial"/>
              </a:defRPr>
            </a:lvl1pPr>
            <a:lvl2pPr indent="-362014" lvl="1" marL="914400" marR="0" rtl="0" algn="l">
              <a:spcBef>
                <a:spcPts val="420"/>
              </a:spcBef>
              <a:spcAft>
                <a:spcPts val="0"/>
              </a:spcAft>
              <a:buClr>
                <a:schemeClr val="dk1"/>
              </a:buClr>
              <a:buSzPts val="2101"/>
              <a:buFont typeface="Arial"/>
              <a:buChar char="–"/>
              <a:defRPr b="0" i="0" sz="2101"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3" name="Google Shape;13;p1"/>
          <p:cNvSpPr txBox="1"/>
          <p:nvPr>
            <p:ph idx="12" type="sldNum"/>
          </p:nvPr>
        </p:nvSpPr>
        <p:spPr>
          <a:xfrm>
            <a:off x="427896" y="4553146"/>
            <a:ext cx="393000" cy="27390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750" u="none" cap="none" strike="noStrike">
                <a:solidFill>
                  <a:schemeClr val="lt1"/>
                </a:solidFill>
                <a:latin typeface="Helvetica Neue"/>
                <a:ea typeface="Helvetica Neue"/>
                <a:cs typeface="Helvetica Neue"/>
                <a:sym typeface="Helvetica Neue"/>
              </a:defRPr>
            </a:lvl1pPr>
            <a:lvl2pPr indent="0" lvl="1" marL="0" marR="0" rtl="0" algn="l">
              <a:spcBef>
                <a:spcPts val="0"/>
              </a:spcBef>
              <a:buNone/>
              <a:defRPr b="0" i="0" sz="750" u="none" cap="none" strike="noStrike">
                <a:solidFill>
                  <a:schemeClr val="lt1"/>
                </a:solidFill>
                <a:latin typeface="Helvetica Neue"/>
                <a:ea typeface="Helvetica Neue"/>
                <a:cs typeface="Helvetica Neue"/>
                <a:sym typeface="Helvetica Neue"/>
              </a:defRPr>
            </a:lvl2pPr>
            <a:lvl3pPr indent="0" lvl="2" marL="0" marR="0" rtl="0" algn="l">
              <a:spcBef>
                <a:spcPts val="0"/>
              </a:spcBef>
              <a:buNone/>
              <a:defRPr b="0" i="0" sz="750" u="none" cap="none" strike="noStrike">
                <a:solidFill>
                  <a:schemeClr val="lt1"/>
                </a:solidFill>
                <a:latin typeface="Helvetica Neue"/>
                <a:ea typeface="Helvetica Neue"/>
                <a:cs typeface="Helvetica Neue"/>
                <a:sym typeface="Helvetica Neue"/>
              </a:defRPr>
            </a:lvl3pPr>
            <a:lvl4pPr indent="0" lvl="3" marL="0" marR="0" rtl="0" algn="l">
              <a:spcBef>
                <a:spcPts val="0"/>
              </a:spcBef>
              <a:buNone/>
              <a:defRPr b="0" i="0" sz="750" u="none" cap="none" strike="noStrike">
                <a:solidFill>
                  <a:schemeClr val="lt1"/>
                </a:solidFill>
                <a:latin typeface="Helvetica Neue"/>
                <a:ea typeface="Helvetica Neue"/>
                <a:cs typeface="Helvetica Neue"/>
                <a:sym typeface="Helvetica Neue"/>
              </a:defRPr>
            </a:lvl4pPr>
            <a:lvl5pPr indent="0" lvl="4" marL="0" marR="0" rtl="0" algn="l">
              <a:spcBef>
                <a:spcPts val="0"/>
              </a:spcBef>
              <a:buNone/>
              <a:defRPr b="0" i="0" sz="750" u="none" cap="none" strike="noStrike">
                <a:solidFill>
                  <a:schemeClr val="lt1"/>
                </a:solidFill>
                <a:latin typeface="Helvetica Neue"/>
                <a:ea typeface="Helvetica Neue"/>
                <a:cs typeface="Helvetica Neue"/>
                <a:sym typeface="Helvetica Neue"/>
              </a:defRPr>
            </a:lvl5pPr>
            <a:lvl6pPr indent="0" lvl="5" marL="0" marR="0" rtl="0" algn="l">
              <a:spcBef>
                <a:spcPts val="0"/>
              </a:spcBef>
              <a:buNone/>
              <a:defRPr b="0" i="0" sz="750" u="none" cap="none" strike="noStrike">
                <a:solidFill>
                  <a:schemeClr val="lt1"/>
                </a:solidFill>
                <a:latin typeface="Helvetica Neue"/>
                <a:ea typeface="Helvetica Neue"/>
                <a:cs typeface="Helvetica Neue"/>
                <a:sym typeface="Helvetica Neue"/>
              </a:defRPr>
            </a:lvl6pPr>
            <a:lvl7pPr indent="0" lvl="6" marL="0" marR="0" rtl="0" algn="l">
              <a:spcBef>
                <a:spcPts val="0"/>
              </a:spcBef>
              <a:buNone/>
              <a:defRPr b="0" i="0" sz="750" u="none" cap="none" strike="noStrike">
                <a:solidFill>
                  <a:schemeClr val="lt1"/>
                </a:solidFill>
                <a:latin typeface="Helvetica Neue"/>
                <a:ea typeface="Helvetica Neue"/>
                <a:cs typeface="Helvetica Neue"/>
                <a:sym typeface="Helvetica Neue"/>
              </a:defRPr>
            </a:lvl7pPr>
            <a:lvl8pPr indent="0" lvl="7" marL="0" marR="0" rtl="0" algn="l">
              <a:spcBef>
                <a:spcPts val="0"/>
              </a:spcBef>
              <a:buNone/>
              <a:defRPr b="0" i="0" sz="750" u="none" cap="none" strike="noStrike">
                <a:solidFill>
                  <a:schemeClr val="lt1"/>
                </a:solidFill>
                <a:latin typeface="Helvetica Neue"/>
                <a:ea typeface="Helvetica Neue"/>
                <a:cs typeface="Helvetica Neue"/>
                <a:sym typeface="Helvetica Neue"/>
              </a:defRPr>
            </a:lvl8pPr>
            <a:lvl9pPr indent="0" lvl="8" marL="0" marR="0" rtl="0" algn="l">
              <a:spcBef>
                <a:spcPts val="0"/>
              </a:spcBef>
              <a:buNone/>
              <a:defRPr b="0" i="0" sz="750" u="none" cap="none" strike="noStrike">
                <a:solidFill>
                  <a:schemeClr val="lt1"/>
                </a:solidFill>
                <a:latin typeface="Helvetica Neue"/>
                <a:ea typeface="Helvetica Neue"/>
                <a:cs typeface="Helvetica Neue"/>
                <a:sym typeface="Helvetica Neue"/>
              </a:defRPr>
            </a:lvl9pPr>
          </a:lstStyle>
          <a:p>
            <a:pPr indent="0" lvl="0" marL="0" rtl="0" algn="l">
              <a:spcBef>
                <a:spcPts val="0"/>
              </a:spcBef>
              <a:spcAft>
                <a:spcPts val="0"/>
              </a:spcAft>
              <a:buNone/>
            </a:pPr>
            <a:fld id="{00000000-1234-1234-1234-123412341234}" type="slidenum">
              <a:rPr lang="en-US"/>
              <a:t>‹#›</a:t>
            </a:fld>
            <a:endParaRPr/>
          </a:p>
        </p:txBody>
      </p:sp>
      <p:pic>
        <p:nvPicPr>
          <p:cNvPr id="14" name="Google Shape;14;p1"/>
          <p:cNvPicPr preferRelativeResize="0"/>
          <p:nvPr/>
        </p:nvPicPr>
        <p:blipFill rotWithShape="1">
          <a:blip r:embed="rId1">
            <a:alphaModFix/>
          </a:blip>
          <a:srcRect b="0" l="0" r="0" t="0"/>
          <a:stretch/>
        </p:blipFill>
        <p:spPr>
          <a:xfrm>
            <a:off x="5831905" y="4778446"/>
            <a:ext cx="2300996" cy="167884"/>
          </a:xfrm>
          <a:prstGeom prst="rect">
            <a:avLst/>
          </a:prstGeom>
          <a:noFill/>
          <a:ln>
            <a:noFill/>
          </a:ln>
        </p:spPr>
      </p:pic>
      <p:sp>
        <p:nvSpPr>
          <p:cNvPr id="15" name="Google Shape;15;p1"/>
          <p:cNvSpPr/>
          <p:nvPr/>
        </p:nvSpPr>
        <p:spPr>
          <a:xfrm>
            <a:off x="-1" y="4467486"/>
            <a:ext cx="9144000" cy="69600"/>
          </a:xfrm>
          <a:prstGeom prst="rect">
            <a:avLst/>
          </a:prstGeom>
          <a:solidFill>
            <a:srgbClr val="BBBCB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9.jpg"/><Relationship Id="rId5" Type="http://schemas.openxmlformats.org/officeDocument/2006/relationships/image" Target="../media/image2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2540"/>
        </a:solidFill>
      </p:bgPr>
    </p:bg>
    <p:spTree>
      <p:nvGrpSpPr>
        <p:cNvPr id="91" name="Shape 91"/>
        <p:cNvGrpSpPr/>
        <p:nvPr/>
      </p:nvGrpSpPr>
      <p:grpSpPr>
        <a:xfrm>
          <a:off x="0" y="0"/>
          <a:ext cx="0" cy="0"/>
          <a:chOff x="0" y="0"/>
          <a:chExt cx="0" cy="0"/>
        </a:xfrm>
      </p:grpSpPr>
      <p:sp>
        <p:nvSpPr>
          <p:cNvPr id="92" name="Google Shape;92;p19"/>
          <p:cNvSpPr/>
          <p:nvPr/>
        </p:nvSpPr>
        <p:spPr>
          <a:xfrm>
            <a:off x="457200" y="457200"/>
            <a:ext cx="914400" cy="36600"/>
          </a:xfrm>
          <a:prstGeom prst="rect">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9"/>
          <p:cNvSpPr/>
          <p:nvPr/>
        </p:nvSpPr>
        <p:spPr>
          <a:xfrm>
            <a:off x="457200" y="594360"/>
            <a:ext cx="7315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1100"/>
              <a:buFont typeface="Calibri"/>
              <a:buNone/>
            </a:pPr>
            <a:r>
              <a:t/>
            </a:r>
            <a:endParaRPr b="0" i="0" sz="1100" u="none" cap="none" strike="noStrike">
              <a:solidFill>
                <a:schemeClr val="dk1"/>
              </a:solidFill>
              <a:latin typeface="Calibri"/>
              <a:ea typeface="Calibri"/>
              <a:cs typeface="Calibri"/>
              <a:sym typeface="Calibri"/>
            </a:endParaRPr>
          </a:p>
        </p:txBody>
      </p:sp>
      <p:sp>
        <p:nvSpPr>
          <p:cNvPr id="94" name="Google Shape;94;p19"/>
          <p:cNvSpPr/>
          <p:nvPr/>
        </p:nvSpPr>
        <p:spPr>
          <a:xfrm>
            <a:off x="457200" y="1315189"/>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Georgia"/>
              <a:buNone/>
            </a:pPr>
            <a:r>
              <a:rPr b="1" i="0" lang="en-US" sz="4200" u="none" cap="none" strike="noStrike">
                <a:solidFill>
                  <a:srgbClr val="FFFFFF"/>
                </a:solidFill>
                <a:latin typeface="Georgia"/>
                <a:ea typeface="Georgia"/>
                <a:cs typeface="Georgia"/>
                <a:sym typeface="Georgia"/>
              </a:rPr>
              <a:t>H-1B Approval:</a:t>
            </a:r>
            <a:endParaRPr b="0" i="0" sz="4200" u="none" cap="none" strike="noStrike">
              <a:solidFill>
                <a:schemeClr val="dk1"/>
              </a:solidFill>
              <a:latin typeface="Calibri"/>
              <a:ea typeface="Calibri"/>
              <a:cs typeface="Calibri"/>
              <a:sym typeface="Calibri"/>
            </a:endParaRPr>
          </a:p>
        </p:txBody>
      </p:sp>
      <p:sp>
        <p:nvSpPr>
          <p:cNvPr id="95" name="Google Shape;95;p19"/>
          <p:cNvSpPr/>
          <p:nvPr/>
        </p:nvSpPr>
        <p:spPr>
          <a:xfrm>
            <a:off x="457200" y="2613233"/>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3600"/>
              <a:buFont typeface="Georgia"/>
              <a:buNone/>
            </a:pPr>
            <a:r>
              <a:rPr b="1" i="1" lang="en-US" sz="3800" u="none" cap="none" strike="noStrike">
                <a:solidFill>
                  <a:srgbClr val="F4B942"/>
                </a:solidFill>
                <a:latin typeface="Georgia"/>
                <a:ea typeface="Georgia"/>
                <a:cs typeface="Georgia"/>
                <a:sym typeface="Georgia"/>
              </a:rPr>
              <a:t>How Much Can Public Data Explain?</a:t>
            </a:r>
            <a:endParaRPr b="0" i="0" sz="3800" u="none" cap="none" strike="noStrike">
              <a:solidFill>
                <a:schemeClr val="dk1"/>
              </a:solidFill>
              <a:latin typeface="Calibri"/>
              <a:ea typeface="Calibri"/>
              <a:cs typeface="Calibri"/>
              <a:sym typeface="Calibri"/>
            </a:endParaRPr>
          </a:p>
        </p:txBody>
      </p:sp>
      <p:sp>
        <p:nvSpPr>
          <p:cNvPr id="96" name="Google Shape;96;p19"/>
          <p:cNvSpPr/>
          <p:nvPr/>
        </p:nvSpPr>
        <p:spPr>
          <a:xfrm>
            <a:off x="391050" y="594358"/>
            <a:ext cx="8229600" cy="366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500"/>
              <a:buFont typeface="Georgia"/>
              <a:buNone/>
            </a:pPr>
            <a:r>
              <a:rPr b="0" i="1" lang="en-US" sz="1500" u="none" cap="none" strike="noStrike">
                <a:solidFill>
                  <a:srgbClr val="CBD5E1"/>
                </a:solidFill>
                <a:latin typeface="Georgia"/>
                <a:ea typeface="Georgia"/>
                <a:cs typeface="Georgia"/>
                <a:sym typeface="Georgia"/>
              </a:rPr>
              <a:t>A three-layer explainability audit of USCIS, OFLC, and Census data</a:t>
            </a:r>
            <a:endParaRPr b="0" i="0" sz="1500" u="none" cap="none" strike="noStrike">
              <a:solidFill>
                <a:schemeClr val="dk1"/>
              </a:solidFill>
              <a:latin typeface="Calibri"/>
              <a:ea typeface="Calibri"/>
              <a:cs typeface="Calibri"/>
              <a:sym typeface="Calibri"/>
            </a:endParaRPr>
          </a:p>
        </p:txBody>
      </p:sp>
      <p:sp>
        <p:nvSpPr>
          <p:cNvPr id="97" name="Google Shape;97;p19"/>
          <p:cNvSpPr/>
          <p:nvPr/>
        </p:nvSpPr>
        <p:spPr>
          <a:xfrm>
            <a:off x="298450" y="4543286"/>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Xiao Xu  ·  Cassie Zhang</a:t>
            </a:r>
            <a:endParaRPr b="0" i="0" sz="1400" u="none" cap="none" strike="noStrike">
              <a:solidFill>
                <a:schemeClr val="dk1"/>
              </a:solidFill>
              <a:latin typeface="Calibri"/>
              <a:ea typeface="Calibri"/>
              <a:cs typeface="Calibri"/>
              <a:sym typeface="Calibri"/>
            </a:endParaRPr>
          </a:p>
        </p:txBody>
      </p:sp>
      <p:pic>
        <p:nvPicPr>
          <p:cNvPr id="98" name="Google Shape;98;p19"/>
          <p:cNvPicPr preferRelativeResize="0"/>
          <p:nvPr/>
        </p:nvPicPr>
        <p:blipFill rotWithShape="1">
          <a:blip r:embed="rId3">
            <a:alphaModFix/>
          </a:blip>
          <a:srcRect b="0" l="0" r="0" t="0"/>
          <a:stretch/>
        </p:blipFill>
        <p:spPr>
          <a:xfrm>
            <a:off x="6848671" y="3796034"/>
            <a:ext cx="1512592" cy="106721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20"/>
          <p:cNvSpPr/>
          <p:nvPr/>
        </p:nvSpPr>
        <p:spPr>
          <a:xfrm>
            <a:off x="589488" y="335491"/>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lang="en-US" sz="3800">
                <a:solidFill>
                  <a:srgbClr val="1E293B"/>
                </a:solidFill>
                <a:latin typeface="Georgia"/>
                <a:ea typeface="Georgia"/>
                <a:cs typeface="Georgia"/>
                <a:sym typeface="Georgia"/>
              </a:rPr>
              <a:t>What is t</a:t>
            </a:r>
            <a:r>
              <a:rPr b="1" i="0" lang="en-US" sz="3800" u="none" cap="none" strike="noStrike">
                <a:solidFill>
                  <a:srgbClr val="1E293B"/>
                </a:solidFill>
                <a:latin typeface="Georgia"/>
                <a:ea typeface="Georgia"/>
                <a:cs typeface="Georgia"/>
                <a:sym typeface="Georgia"/>
              </a:rPr>
              <a:t>he H-1B Visa Program</a:t>
            </a:r>
            <a:endParaRPr b="0" i="0" sz="3800" u="none" cap="none" strike="noStrike">
              <a:solidFill>
                <a:schemeClr val="dk1"/>
              </a:solidFill>
              <a:latin typeface="Calibri"/>
              <a:ea typeface="Calibri"/>
              <a:cs typeface="Calibri"/>
              <a:sym typeface="Calibri"/>
            </a:endParaRPr>
          </a:p>
        </p:txBody>
      </p:sp>
      <p:sp>
        <p:nvSpPr>
          <p:cNvPr id="105" name="Google Shape;105;p20"/>
          <p:cNvSpPr/>
          <p:nvPr/>
        </p:nvSpPr>
        <p:spPr>
          <a:xfrm>
            <a:off x="457138" y="1141260"/>
            <a:ext cx="8412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t/>
            </a:r>
            <a:endParaRPr b="0" i="0" sz="1700" u="none" cap="none" strike="noStrike">
              <a:solidFill>
                <a:schemeClr val="dk1"/>
              </a:solidFill>
              <a:latin typeface="Calibri"/>
              <a:ea typeface="Calibri"/>
              <a:cs typeface="Calibri"/>
              <a:sym typeface="Calibri"/>
            </a:endParaRPr>
          </a:p>
        </p:txBody>
      </p:sp>
      <p:sp>
        <p:nvSpPr>
          <p:cNvPr id="106" name="Google Shape;106;p20"/>
          <p:cNvSpPr/>
          <p:nvPr/>
        </p:nvSpPr>
        <p:spPr>
          <a:xfrm>
            <a:off x="295450" y="1010372"/>
            <a:ext cx="8274000" cy="98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2400" u="none" cap="none" strike="noStrike">
                <a:solidFill>
                  <a:srgbClr val="1E293B"/>
                </a:solidFill>
                <a:latin typeface="Calibri"/>
                <a:ea typeface="Calibri"/>
                <a:cs typeface="Calibri"/>
                <a:sym typeface="Calibri"/>
              </a:rPr>
              <a:t>The H-1B visa allows U.S. employers to recruit highly skilled foreign professionals to address domestic labor shortages.</a:t>
            </a:r>
            <a:endParaRPr b="0" i="0" sz="2400" u="none" cap="none" strike="noStrike">
              <a:solidFill>
                <a:schemeClr val="dk1"/>
              </a:solidFill>
              <a:latin typeface="Calibri"/>
              <a:ea typeface="Calibri"/>
              <a:cs typeface="Calibri"/>
              <a:sym typeface="Calibri"/>
            </a:endParaRPr>
          </a:p>
        </p:txBody>
      </p:sp>
      <p:sp>
        <p:nvSpPr>
          <p:cNvPr id="107" name="Google Shape;107;p20"/>
          <p:cNvSpPr/>
          <p:nvPr/>
        </p:nvSpPr>
        <p:spPr>
          <a:xfrm>
            <a:off x="237438" y="2224279"/>
            <a:ext cx="4846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lang="en-US" sz="2600">
                <a:solidFill>
                  <a:srgbClr val="1C7293"/>
                </a:solidFill>
                <a:latin typeface="Calibri"/>
                <a:ea typeface="Calibri"/>
                <a:cs typeface="Calibri"/>
                <a:sym typeface="Calibri"/>
              </a:rPr>
              <a:t>Industry</a:t>
            </a:r>
            <a:endParaRPr b="0" i="0" sz="2800" u="none" cap="none" strike="noStrike">
              <a:solidFill>
                <a:schemeClr val="dk1"/>
              </a:solidFill>
              <a:latin typeface="Calibri"/>
              <a:ea typeface="Calibri"/>
              <a:cs typeface="Calibri"/>
              <a:sym typeface="Calibri"/>
            </a:endParaRPr>
          </a:p>
        </p:txBody>
      </p:sp>
      <p:sp>
        <p:nvSpPr>
          <p:cNvPr id="108" name="Google Shape;108;p20"/>
          <p:cNvSpPr/>
          <p:nvPr/>
        </p:nvSpPr>
        <p:spPr>
          <a:xfrm>
            <a:off x="248188" y="2688384"/>
            <a:ext cx="640200" cy="4389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9" name="Google Shape;109;p20"/>
          <p:cNvPicPr preferRelativeResize="0"/>
          <p:nvPr/>
        </p:nvPicPr>
        <p:blipFill rotWithShape="1">
          <a:blip r:embed="rId3">
            <a:alphaModFix/>
          </a:blip>
          <a:srcRect b="0" l="0" r="0" t="0"/>
          <a:stretch/>
        </p:blipFill>
        <p:spPr>
          <a:xfrm>
            <a:off x="448597" y="2847218"/>
            <a:ext cx="198883" cy="198883"/>
          </a:xfrm>
          <a:prstGeom prst="rect">
            <a:avLst/>
          </a:prstGeom>
          <a:noFill/>
          <a:ln>
            <a:noFill/>
          </a:ln>
        </p:spPr>
      </p:pic>
      <p:sp>
        <p:nvSpPr>
          <p:cNvPr id="110" name="Google Shape;110;p20"/>
          <p:cNvSpPr/>
          <p:nvPr/>
        </p:nvSpPr>
        <p:spPr>
          <a:xfrm>
            <a:off x="1037013" y="2681499"/>
            <a:ext cx="3931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2200" u="none" cap="none" strike="noStrike">
                <a:solidFill>
                  <a:srgbClr val="1E293B"/>
                </a:solidFill>
                <a:latin typeface="Calibri"/>
                <a:ea typeface="Calibri"/>
                <a:cs typeface="Calibri"/>
                <a:sym typeface="Calibri"/>
              </a:rPr>
              <a:t>Technology, engineering, finance</a:t>
            </a:r>
            <a:endParaRPr b="0" i="0" sz="2200" u="none" cap="none" strike="noStrike">
              <a:solidFill>
                <a:schemeClr val="dk1"/>
              </a:solidFill>
              <a:latin typeface="Calibri"/>
              <a:ea typeface="Calibri"/>
              <a:cs typeface="Calibri"/>
              <a:sym typeface="Calibri"/>
            </a:endParaRPr>
          </a:p>
        </p:txBody>
      </p:sp>
      <p:sp>
        <p:nvSpPr>
          <p:cNvPr id="111" name="Google Shape;111;p20"/>
          <p:cNvSpPr/>
          <p:nvPr/>
        </p:nvSpPr>
        <p:spPr>
          <a:xfrm>
            <a:off x="295438" y="3426028"/>
            <a:ext cx="571500" cy="4389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20"/>
          <p:cNvPicPr preferRelativeResize="0"/>
          <p:nvPr/>
        </p:nvPicPr>
        <p:blipFill rotWithShape="1">
          <a:blip r:embed="rId4">
            <a:alphaModFix/>
          </a:blip>
          <a:srcRect b="0" l="0" r="0" t="0"/>
          <a:stretch/>
        </p:blipFill>
        <p:spPr>
          <a:xfrm>
            <a:off x="448610" y="3545969"/>
            <a:ext cx="198883" cy="198883"/>
          </a:xfrm>
          <a:prstGeom prst="rect">
            <a:avLst/>
          </a:prstGeom>
          <a:noFill/>
          <a:ln>
            <a:noFill/>
          </a:ln>
        </p:spPr>
      </p:pic>
      <p:sp>
        <p:nvSpPr>
          <p:cNvPr id="113" name="Google Shape;113;p20"/>
          <p:cNvSpPr/>
          <p:nvPr/>
        </p:nvSpPr>
        <p:spPr>
          <a:xfrm>
            <a:off x="1026288" y="3447750"/>
            <a:ext cx="39318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2200" u="none" cap="none" strike="noStrike">
                <a:solidFill>
                  <a:srgbClr val="1E293B"/>
                </a:solidFill>
                <a:latin typeface="Calibri"/>
                <a:ea typeface="Calibri"/>
                <a:cs typeface="Calibri"/>
                <a:sym typeface="Calibri"/>
              </a:rPr>
              <a:t>Healthcare and scientific research</a:t>
            </a:r>
            <a:endParaRPr b="0" i="0" sz="2200" u="none" cap="none" strike="noStrike">
              <a:solidFill>
                <a:schemeClr val="dk1"/>
              </a:solidFill>
              <a:latin typeface="Calibri"/>
              <a:ea typeface="Calibri"/>
              <a:cs typeface="Calibri"/>
              <a:sym typeface="Calibri"/>
            </a:endParaRPr>
          </a:p>
        </p:txBody>
      </p:sp>
      <p:sp>
        <p:nvSpPr>
          <p:cNvPr id="114" name="Google Shape;114;p20"/>
          <p:cNvSpPr/>
          <p:nvPr/>
        </p:nvSpPr>
        <p:spPr>
          <a:xfrm flipH="1" rot="10800000">
            <a:off x="253588" y="4163595"/>
            <a:ext cx="629400" cy="4962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20"/>
          <p:cNvPicPr preferRelativeResize="0"/>
          <p:nvPr/>
        </p:nvPicPr>
        <p:blipFill rotWithShape="1">
          <a:blip r:embed="rId5">
            <a:alphaModFix/>
          </a:blip>
          <a:srcRect b="0" l="0" r="0" t="0"/>
          <a:stretch/>
        </p:blipFill>
        <p:spPr>
          <a:xfrm>
            <a:off x="390622" y="4288154"/>
            <a:ext cx="198883" cy="198883"/>
          </a:xfrm>
          <a:prstGeom prst="rect">
            <a:avLst/>
          </a:prstGeom>
          <a:noFill/>
          <a:ln>
            <a:noFill/>
          </a:ln>
        </p:spPr>
      </p:pic>
      <p:sp>
        <p:nvSpPr>
          <p:cNvPr id="116" name="Google Shape;116;p20"/>
          <p:cNvSpPr/>
          <p:nvPr/>
        </p:nvSpPr>
        <p:spPr>
          <a:xfrm>
            <a:off x="1026300" y="4242356"/>
            <a:ext cx="4403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0" i="0" lang="en-US" sz="2200" u="none" cap="none" strike="noStrike">
                <a:solidFill>
                  <a:srgbClr val="1E293B"/>
                </a:solidFill>
                <a:latin typeface="Calibri"/>
                <a:ea typeface="Calibri"/>
                <a:cs typeface="Calibri"/>
                <a:sym typeface="Calibri"/>
              </a:rPr>
              <a:t>Supports U.S. global competitiveness</a:t>
            </a:r>
            <a:endParaRPr b="0" i="0" sz="2200" u="none" cap="none" strike="noStrike">
              <a:solidFill>
                <a:schemeClr val="dk1"/>
              </a:solidFill>
              <a:latin typeface="Calibri"/>
              <a:ea typeface="Calibri"/>
              <a:cs typeface="Calibri"/>
              <a:sym typeface="Calibri"/>
            </a:endParaRPr>
          </a:p>
        </p:txBody>
      </p:sp>
      <p:sp>
        <p:nvSpPr>
          <p:cNvPr id="117" name="Google Shape;117;p20"/>
          <p:cNvSpPr/>
          <p:nvPr/>
        </p:nvSpPr>
        <p:spPr>
          <a:xfrm>
            <a:off x="5292075" y="1950000"/>
            <a:ext cx="3752400" cy="31083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p:nvPr/>
        </p:nvSpPr>
        <p:spPr>
          <a:xfrm>
            <a:off x="5499135" y="2053824"/>
            <a:ext cx="2560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1000"/>
              <a:buFont typeface="Calibri"/>
              <a:buNone/>
            </a:pPr>
            <a:r>
              <a:rPr b="1" i="0" lang="en-US" sz="2400" u="none" cap="none" strike="noStrike">
                <a:solidFill>
                  <a:srgbClr val="F4B942"/>
                </a:solidFill>
                <a:latin typeface="Calibri"/>
                <a:ea typeface="Calibri"/>
                <a:cs typeface="Calibri"/>
                <a:sym typeface="Calibri"/>
              </a:rPr>
              <a:t>AT A GLANCE</a:t>
            </a:r>
            <a:endParaRPr b="0" i="0" sz="2400" u="none" cap="none" strike="noStrike">
              <a:solidFill>
                <a:schemeClr val="dk1"/>
              </a:solidFill>
              <a:latin typeface="Calibri"/>
              <a:ea typeface="Calibri"/>
              <a:cs typeface="Calibri"/>
              <a:sym typeface="Calibri"/>
            </a:endParaRPr>
          </a:p>
        </p:txBody>
      </p:sp>
      <p:sp>
        <p:nvSpPr>
          <p:cNvPr id="119" name="Google Shape;119;p20"/>
          <p:cNvSpPr/>
          <p:nvPr/>
        </p:nvSpPr>
        <p:spPr>
          <a:xfrm>
            <a:off x="5499135" y="2460746"/>
            <a:ext cx="2560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100"/>
              <a:buFont typeface="Calibri"/>
              <a:buNone/>
            </a:pPr>
            <a:r>
              <a:rPr b="0" i="1" lang="en-US" sz="1700" u="none" cap="none" strike="noStrike">
                <a:solidFill>
                  <a:srgbClr val="CBD5E1"/>
                </a:solidFill>
                <a:latin typeface="Calibri"/>
                <a:ea typeface="Calibri"/>
                <a:cs typeface="Calibri"/>
                <a:sym typeface="Calibri"/>
              </a:rPr>
              <a:t>FY 2024 petition data</a:t>
            </a:r>
            <a:endParaRPr b="0" i="0" sz="1700" u="none" cap="none" strike="noStrike">
              <a:solidFill>
                <a:schemeClr val="dk1"/>
              </a:solidFill>
              <a:latin typeface="Calibri"/>
              <a:ea typeface="Calibri"/>
              <a:cs typeface="Calibri"/>
              <a:sym typeface="Calibri"/>
            </a:endParaRPr>
          </a:p>
        </p:txBody>
      </p:sp>
      <p:sp>
        <p:nvSpPr>
          <p:cNvPr id="120" name="Google Shape;120;p20"/>
          <p:cNvSpPr/>
          <p:nvPr/>
        </p:nvSpPr>
        <p:spPr>
          <a:xfrm>
            <a:off x="5499135" y="2644716"/>
            <a:ext cx="2560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Georgia"/>
              <a:buNone/>
            </a:pPr>
            <a:r>
              <a:rPr b="1" i="0" lang="en-US" sz="4400" u="none" cap="none" strike="noStrike">
                <a:solidFill>
                  <a:srgbClr val="FFFFFF"/>
                </a:solidFill>
                <a:latin typeface="Georgia"/>
                <a:ea typeface="Georgia"/>
                <a:cs typeface="Georgia"/>
                <a:sym typeface="Georgia"/>
              </a:rPr>
              <a:t>~407K</a:t>
            </a:r>
            <a:endParaRPr b="0" i="0" sz="4500" u="none" cap="none" strike="noStrike">
              <a:solidFill>
                <a:schemeClr val="dk1"/>
              </a:solidFill>
              <a:latin typeface="Calibri"/>
              <a:ea typeface="Calibri"/>
              <a:cs typeface="Calibri"/>
              <a:sym typeface="Calibri"/>
            </a:endParaRPr>
          </a:p>
        </p:txBody>
      </p:sp>
      <p:sp>
        <p:nvSpPr>
          <p:cNvPr id="121" name="Google Shape;121;p20"/>
          <p:cNvSpPr/>
          <p:nvPr/>
        </p:nvSpPr>
        <p:spPr>
          <a:xfrm>
            <a:off x="5474401" y="3360544"/>
            <a:ext cx="3319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100"/>
              <a:buFont typeface="Calibri"/>
              <a:buNone/>
            </a:pPr>
            <a:r>
              <a:rPr lang="en-US" sz="1700">
                <a:solidFill>
                  <a:srgbClr val="CBD5E1"/>
                </a:solidFill>
                <a:latin typeface="Calibri"/>
                <a:ea typeface="Calibri"/>
                <a:cs typeface="Calibri"/>
                <a:sym typeface="Calibri"/>
              </a:rPr>
              <a:t>P</a:t>
            </a:r>
            <a:r>
              <a:rPr b="0" i="0" lang="en-US" sz="1700" u="none" cap="none" strike="noStrike">
                <a:solidFill>
                  <a:srgbClr val="CBD5E1"/>
                </a:solidFill>
                <a:latin typeface="Calibri"/>
                <a:ea typeface="Calibri"/>
                <a:cs typeface="Calibri"/>
                <a:sym typeface="Calibri"/>
              </a:rPr>
              <a:t>etitions adjudicated by USCIS</a:t>
            </a:r>
            <a:endParaRPr b="0" i="0" sz="1700" u="none" cap="none" strike="noStrike">
              <a:solidFill>
                <a:schemeClr val="dk1"/>
              </a:solidFill>
              <a:latin typeface="Calibri"/>
              <a:ea typeface="Calibri"/>
              <a:cs typeface="Calibri"/>
              <a:sym typeface="Calibri"/>
            </a:endParaRPr>
          </a:p>
        </p:txBody>
      </p:sp>
      <p:cxnSp>
        <p:nvCxnSpPr>
          <p:cNvPr id="122" name="Google Shape;122;p20"/>
          <p:cNvCxnSpPr/>
          <p:nvPr/>
        </p:nvCxnSpPr>
        <p:spPr>
          <a:xfrm>
            <a:off x="5474400" y="3734559"/>
            <a:ext cx="3319200" cy="300"/>
          </a:xfrm>
          <a:prstGeom prst="straightConnector1">
            <a:avLst/>
          </a:prstGeom>
          <a:noFill/>
          <a:ln cap="flat" cmpd="sng" w="12700">
            <a:solidFill>
              <a:srgbClr val="1C7293"/>
            </a:solidFill>
            <a:prstDash val="solid"/>
            <a:round/>
            <a:headEnd len="sm" w="sm" type="none"/>
            <a:tailEnd len="sm" w="sm" type="none"/>
          </a:ln>
        </p:spPr>
      </p:cxnSp>
      <p:sp>
        <p:nvSpPr>
          <p:cNvPr id="123" name="Google Shape;123;p20"/>
          <p:cNvSpPr/>
          <p:nvPr/>
        </p:nvSpPr>
        <p:spPr>
          <a:xfrm>
            <a:off x="5499123" y="3750953"/>
            <a:ext cx="2560200" cy="548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3400"/>
              <a:buFont typeface="Georgia"/>
              <a:buNone/>
            </a:pPr>
            <a:r>
              <a:rPr b="1" i="0" lang="en-US" sz="3400" u="none" cap="none" strike="noStrike">
                <a:solidFill>
                  <a:srgbClr val="F4B942"/>
                </a:solidFill>
                <a:latin typeface="Georgia"/>
                <a:ea typeface="Georgia"/>
                <a:cs typeface="Georgia"/>
                <a:sym typeface="Georgia"/>
              </a:rPr>
              <a:t>61,452</a:t>
            </a:r>
            <a:endParaRPr b="0" i="0" sz="3400" u="none" cap="none" strike="noStrike">
              <a:solidFill>
                <a:schemeClr val="dk1"/>
              </a:solidFill>
              <a:latin typeface="Calibri"/>
              <a:ea typeface="Calibri"/>
              <a:cs typeface="Calibri"/>
              <a:sym typeface="Calibri"/>
            </a:endParaRPr>
          </a:p>
        </p:txBody>
      </p:sp>
      <p:sp>
        <p:nvSpPr>
          <p:cNvPr id="124" name="Google Shape;124;p20"/>
          <p:cNvSpPr/>
          <p:nvPr/>
        </p:nvSpPr>
        <p:spPr>
          <a:xfrm>
            <a:off x="5463975" y="4315669"/>
            <a:ext cx="340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100"/>
              <a:buFont typeface="Calibri"/>
              <a:buNone/>
            </a:pPr>
            <a:r>
              <a:rPr lang="en-US" sz="1700">
                <a:solidFill>
                  <a:srgbClr val="CBD5E1"/>
                </a:solidFill>
                <a:latin typeface="Calibri"/>
                <a:ea typeface="Calibri"/>
                <a:cs typeface="Calibri"/>
                <a:sym typeface="Calibri"/>
              </a:rPr>
              <a:t>U</a:t>
            </a:r>
            <a:r>
              <a:rPr b="0" i="0" lang="en-US" sz="1700" u="none" cap="none" strike="noStrike">
                <a:solidFill>
                  <a:srgbClr val="CBD5E1"/>
                </a:solidFill>
                <a:latin typeface="Calibri"/>
                <a:ea typeface="Calibri"/>
                <a:cs typeface="Calibri"/>
                <a:sym typeface="Calibri"/>
              </a:rPr>
              <a:t>nique employer petitioners (USCIS release)</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 name="Shape 129"/>
        <p:cNvGrpSpPr/>
        <p:nvPr/>
      </p:nvGrpSpPr>
      <p:grpSpPr>
        <a:xfrm>
          <a:off x="0" y="0"/>
          <a:ext cx="0" cy="0"/>
          <a:chOff x="0" y="0"/>
          <a:chExt cx="0" cy="0"/>
        </a:xfrm>
      </p:grpSpPr>
      <p:sp>
        <p:nvSpPr>
          <p:cNvPr id="130" name="Google Shape;130;p21"/>
          <p:cNvSpPr/>
          <p:nvPr/>
        </p:nvSpPr>
        <p:spPr>
          <a:xfrm>
            <a:off x="265450" y="329275"/>
            <a:ext cx="73152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3000"/>
              <a:buFont typeface="Georgia"/>
              <a:buNone/>
            </a:pPr>
            <a:r>
              <a:rPr b="1" lang="en-US" sz="3000">
                <a:solidFill>
                  <a:srgbClr val="1E293B"/>
                </a:solidFill>
                <a:latin typeface="Georgia"/>
                <a:ea typeface="Georgia"/>
                <a:cs typeface="Georgia"/>
                <a:sym typeface="Georgia"/>
              </a:rPr>
              <a:t>The Policy Problem:</a:t>
            </a:r>
            <a:endParaRPr sz="3000">
              <a:solidFill>
                <a:schemeClr val="dk1"/>
              </a:solidFill>
              <a:latin typeface="Calibri"/>
              <a:ea typeface="Calibri"/>
              <a:cs typeface="Calibri"/>
              <a:sym typeface="Calibri"/>
            </a:endParaRPr>
          </a:p>
        </p:txBody>
      </p:sp>
      <p:sp>
        <p:nvSpPr>
          <p:cNvPr id="131" name="Google Shape;131;p21"/>
          <p:cNvSpPr/>
          <p:nvPr/>
        </p:nvSpPr>
        <p:spPr>
          <a:xfrm>
            <a:off x="344400" y="1693475"/>
            <a:ext cx="73200" cy="2834700"/>
          </a:xfrm>
          <a:prstGeom prst="rect">
            <a:avLst/>
          </a:prstGeom>
          <a:solidFill>
            <a:srgbClr val="F4B942"/>
          </a:solidFill>
          <a:ln cap="flat" cmpd="sng" w="12700">
            <a:solidFill>
              <a:srgbClr val="F4B9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21"/>
          <p:cNvSpPr/>
          <p:nvPr/>
        </p:nvSpPr>
        <p:spPr>
          <a:xfrm>
            <a:off x="618720" y="3293675"/>
            <a:ext cx="35661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t/>
            </a:r>
            <a:endParaRPr sz="1300">
              <a:solidFill>
                <a:schemeClr val="dk1"/>
              </a:solidFill>
              <a:latin typeface="Calibri"/>
              <a:ea typeface="Calibri"/>
              <a:cs typeface="Calibri"/>
              <a:sym typeface="Calibri"/>
            </a:endParaRPr>
          </a:p>
        </p:txBody>
      </p:sp>
      <p:sp>
        <p:nvSpPr>
          <p:cNvPr id="133" name="Google Shape;133;p21"/>
          <p:cNvSpPr/>
          <p:nvPr/>
        </p:nvSpPr>
        <p:spPr>
          <a:xfrm>
            <a:off x="744450" y="1602025"/>
            <a:ext cx="7771800" cy="868800"/>
          </a:xfrm>
          <a:prstGeom prst="rect">
            <a:avLst/>
          </a:prstGeom>
          <a:solidFill>
            <a:srgbClr val="F1F5F9"/>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21"/>
          <p:cNvSpPr/>
          <p:nvPr/>
        </p:nvSpPr>
        <p:spPr>
          <a:xfrm>
            <a:off x="1149000" y="1784905"/>
            <a:ext cx="502800" cy="502800"/>
          </a:xfrm>
          <a:prstGeom prst="ellipse">
            <a:avLst/>
          </a:prstGeom>
          <a:solidFill>
            <a:srgbClr val="0A2540"/>
          </a:solidFill>
          <a:ln cap="flat" cmpd="sng" w="12700">
            <a:solidFill>
              <a:srgbClr val="0A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5" name="Google Shape;135;p21"/>
          <p:cNvPicPr preferRelativeResize="0"/>
          <p:nvPr/>
        </p:nvPicPr>
        <p:blipFill rotWithShape="1">
          <a:blip r:embed="rId3">
            <a:alphaModFix/>
          </a:blip>
          <a:srcRect b="0" l="0" r="0" t="0"/>
          <a:stretch/>
        </p:blipFill>
        <p:spPr>
          <a:xfrm>
            <a:off x="1300960" y="1903802"/>
            <a:ext cx="198882" cy="198882"/>
          </a:xfrm>
          <a:prstGeom prst="rect">
            <a:avLst/>
          </a:prstGeom>
          <a:noFill/>
          <a:ln>
            <a:noFill/>
          </a:ln>
        </p:spPr>
      </p:pic>
      <p:sp>
        <p:nvSpPr>
          <p:cNvPr id="136" name="Google Shape;136;p21"/>
          <p:cNvSpPr/>
          <p:nvPr/>
        </p:nvSpPr>
        <p:spPr>
          <a:xfrm>
            <a:off x="1834800" y="1858079"/>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lang="en-US" sz="1900">
                <a:solidFill>
                  <a:srgbClr val="1E293B"/>
                </a:solidFill>
                <a:latin typeface="Calibri"/>
                <a:ea typeface="Calibri"/>
                <a:cs typeface="Calibri"/>
                <a:sym typeface="Calibri"/>
              </a:rPr>
              <a:t>Opaque decision factors</a:t>
            </a:r>
            <a:endParaRPr sz="1900">
              <a:solidFill>
                <a:schemeClr val="dk1"/>
              </a:solidFill>
              <a:latin typeface="Calibri"/>
              <a:ea typeface="Calibri"/>
              <a:cs typeface="Calibri"/>
              <a:sym typeface="Calibri"/>
            </a:endParaRPr>
          </a:p>
        </p:txBody>
      </p:sp>
      <p:sp>
        <p:nvSpPr>
          <p:cNvPr id="137" name="Google Shape;137;p21"/>
          <p:cNvSpPr/>
          <p:nvPr/>
        </p:nvSpPr>
        <p:spPr>
          <a:xfrm>
            <a:off x="4852500" y="1812337"/>
            <a:ext cx="33138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lang="en-US" sz="1500">
                <a:solidFill>
                  <a:srgbClr val="475569"/>
                </a:solidFill>
                <a:latin typeface="Calibri"/>
                <a:ea typeface="Calibri"/>
                <a:cs typeface="Calibri"/>
                <a:sym typeface="Calibri"/>
              </a:rPr>
              <a:t>Little transparency on what predicts approval vs. denial.</a:t>
            </a:r>
            <a:endParaRPr sz="1500">
              <a:solidFill>
                <a:schemeClr val="dk1"/>
              </a:solidFill>
              <a:latin typeface="Calibri"/>
              <a:ea typeface="Calibri"/>
              <a:cs typeface="Calibri"/>
              <a:sym typeface="Calibri"/>
            </a:endParaRPr>
          </a:p>
        </p:txBody>
      </p:sp>
      <p:sp>
        <p:nvSpPr>
          <p:cNvPr id="138" name="Google Shape;138;p21"/>
          <p:cNvSpPr/>
          <p:nvPr/>
        </p:nvSpPr>
        <p:spPr>
          <a:xfrm>
            <a:off x="744450" y="2580425"/>
            <a:ext cx="7771800" cy="868800"/>
          </a:xfrm>
          <a:prstGeom prst="rect">
            <a:avLst/>
          </a:prstGeom>
          <a:solidFill>
            <a:srgbClr val="F1F5F9"/>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21"/>
          <p:cNvSpPr/>
          <p:nvPr/>
        </p:nvSpPr>
        <p:spPr>
          <a:xfrm>
            <a:off x="1149000" y="2763313"/>
            <a:ext cx="502800" cy="502800"/>
          </a:xfrm>
          <a:prstGeom prst="ellipse">
            <a:avLst/>
          </a:prstGeom>
          <a:solidFill>
            <a:srgbClr val="0A2540"/>
          </a:solidFill>
          <a:ln cap="flat" cmpd="sng" w="12700">
            <a:solidFill>
              <a:srgbClr val="0A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0" name="Google Shape;140;p21"/>
          <p:cNvPicPr preferRelativeResize="0"/>
          <p:nvPr/>
        </p:nvPicPr>
        <p:blipFill rotWithShape="1">
          <a:blip r:embed="rId4">
            <a:alphaModFix/>
          </a:blip>
          <a:srcRect b="0" l="0" r="0" t="0"/>
          <a:stretch/>
        </p:blipFill>
        <p:spPr>
          <a:xfrm>
            <a:off x="1300960" y="2915398"/>
            <a:ext cx="198882" cy="198882"/>
          </a:xfrm>
          <a:prstGeom prst="rect">
            <a:avLst/>
          </a:prstGeom>
          <a:noFill/>
          <a:ln>
            <a:noFill/>
          </a:ln>
        </p:spPr>
      </p:pic>
      <p:sp>
        <p:nvSpPr>
          <p:cNvPr id="141" name="Google Shape;141;p21"/>
          <p:cNvSpPr/>
          <p:nvPr/>
        </p:nvSpPr>
        <p:spPr>
          <a:xfrm>
            <a:off x="1834800" y="2854799"/>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lang="en-US" sz="1700">
                <a:solidFill>
                  <a:srgbClr val="1E293B"/>
                </a:solidFill>
                <a:latin typeface="Calibri"/>
                <a:ea typeface="Calibri"/>
                <a:cs typeface="Calibri"/>
                <a:sym typeface="Calibri"/>
              </a:rPr>
              <a:t>Possible structural disparities</a:t>
            </a:r>
            <a:endParaRPr sz="1700">
              <a:solidFill>
                <a:schemeClr val="dk1"/>
              </a:solidFill>
              <a:latin typeface="Calibri"/>
              <a:ea typeface="Calibri"/>
              <a:cs typeface="Calibri"/>
              <a:sym typeface="Calibri"/>
            </a:endParaRPr>
          </a:p>
        </p:txBody>
      </p:sp>
      <p:sp>
        <p:nvSpPr>
          <p:cNvPr id="142" name="Google Shape;142;p21"/>
          <p:cNvSpPr/>
          <p:nvPr/>
        </p:nvSpPr>
        <p:spPr>
          <a:xfrm>
            <a:off x="4852500" y="2809025"/>
            <a:ext cx="2907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lang="en-US" sz="1500">
                <a:solidFill>
                  <a:srgbClr val="475569"/>
                </a:solidFill>
                <a:latin typeface="Calibri"/>
                <a:ea typeface="Calibri"/>
                <a:cs typeface="Calibri"/>
                <a:sym typeface="Calibri"/>
              </a:rPr>
              <a:t>Unclear whether outcomes vary by industry, region, or employer type.</a:t>
            </a:r>
            <a:endParaRPr sz="1500">
              <a:solidFill>
                <a:schemeClr val="dk1"/>
              </a:solidFill>
              <a:latin typeface="Calibri"/>
              <a:ea typeface="Calibri"/>
              <a:cs typeface="Calibri"/>
              <a:sym typeface="Calibri"/>
            </a:endParaRPr>
          </a:p>
        </p:txBody>
      </p:sp>
      <p:sp>
        <p:nvSpPr>
          <p:cNvPr id="143" name="Google Shape;143;p21"/>
          <p:cNvSpPr/>
          <p:nvPr/>
        </p:nvSpPr>
        <p:spPr>
          <a:xfrm>
            <a:off x="744450" y="3558850"/>
            <a:ext cx="7829700" cy="868800"/>
          </a:xfrm>
          <a:prstGeom prst="rect">
            <a:avLst/>
          </a:prstGeom>
          <a:solidFill>
            <a:srgbClr val="F1F5F9"/>
          </a:solidFill>
          <a:ln cap="flat" cmpd="sng" w="9525">
            <a:solidFill>
              <a:srgbClr val="E2E8F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 name="Google Shape;144;p21"/>
          <p:cNvSpPr/>
          <p:nvPr/>
        </p:nvSpPr>
        <p:spPr>
          <a:xfrm>
            <a:off x="1149000" y="3760121"/>
            <a:ext cx="502800" cy="502800"/>
          </a:xfrm>
          <a:prstGeom prst="ellipse">
            <a:avLst/>
          </a:prstGeom>
          <a:solidFill>
            <a:srgbClr val="0A2540"/>
          </a:solidFill>
          <a:ln cap="flat" cmpd="sng" w="12700">
            <a:solidFill>
              <a:srgbClr val="0A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5" name="Google Shape;145;p21"/>
          <p:cNvPicPr preferRelativeResize="0"/>
          <p:nvPr/>
        </p:nvPicPr>
        <p:blipFill rotWithShape="1">
          <a:blip r:embed="rId5">
            <a:alphaModFix/>
          </a:blip>
          <a:srcRect b="0" l="0" r="0" t="0"/>
          <a:stretch/>
        </p:blipFill>
        <p:spPr>
          <a:xfrm>
            <a:off x="1300960" y="3926993"/>
            <a:ext cx="198882" cy="198882"/>
          </a:xfrm>
          <a:prstGeom prst="rect">
            <a:avLst/>
          </a:prstGeom>
          <a:noFill/>
          <a:ln>
            <a:noFill/>
          </a:ln>
        </p:spPr>
      </p:pic>
      <p:sp>
        <p:nvSpPr>
          <p:cNvPr id="146" name="Google Shape;146;p21"/>
          <p:cNvSpPr/>
          <p:nvPr/>
        </p:nvSpPr>
        <p:spPr>
          <a:xfrm>
            <a:off x="1832525" y="3851470"/>
            <a:ext cx="2834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lang="en-US" sz="1900">
                <a:solidFill>
                  <a:srgbClr val="1E293B"/>
                </a:solidFill>
                <a:latin typeface="Calibri"/>
                <a:ea typeface="Calibri"/>
                <a:cs typeface="Calibri"/>
                <a:sym typeface="Calibri"/>
              </a:rPr>
              <a:t>Limited public data</a:t>
            </a:r>
            <a:endParaRPr sz="1900">
              <a:solidFill>
                <a:schemeClr val="dk1"/>
              </a:solidFill>
              <a:latin typeface="Calibri"/>
              <a:ea typeface="Calibri"/>
              <a:cs typeface="Calibri"/>
              <a:sym typeface="Calibri"/>
            </a:endParaRPr>
          </a:p>
        </p:txBody>
      </p:sp>
      <p:sp>
        <p:nvSpPr>
          <p:cNvPr id="147" name="Google Shape;147;p21"/>
          <p:cNvSpPr/>
          <p:nvPr/>
        </p:nvSpPr>
        <p:spPr>
          <a:xfrm>
            <a:off x="4847950" y="3851475"/>
            <a:ext cx="3081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lang="en-US">
                <a:solidFill>
                  <a:srgbClr val="475569"/>
                </a:solidFill>
                <a:latin typeface="Calibri"/>
                <a:ea typeface="Calibri"/>
                <a:cs typeface="Calibri"/>
                <a:sym typeface="Calibri"/>
              </a:rPr>
              <a:t>Available variables may be too coarse for robust oversight.</a:t>
            </a:r>
            <a:endParaRPr>
              <a:solidFill>
                <a:schemeClr val="dk1"/>
              </a:solidFill>
              <a:latin typeface="Calibri"/>
              <a:ea typeface="Calibri"/>
              <a:cs typeface="Calibri"/>
              <a:sym typeface="Calibri"/>
            </a:endParaRPr>
          </a:p>
        </p:txBody>
      </p:sp>
      <p:sp>
        <p:nvSpPr>
          <p:cNvPr id="148" name="Google Shape;148;p21"/>
          <p:cNvSpPr/>
          <p:nvPr/>
        </p:nvSpPr>
        <p:spPr>
          <a:xfrm>
            <a:off x="344400" y="4573835"/>
            <a:ext cx="8229600" cy="274200"/>
          </a:xfrm>
          <a:prstGeom prst="rect">
            <a:avLst/>
          </a:prstGeom>
          <a:solidFill>
            <a:srgbClr val="0A2540"/>
          </a:solidFill>
          <a:ln cap="flat" cmpd="sng" w="12700">
            <a:solidFill>
              <a:srgbClr val="0A254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9" name="Google Shape;149;p21"/>
          <p:cNvSpPr txBox="1"/>
          <p:nvPr/>
        </p:nvSpPr>
        <p:spPr>
          <a:xfrm>
            <a:off x="2831175" y="932625"/>
            <a:ext cx="8707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1E293B"/>
              </a:buClr>
              <a:buSzPts val="2200"/>
              <a:buFont typeface="Georgia"/>
              <a:buNone/>
            </a:pPr>
            <a:r>
              <a:rPr b="1" lang="en-US" sz="2200">
                <a:solidFill>
                  <a:srgbClr val="B91C1C"/>
                </a:solidFill>
                <a:latin typeface="Georgia"/>
                <a:ea typeface="Georgia"/>
                <a:cs typeface="Georgia"/>
                <a:sym typeface="Georgia"/>
              </a:rPr>
              <a:t>"The adjudication process is a black box"</a:t>
            </a:r>
            <a:endParaRPr>
              <a:solidFill>
                <a:srgbClr val="B91C1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22"/>
          <p:cNvSpPr/>
          <p:nvPr/>
        </p:nvSpPr>
        <p:spPr>
          <a:xfrm>
            <a:off x="457200" y="566928"/>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3700" u="none" cap="none" strike="noStrike">
                <a:solidFill>
                  <a:srgbClr val="1E293B"/>
                </a:solidFill>
                <a:latin typeface="Georgia"/>
                <a:ea typeface="Georgia"/>
                <a:cs typeface="Georgia"/>
                <a:sym typeface="Georgia"/>
              </a:rPr>
              <a:t>The H-1B Process </a:t>
            </a:r>
            <a:endParaRPr b="1" sz="3700">
              <a:solidFill>
                <a:srgbClr val="1E293B"/>
              </a:solidFill>
              <a:latin typeface="Georgia"/>
              <a:ea typeface="Georgia"/>
              <a:cs typeface="Georgia"/>
              <a:sym typeface="Georgia"/>
            </a:endParaRPr>
          </a:p>
          <a:p>
            <a:pPr indent="0" lvl="0" marL="0" marR="0" rtl="0" algn="l">
              <a:spcBef>
                <a:spcPts val="0"/>
              </a:spcBef>
              <a:spcAft>
                <a:spcPts val="0"/>
              </a:spcAft>
              <a:buClr>
                <a:srgbClr val="1E293B"/>
              </a:buClr>
              <a:buSzPts val="2800"/>
              <a:buFont typeface="Georgia"/>
              <a:buNone/>
            </a:pPr>
            <a:r>
              <a:rPr b="1" lang="en-US" sz="3700">
                <a:solidFill>
                  <a:srgbClr val="1E293B"/>
                </a:solidFill>
                <a:latin typeface="Georgia"/>
                <a:ea typeface="Georgia"/>
                <a:cs typeface="Georgia"/>
                <a:sym typeface="Georgia"/>
              </a:rPr>
              <a:t>                             </a:t>
            </a:r>
            <a:r>
              <a:rPr b="1" i="0" lang="en-US" sz="3700" u="none" cap="none" strike="noStrike">
                <a:solidFill>
                  <a:srgbClr val="1E293B"/>
                </a:solidFill>
                <a:latin typeface="Georgia"/>
                <a:ea typeface="Georgia"/>
                <a:cs typeface="Georgia"/>
                <a:sym typeface="Georgia"/>
              </a:rPr>
              <a:t>— Where We Focus</a:t>
            </a:r>
            <a:endParaRPr b="0" i="0" sz="3700" u="none" cap="none" strike="noStrike">
              <a:solidFill>
                <a:schemeClr val="dk1"/>
              </a:solidFill>
              <a:latin typeface="Calibri"/>
              <a:ea typeface="Calibri"/>
              <a:cs typeface="Calibri"/>
              <a:sym typeface="Calibri"/>
            </a:endParaRPr>
          </a:p>
        </p:txBody>
      </p:sp>
      <p:sp>
        <p:nvSpPr>
          <p:cNvPr id="156" name="Google Shape;156;p22"/>
          <p:cNvSpPr/>
          <p:nvPr/>
        </p:nvSpPr>
        <p:spPr>
          <a:xfrm>
            <a:off x="168938" y="2278941"/>
            <a:ext cx="2685000" cy="23760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2"/>
          <p:cNvSpPr/>
          <p:nvPr/>
        </p:nvSpPr>
        <p:spPr>
          <a:xfrm>
            <a:off x="397463" y="2405512"/>
            <a:ext cx="640200" cy="4572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2"/>
          <p:cNvSpPr/>
          <p:nvPr/>
        </p:nvSpPr>
        <p:spPr>
          <a:xfrm>
            <a:off x="168912" y="2483156"/>
            <a:ext cx="922500" cy="32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Georgia"/>
              <a:buNone/>
            </a:pPr>
            <a:r>
              <a:rPr b="1" i="0" lang="en-US" sz="1600" u="none" cap="none" strike="noStrike">
                <a:solidFill>
                  <a:srgbClr val="FFFFFF"/>
                </a:solidFill>
                <a:latin typeface="Georgia"/>
                <a:ea typeface="Georgia"/>
                <a:cs typeface="Georgia"/>
                <a:sym typeface="Georgia"/>
              </a:rPr>
              <a:t>1</a:t>
            </a:r>
            <a:endParaRPr b="0" i="0" sz="1600" u="none" cap="none" strike="noStrike">
              <a:solidFill>
                <a:schemeClr val="dk1"/>
              </a:solidFill>
              <a:latin typeface="Calibri"/>
              <a:ea typeface="Calibri"/>
              <a:cs typeface="Calibri"/>
              <a:sym typeface="Calibri"/>
            </a:endParaRPr>
          </a:p>
        </p:txBody>
      </p:sp>
      <p:sp>
        <p:nvSpPr>
          <p:cNvPr id="159" name="Google Shape;159;p22"/>
          <p:cNvSpPr/>
          <p:nvPr/>
        </p:nvSpPr>
        <p:spPr>
          <a:xfrm>
            <a:off x="455917" y="3074621"/>
            <a:ext cx="214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500"/>
              <a:buFont typeface="Calibri"/>
              <a:buNone/>
            </a:pPr>
            <a:r>
              <a:rPr b="1" i="0" lang="en-US" sz="2000" u="none" cap="none" strike="noStrike">
                <a:solidFill>
                  <a:srgbClr val="1E293B"/>
                </a:solidFill>
                <a:latin typeface="Calibri"/>
                <a:ea typeface="Calibri"/>
                <a:cs typeface="Calibri"/>
                <a:sym typeface="Calibri"/>
              </a:rPr>
              <a:t>Registration Lottery</a:t>
            </a:r>
            <a:endParaRPr b="0" i="0" sz="2000" u="none" cap="none" strike="noStrike">
              <a:solidFill>
                <a:schemeClr val="dk1"/>
              </a:solidFill>
              <a:latin typeface="Calibri"/>
              <a:ea typeface="Calibri"/>
              <a:cs typeface="Calibri"/>
              <a:sym typeface="Calibri"/>
            </a:endParaRPr>
          </a:p>
        </p:txBody>
      </p:sp>
      <p:sp>
        <p:nvSpPr>
          <p:cNvPr id="160" name="Google Shape;160;p22"/>
          <p:cNvSpPr/>
          <p:nvPr/>
        </p:nvSpPr>
        <p:spPr>
          <a:xfrm>
            <a:off x="447017" y="3666080"/>
            <a:ext cx="2148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00"/>
              <a:buFont typeface="Calibri"/>
              <a:buNone/>
            </a:pPr>
            <a:r>
              <a:rPr b="0" i="1" lang="en-US" sz="2300" u="none" cap="none" strike="noStrike">
                <a:solidFill>
                  <a:srgbClr val="475569"/>
                </a:solidFill>
                <a:latin typeface="Calibri"/>
                <a:ea typeface="Calibri"/>
                <a:cs typeface="Calibri"/>
                <a:sym typeface="Calibri"/>
              </a:rPr>
              <a:t>USCIS electronic selection</a:t>
            </a:r>
            <a:endParaRPr b="0" i="0" sz="2300" u="none" cap="none" strike="noStrike">
              <a:solidFill>
                <a:schemeClr val="dk1"/>
              </a:solidFill>
              <a:latin typeface="Calibri"/>
              <a:ea typeface="Calibri"/>
              <a:cs typeface="Calibri"/>
              <a:sym typeface="Calibri"/>
            </a:endParaRPr>
          </a:p>
        </p:txBody>
      </p:sp>
      <p:sp>
        <p:nvSpPr>
          <p:cNvPr id="161" name="Google Shape;161;p22"/>
          <p:cNvSpPr/>
          <p:nvPr/>
        </p:nvSpPr>
        <p:spPr>
          <a:xfrm>
            <a:off x="447017" y="4062884"/>
            <a:ext cx="2148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2400"/>
              <a:buFont typeface="Georgia"/>
              <a:buNone/>
            </a:pPr>
            <a:r>
              <a:rPr b="1" i="0" lang="en-US" sz="3100" u="none" cap="none" strike="noStrike">
                <a:solidFill>
                  <a:srgbClr val="94A3B8"/>
                </a:solidFill>
                <a:latin typeface="Georgia"/>
                <a:ea typeface="Georgia"/>
                <a:cs typeface="Georgia"/>
                <a:sym typeface="Georgia"/>
              </a:rPr>
              <a:t>~25%</a:t>
            </a:r>
            <a:endParaRPr b="0" i="0" sz="3100" u="none" cap="none" strike="noStrike">
              <a:solidFill>
                <a:schemeClr val="dk1"/>
              </a:solidFill>
              <a:latin typeface="Calibri"/>
              <a:ea typeface="Calibri"/>
              <a:cs typeface="Calibri"/>
              <a:sym typeface="Calibri"/>
            </a:endParaRPr>
          </a:p>
        </p:txBody>
      </p:sp>
      <p:sp>
        <p:nvSpPr>
          <p:cNvPr id="162" name="Google Shape;162;p22"/>
          <p:cNvSpPr/>
          <p:nvPr/>
        </p:nvSpPr>
        <p:spPr>
          <a:xfrm>
            <a:off x="384862" y="4233697"/>
            <a:ext cx="214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900"/>
              <a:buFont typeface="Calibri"/>
              <a:buNone/>
            </a:pPr>
            <a:r>
              <a:t/>
            </a:r>
            <a:endParaRPr b="0" i="0" sz="1800" u="none" cap="none" strike="noStrike">
              <a:solidFill>
                <a:schemeClr val="dk1"/>
              </a:solidFill>
              <a:latin typeface="Calibri"/>
              <a:ea typeface="Calibri"/>
              <a:cs typeface="Calibri"/>
              <a:sym typeface="Calibri"/>
            </a:endParaRPr>
          </a:p>
        </p:txBody>
      </p:sp>
      <p:sp>
        <p:nvSpPr>
          <p:cNvPr id="163" name="Google Shape;163;p22"/>
          <p:cNvSpPr/>
          <p:nvPr/>
        </p:nvSpPr>
        <p:spPr>
          <a:xfrm>
            <a:off x="2876713" y="1942988"/>
            <a:ext cx="411600" cy="23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600"/>
              <a:buFont typeface="Calibri"/>
              <a:buNone/>
            </a:pPr>
            <a:r>
              <a:rPr b="1" i="0" lang="en-US" sz="2600" u="none" cap="none" strike="noStrike">
                <a:solidFill>
                  <a:srgbClr val="94A3B8"/>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164" name="Google Shape;164;p22"/>
          <p:cNvSpPr/>
          <p:nvPr/>
        </p:nvSpPr>
        <p:spPr>
          <a:xfrm>
            <a:off x="3311100" y="2244732"/>
            <a:ext cx="2514600" cy="23760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2"/>
          <p:cNvSpPr/>
          <p:nvPr/>
        </p:nvSpPr>
        <p:spPr>
          <a:xfrm>
            <a:off x="3522887" y="2462663"/>
            <a:ext cx="640200" cy="411600"/>
          </a:xfrm>
          <a:prstGeom prst="ellipse">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2"/>
          <p:cNvSpPr/>
          <p:nvPr/>
        </p:nvSpPr>
        <p:spPr>
          <a:xfrm>
            <a:off x="3681355" y="2462661"/>
            <a:ext cx="4116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540"/>
              </a:buClr>
              <a:buSzPts val="1600"/>
              <a:buFont typeface="Georgia"/>
              <a:buNone/>
            </a:pPr>
            <a:r>
              <a:rPr b="1" i="0" lang="en-US" sz="1600" u="none" cap="none" strike="noStrike">
                <a:solidFill>
                  <a:srgbClr val="0A2540"/>
                </a:solidFill>
                <a:latin typeface="Georgia"/>
                <a:ea typeface="Georgia"/>
                <a:cs typeface="Georgia"/>
                <a:sym typeface="Georgia"/>
              </a:rPr>
              <a:t>2</a:t>
            </a:r>
            <a:endParaRPr b="0" i="0" sz="1600" u="none" cap="none" strike="noStrike">
              <a:solidFill>
                <a:schemeClr val="dk1"/>
              </a:solidFill>
              <a:latin typeface="Calibri"/>
              <a:ea typeface="Calibri"/>
              <a:cs typeface="Calibri"/>
              <a:sym typeface="Calibri"/>
            </a:endParaRPr>
          </a:p>
        </p:txBody>
      </p:sp>
      <p:sp>
        <p:nvSpPr>
          <p:cNvPr id="167" name="Google Shape;167;p22"/>
          <p:cNvSpPr/>
          <p:nvPr/>
        </p:nvSpPr>
        <p:spPr>
          <a:xfrm>
            <a:off x="3427568" y="2961090"/>
            <a:ext cx="214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900" u="none" cap="none" strike="noStrike">
                <a:solidFill>
                  <a:srgbClr val="FFFFFF"/>
                </a:solidFill>
                <a:latin typeface="Calibri"/>
                <a:ea typeface="Calibri"/>
                <a:cs typeface="Calibri"/>
                <a:sym typeface="Calibri"/>
              </a:rPr>
              <a:t>Petition Adjudication</a:t>
            </a:r>
            <a:endParaRPr b="0" i="0" sz="1900" u="none" cap="none" strike="noStrike">
              <a:solidFill>
                <a:schemeClr val="dk1"/>
              </a:solidFill>
              <a:latin typeface="Calibri"/>
              <a:ea typeface="Calibri"/>
              <a:cs typeface="Calibri"/>
              <a:sym typeface="Calibri"/>
            </a:endParaRPr>
          </a:p>
        </p:txBody>
      </p:sp>
      <p:sp>
        <p:nvSpPr>
          <p:cNvPr id="168" name="Google Shape;168;p22"/>
          <p:cNvSpPr/>
          <p:nvPr/>
        </p:nvSpPr>
        <p:spPr>
          <a:xfrm>
            <a:off x="3493980" y="3469280"/>
            <a:ext cx="21489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000"/>
              <a:buFont typeface="Calibri"/>
              <a:buNone/>
            </a:pPr>
            <a:r>
              <a:rPr b="0" i="1" lang="en-US" sz="1900" u="none" cap="none" strike="noStrike">
                <a:solidFill>
                  <a:srgbClr val="CBD5E1"/>
                </a:solidFill>
                <a:latin typeface="Calibri"/>
                <a:ea typeface="Calibri"/>
                <a:cs typeface="Calibri"/>
                <a:sym typeface="Calibri"/>
              </a:rPr>
              <a:t>Form I-129 review by USCIS</a:t>
            </a:r>
            <a:endParaRPr b="0" i="0" sz="1900" u="none" cap="none" strike="noStrike">
              <a:solidFill>
                <a:schemeClr val="dk1"/>
              </a:solidFill>
              <a:latin typeface="Calibri"/>
              <a:ea typeface="Calibri"/>
              <a:cs typeface="Calibri"/>
              <a:sym typeface="Calibri"/>
            </a:endParaRPr>
          </a:p>
        </p:txBody>
      </p:sp>
      <p:sp>
        <p:nvSpPr>
          <p:cNvPr id="169" name="Google Shape;169;p22"/>
          <p:cNvSpPr/>
          <p:nvPr/>
        </p:nvSpPr>
        <p:spPr>
          <a:xfrm>
            <a:off x="3493968" y="3789659"/>
            <a:ext cx="21489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2400"/>
              <a:buFont typeface="Georgia"/>
              <a:buNone/>
            </a:pPr>
            <a:r>
              <a:rPr b="1" i="0" lang="en-US" sz="2400" u="none" cap="none" strike="noStrike">
                <a:solidFill>
                  <a:srgbClr val="F4B942"/>
                </a:solidFill>
                <a:latin typeface="Georgia"/>
                <a:ea typeface="Georgia"/>
                <a:cs typeface="Georgia"/>
                <a:sym typeface="Georgia"/>
              </a:rPr>
              <a:t>~97%</a:t>
            </a:r>
            <a:endParaRPr b="0" i="0" sz="2500" u="none" cap="none" strike="noStrike">
              <a:solidFill>
                <a:schemeClr val="dk1"/>
              </a:solidFill>
              <a:latin typeface="Calibri"/>
              <a:ea typeface="Calibri"/>
              <a:cs typeface="Calibri"/>
              <a:sym typeface="Calibri"/>
            </a:endParaRPr>
          </a:p>
        </p:txBody>
      </p:sp>
      <p:sp>
        <p:nvSpPr>
          <p:cNvPr id="170" name="Google Shape;170;p22"/>
          <p:cNvSpPr/>
          <p:nvPr/>
        </p:nvSpPr>
        <p:spPr>
          <a:xfrm>
            <a:off x="3493968" y="4168073"/>
            <a:ext cx="2148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900"/>
              <a:buFont typeface="Calibri"/>
              <a:buNone/>
            </a:pPr>
            <a:r>
              <a:rPr lang="en-US" sz="2600">
                <a:solidFill>
                  <a:srgbClr val="F4B942"/>
                </a:solidFill>
                <a:latin typeface="Calibri"/>
                <a:ea typeface="Calibri"/>
                <a:cs typeface="Calibri"/>
                <a:sym typeface="Calibri"/>
              </a:rPr>
              <a:t>A</a:t>
            </a:r>
            <a:r>
              <a:rPr b="0" i="0" lang="en-US" sz="2600" u="none" cap="none" strike="noStrike">
                <a:solidFill>
                  <a:srgbClr val="F4B942"/>
                </a:solidFill>
                <a:latin typeface="Calibri"/>
                <a:ea typeface="Calibri"/>
                <a:cs typeface="Calibri"/>
                <a:sym typeface="Calibri"/>
              </a:rPr>
              <a:t>pproval rate</a:t>
            </a:r>
            <a:endParaRPr b="0" i="0" sz="2600" u="none" cap="none" strike="noStrike">
              <a:solidFill>
                <a:schemeClr val="dk1"/>
              </a:solidFill>
              <a:latin typeface="Calibri"/>
              <a:ea typeface="Calibri"/>
              <a:cs typeface="Calibri"/>
              <a:sym typeface="Calibri"/>
            </a:endParaRPr>
          </a:p>
        </p:txBody>
      </p:sp>
      <p:sp>
        <p:nvSpPr>
          <p:cNvPr id="171" name="Google Shape;171;p22"/>
          <p:cNvSpPr/>
          <p:nvPr/>
        </p:nvSpPr>
        <p:spPr>
          <a:xfrm>
            <a:off x="3475593" y="4292984"/>
            <a:ext cx="2148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900"/>
              <a:buFont typeface="Calibri"/>
              <a:buNone/>
            </a:pPr>
            <a:r>
              <a:t/>
            </a:r>
            <a:endParaRPr b="0" i="0" sz="1800" u="none" cap="none" strike="noStrike">
              <a:solidFill>
                <a:schemeClr val="dk1"/>
              </a:solidFill>
              <a:latin typeface="Calibri"/>
              <a:ea typeface="Calibri"/>
              <a:cs typeface="Calibri"/>
              <a:sym typeface="Calibri"/>
            </a:endParaRPr>
          </a:p>
        </p:txBody>
      </p:sp>
      <p:sp>
        <p:nvSpPr>
          <p:cNvPr id="172" name="Google Shape;172;p22"/>
          <p:cNvSpPr/>
          <p:nvPr/>
        </p:nvSpPr>
        <p:spPr>
          <a:xfrm>
            <a:off x="5848513" y="2056725"/>
            <a:ext cx="411600" cy="217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2600"/>
              <a:buFont typeface="Calibri"/>
              <a:buNone/>
            </a:pPr>
            <a:r>
              <a:rPr b="1" i="0" lang="en-US" sz="2600" u="none" cap="none" strike="noStrike">
                <a:solidFill>
                  <a:srgbClr val="94A3B8"/>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173" name="Google Shape;173;p22"/>
          <p:cNvSpPr/>
          <p:nvPr/>
        </p:nvSpPr>
        <p:spPr>
          <a:xfrm>
            <a:off x="6345588" y="2244731"/>
            <a:ext cx="2629500" cy="2410200"/>
          </a:xfrm>
          <a:prstGeom prst="rect">
            <a:avLst/>
          </a:prstGeom>
          <a:solidFill>
            <a:srgbClr val="F1F5F9"/>
          </a:solidFill>
          <a:ln cap="flat" cmpd="sng" w="10175">
            <a:solidFill>
              <a:srgbClr val="E2E8F0"/>
            </a:solidFill>
            <a:prstDash val="solid"/>
            <a:round/>
            <a:headEnd len="sm" w="sm" type="none"/>
            <a:tailEnd len="sm" w="sm" type="none"/>
          </a:ln>
        </p:spPr>
        <p:txBody>
          <a:bodyPr anchorCtr="0" anchor="ctr" bIns="97625" lIns="97625" spcFirstLastPara="1" rIns="97625" wrap="square" tIns="97625">
            <a:noAutofit/>
          </a:bodyPr>
          <a:lstStyle/>
          <a:p>
            <a:pPr indent="0" lvl="0" marL="0" rtl="0" algn="l">
              <a:spcBef>
                <a:spcPts val="0"/>
              </a:spcBef>
              <a:spcAft>
                <a:spcPts val="0"/>
              </a:spcAft>
              <a:buNone/>
            </a:pPr>
            <a:r>
              <a:t/>
            </a:r>
            <a:endParaRPr/>
          </a:p>
        </p:txBody>
      </p:sp>
      <p:sp>
        <p:nvSpPr>
          <p:cNvPr id="174" name="Google Shape;174;p22"/>
          <p:cNvSpPr/>
          <p:nvPr/>
        </p:nvSpPr>
        <p:spPr>
          <a:xfrm>
            <a:off x="6540889" y="2469206"/>
            <a:ext cx="701100" cy="411600"/>
          </a:xfrm>
          <a:prstGeom prst="ellipse">
            <a:avLst/>
          </a:prstGeom>
          <a:solidFill>
            <a:srgbClr val="1C7293"/>
          </a:solidFill>
          <a:ln cap="flat" cmpd="sng" w="13550">
            <a:solidFill>
              <a:srgbClr val="1C7293"/>
            </a:solidFill>
            <a:prstDash val="solid"/>
            <a:round/>
            <a:headEnd len="sm" w="sm" type="none"/>
            <a:tailEnd len="sm" w="sm" type="none"/>
          </a:ln>
        </p:spPr>
        <p:txBody>
          <a:bodyPr anchorCtr="0" anchor="ctr" bIns="97625" lIns="97625" spcFirstLastPara="1" rIns="97625" wrap="square" tIns="97625">
            <a:noAutofit/>
          </a:bodyPr>
          <a:lstStyle/>
          <a:p>
            <a:pPr indent="0" lvl="0" marL="0" rtl="0" algn="l">
              <a:spcBef>
                <a:spcPts val="0"/>
              </a:spcBef>
              <a:spcAft>
                <a:spcPts val="0"/>
              </a:spcAft>
              <a:buNone/>
            </a:pPr>
            <a:r>
              <a:t/>
            </a:r>
            <a:endParaRPr/>
          </a:p>
        </p:txBody>
      </p:sp>
      <p:sp>
        <p:nvSpPr>
          <p:cNvPr id="175" name="Google Shape;175;p22"/>
          <p:cNvSpPr/>
          <p:nvPr/>
        </p:nvSpPr>
        <p:spPr>
          <a:xfrm>
            <a:off x="6648310" y="2455552"/>
            <a:ext cx="439500" cy="456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708"/>
              <a:buFont typeface="Georgia"/>
              <a:buNone/>
            </a:pPr>
            <a:r>
              <a:rPr b="1" i="0" lang="en-US" sz="1708" u="none" cap="none" strike="noStrike">
                <a:solidFill>
                  <a:srgbClr val="FFFFFF"/>
                </a:solidFill>
                <a:latin typeface="Georgia"/>
                <a:ea typeface="Georgia"/>
                <a:cs typeface="Georgia"/>
                <a:sym typeface="Georgia"/>
              </a:rPr>
              <a:t>3</a:t>
            </a:r>
            <a:endParaRPr b="0" i="0" sz="1708" u="none" cap="none" strike="noStrike">
              <a:solidFill>
                <a:schemeClr val="dk1"/>
              </a:solidFill>
              <a:latin typeface="Calibri"/>
              <a:ea typeface="Calibri"/>
              <a:cs typeface="Calibri"/>
              <a:sym typeface="Calibri"/>
            </a:endParaRPr>
          </a:p>
        </p:txBody>
      </p:sp>
      <p:sp>
        <p:nvSpPr>
          <p:cNvPr id="176" name="Google Shape;176;p22"/>
          <p:cNvSpPr/>
          <p:nvPr/>
        </p:nvSpPr>
        <p:spPr>
          <a:xfrm>
            <a:off x="6532185" y="2959550"/>
            <a:ext cx="2294400" cy="354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602"/>
              <a:buFont typeface="Calibri"/>
              <a:buNone/>
            </a:pPr>
            <a:r>
              <a:rPr b="1" i="0" lang="en-US" sz="2300" u="none" cap="none" strike="noStrike">
                <a:solidFill>
                  <a:srgbClr val="1E293B"/>
                </a:solidFill>
                <a:latin typeface="Calibri"/>
                <a:ea typeface="Calibri"/>
                <a:cs typeface="Calibri"/>
                <a:sym typeface="Calibri"/>
              </a:rPr>
              <a:t>Visa Issuance</a:t>
            </a:r>
            <a:endParaRPr b="0" i="0" sz="2300" u="none" cap="none" strike="noStrike">
              <a:solidFill>
                <a:schemeClr val="dk1"/>
              </a:solidFill>
              <a:latin typeface="Calibri"/>
              <a:ea typeface="Calibri"/>
              <a:cs typeface="Calibri"/>
              <a:sym typeface="Calibri"/>
            </a:endParaRPr>
          </a:p>
        </p:txBody>
      </p:sp>
      <p:sp>
        <p:nvSpPr>
          <p:cNvPr id="177" name="Google Shape;177;p22"/>
          <p:cNvSpPr/>
          <p:nvPr/>
        </p:nvSpPr>
        <p:spPr>
          <a:xfrm>
            <a:off x="6540863" y="3960020"/>
            <a:ext cx="2294400" cy="354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68"/>
              <a:buFont typeface="Calibri"/>
              <a:buNone/>
            </a:pPr>
            <a:r>
              <a:rPr i="1" lang="en-US" sz="2200">
                <a:solidFill>
                  <a:srgbClr val="475569"/>
                </a:solidFill>
                <a:latin typeface="Calibri"/>
                <a:ea typeface="Calibri"/>
                <a:cs typeface="Calibri"/>
                <a:sym typeface="Calibri"/>
              </a:rPr>
              <a:t>S</a:t>
            </a:r>
            <a:r>
              <a:rPr b="0" i="1" lang="en-US" sz="2200" u="none" cap="none" strike="noStrike">
                <a:solidFill>
                  <a:srgbClr val="475569"/>
                </a:solidFill>
                <a:latin typeface="Calibri"/>
                <a:ea typeface="Calibri"/>
                <a:cs typeface="Calibri"/>
                <a:sym typeface="Calibri"/>
              </a:rPr>
              <a:t>tatus change</a:t>
            </a:r>
            <a:endParaRPr b="0" i="0" sz="2200" u="none" cap="none" strike="noStrike">
              <a:solidFill>
                <a:schemeClr val="dk1"/>
              </a:solidFill>
              <a:latin typeface="Calibri"/>
              <a:ea typeface="Calibri"/>
              <a:cs typeface="Calibri"/>
              <a:sym typeface="Calibri"/>
            </a:endParaRPr>
          </a:p>
        </p:txBody>
      </p:sp>
      <p:sp>
        <p:nvSpPr>
          <p:cNvPr id="178" name="Google Shape;178;p22"/>
          <p:cNvSpPr/>
          <p:nvPr/>
        </p:nvSpPr>
        <p:spPr>
          <a:xfrm>
            <a:off x="3610475" y="1942894"/>
            <a:ext cx="1783200" cy="274200"/>
          </a:xfrm>
          <a:prstGeom prst="rect">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2"/>
          <p:cNvSpPr/>
          <p:nvPr/>
        </p:nvSpPr>
        <p:spPr>
          <a:xfrm>
            <a:off x="3610423" y="1942894"/>
            <a:ext cx="17832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2540"/>
              </a:buClr>
              <a:buSzPts val="1000"/>
              <a:buFont typeface="Calibri"/>
              <a:buNone/>
            </a:pPr>
            <a:r>
              <a:rPr b="1" i="0" lang="en-US" sz="1900" u="none" cap="none" strike="noStrike">
                <a:solidFill>
                  <a:srgbClr val="0A2540"/>
                </a:solidFill>
                <a:latin typeface="Calibri"/>
                <a:ea typeface="Calibri"/>
                <a:cs typeface="Calibri"/>
                <a:sym typeface="Calibri"/>
              </a:rPr>
              <a:t>OUR SCOPE</a:t>
            </a:r>
            <a:endParaRPr b="0" i="0" sz="1900" u="none" cap="none" strike="noStrike">
              <a:solidFill>
                <a:schemeClr val="dk1"/>
              </a:solidFill>
              <a:latin typeface="Calibri"/>
              <a:ea typeface="Calibri"/>
              <a:cs typeface="Calibri"/>
              <a:sym typeface="Calibri"/>
            </a:endParaRPr>
          </a:p>
        </p:txBody>
      </p:sp>
      <p:sp>
        <p:nvSpPr>
          <p:cNvPr id="180" name="Google Shape;180;p22"/>
          <p:cNvSpPr/>
          <p:nvPr/>
        </p:nvSpPr>
        <p:spPr>
          <a:xfrm>
            <a:off x="8024773" y="4960504"/>
            <a:ext cx="6402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3 / 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3"/>
          <p:cNvSpPr txBox="1"/>
          <p:nvPr>
            <p:ph type="title"/>
          </p:nvPr>
        </p:nvSpPr>
        <p:spPr>
          <a:xfrm>
            <a:off x="228751" y="196372"/>
            <a:ext cx="8686500" cy="435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2D50"/>
              </a:buClr>
              <a:buSzPts val="2430"/>
              <a:buFont typeface="Helvetica Neue"/>
              <a:buNone/>
            </a:pPr>
            <a:r>
              <a:rPr lang="en-US" sz="2631"/>
              <a:t>Dataset</a:t>
            </a:r>
            <a:endParaRPr sz="2631"/>
          </a:p>
        </p:txBody>
      </p:sp>
      <p:sp>
        <p:nvSpPr>
          <p:cNvPr id="187" name="Google Shape;187;p23"/>
          <p:cNvSpPr txBox="1"/>
          <p:nvPr/>
        </p:nvSpPr>
        <p:spPr>
          <a:xfrm>
            <a:off x="325397" y="1019635"/>
            <a:ext cx="8066700" cy="34479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lang="en-US" sz="1700">
                <a:solidFill>
                  <a:schemeClr val="dk1"/>
                </a:solidFill>
              </a:rPr>
              <a:t>1.USCIS</a:t>
            </a:r>
            <a:r>
              <a:rPr lang="en-US" sz="1700">
                <a:solidFill>
                  <a:schemeClr val="dk1"/>
                </a:solidFill>
              </a:rPr>
              <a:t> — H-1B Employer Data Hub</a:t>
            </a:r>
            <a:endParaRPr sz="1700">
              <a:solidFill>
                <a:schemeClr val="dk1"/>
              </a:solidFill>
            </a:endParaRPr>
          </a:p>
          <a:p>
            <a:pPr indent="-336550" lvl="0" marL="457200" marR="0" rtl="0" algn="l">
              <a:lnSpc>
                <a:spcPct val="120000"/>
              </a:lnSpc>
              <a:spcBef>
                <a:spcPts val="0"/>
              </a:spcBef>
              <a:spcAft>
                <a:spcPts val="0"/>
              </a:spcAft>
              <a:buClr>
                <a:srgbClr val="188038"/>
              </a:buClr>
              <a:buSzPts val="1700"/>
              <a:buChar char="●"/>
            </a:pPr>
            <a:r>
              <a:rPr lang="en-US" sz="1700">
                <a:solidFill>
                  <a:srgbClr val="188038"/>
                </a:solidFill>
              </a:rPr>
              <a:t>State, industry, and approval/denial counts</a:t>
            </a:r>
            <a:endParaRPr sz="1700">
              <a:solidFill>
                <a:srgbClr val="188038"/>
              </a:solidFill>
            </a:endParaRPr>
          </a:p>
          <a:p>
            <a:pPr indent="0" lvl="0" marL="457200" marR="0" rtl="0" algn="l">
              <a:lnSpc>
                <a:spcPct val="120000"/>
              </a:lnSpc>
              <a:spcBef>
                <a:spcPts val="0"/>
              </a:spcBef>
              <a:spcAft>
                <a:spcPts val="0"/>
              </a:spcAft>
              <a:buNone/>
            </a:pPr>
            <a:r>
              <a:t/>
            </a:r>
            <a:endParaRPr sz="1700">
              <a:solidFill>
                <a:srgbClr val="188038"/>
              </a:solidFill>
            </a:endParaRPr>
          </a:p>
          <a:p>
            <a:pPr indent="0" lvl="0" marL="0" marR="0" rtl="0" algn="l">
              <a:lnSpc>
                <a:spcPct val="120000"/>
              </a:lnSpc>
              <a:spcBef>
                <a:spcPts val="0"/>
              </a:spcBef>
              <a:spcAft>
                <a:spcPts val="0"/>
              </a:spcAft>
              <a:buNone/>
            </a:pPr>
            <a:r>
              <a:rPr b="1" lang="en-US" sz="1700">
                <a:solidFill>
                  <a:schemeClr val="dk1"/>
                </a:solidFill>
              </a:rPr>
              <a:t>2.OFLC LCA</a:t>
            </a:r>
            <a:r>
              <a:rPr lang="en-US" sz="1700">
                <a:solidFill>
                  <a:schemeClr val="dk1"/>
                </a:solidFill>
              </a:rPr>
              <a:t> </a:t>
            </a:r>
            <a:endParaRPr sz="1700">
              <a:solidFill>
                <a:schemeClr val="dk1"/>
              </a:solidFill>
            </a:endParaRPr>
          </a:p>
          <a:p>
            <a:pPr indent="0" lvl="0" marL="0" marR="0" rtl="0" algn="l">
              <a:lnSpc>
                <a:spcPct val="120000"/>
              </a:lnSpc>
              <a:spcBef>
                <a:spcPts val="0"/>
              </a:spcBef>
              <a:spcAft>
                <a:spcPts val="0"/>
              </a:spcAft>
              <a:buNone/>
            </a:pPr>
            <a:r>
              <a:rPr lang="en-US" sz="1700">
                <a:solidFill>
                  <a:schemeClr val="dk1"/>
                </a:solidFill>
              </a:rPr>
              <a:t>— </a:t>
            </a:r>
            <a:r>
              <a:rPr lang="en-US" sz="1700">
                <a:solidFill>
                  <a:schemeClr val="dk1"/>
                </a:solidFill>
              </a:rPr>
              <a:t>Department of Labor's Labor Condition Application disclosures</a:t>
            </a:r>
            <a:endParaRPr sz="1700">
              <a:solidFill>
                <a:schemeClr val="dk1"/>
              </a:solidFill>
            </a:endParaRPr>
          </a:p>
          <a:p>
            <a:pPr indent="-336550" lvl="0" marL="457200" marR="0" rtl="0" algn="l">
              <a:lnSpc>
                <a:spcPct val="120000"/>
              </a:lnSpc>
              <a:spcBef>
                <a:spcPts val="0"/>
              </a:spcBef>
              <a:spcAft>
                <a:spcPts val="0"/>
              </a:spcAft>
              <a:buClr>
                <a:srgbClr val="188038"/>
              </a:buClr>
              <a:buSzPts val="1700"/>
              <a:buChar char="●"/>
            </a:pPr>
            <a:r>
              <a:rPr lang="en-US" sz="1700">
                <a:solidFill>
                  <a:srgbClr val="188038"/>
                </a:solidFill>
                <a:latin typeface="Roboto Mono"/>
                <a:ea typeface="Roboto Mono"/>
                <a:cs typeface="Roboto Mono"/>
                <a:sym typeface="Roboto Mono"/>
              </a:rPr>
              <a:t>Worksite City / State, AVG_ANNUAL_WAGE</a:t>
            </a:r>
            <a:r>
              <a:rPr lang="en-US" sz="1700">
                <a:solidFill>
                  <a:srgbClr val="188038"/>
                </a:solidFill>
              </a:rPr>
              <a:t> </a:t>
            </a:r>
            <a:endParaRPr sz="1700">
              <a:solidFill>
                <a:srgbClr val="188038"/>
              </a:solidFill>
            </a:endParaRPr>
          </a:p>
          <a:p>
            <a:pPr indent="0" lvl="0" marL="0" marR="0" rtl="0" algn="l">
              <a:lnSpc>
                <a:spcPct val="120000"/>
              </a:lnSpc>
              <a:spcBef>
                <a:spcPts val="0"/>
              </a:spcBef>
              <a:spcAft>
                <a:spcPts val="0"/>
              </a:spcAft>
              <a:buNone/>
            </a:pPr>
            <a:r>
              <a:t/>
            </a:r>
            <a:endParaRPr sz="1700">
              <a:solidFill>
                <a:srgbClr val="188038"/>
              </a:solidFill>
            </a:endParaRPr>
          </a:p>
          <a:p>
            <a:pPr indent="0" lvl="0" marL="0" marR="0" rtl="0" algn="l">
              <a:lnSpc>
                <a:spcPct val="120000"/>
              </a:lnSpc>
              <a:spcBef>
                <a:spcPts val="0"/>
              </a:spcBef>
              <a:spcAft>
                <a:spcPts val="0"/>
              </a:spcAft>
              <a:buNone/>
            </a:pPr>
            <a:r>
              <a:rPr lang="en-US" sz="1700">
                <a:solidFill>
                  <a:schemeClr val="dk1"/>
                </a:solidFill>
              </a:rPr>
              <a:t>3.</a:t>
            </a:r>
            <a:r>
              <a:rPr b="1" lang="en-US" sz="1700">
                <a:solidFill>
                  <a:schemeClr val="dk1"/>
                </a:solidFill>
              </a:rPr>
              <a:t>U.S. Census Bureau</a:t>
            </a:r>
            <a:r>
              <a:rPr lang="en-US" sz="1700">
                <a:solidFill>
                  <a:schemeClr val="dk1"/>
                </a:solidFill>
              </a:rPr>
              <a:t> and the </a:t>
            </a:r>
            <a:r>
              <a:rPr b="1" lang="en-US" sz="1700">
                <a:solidFill>
                  <a:schemeClr val="dk1"/>
                </a:solidFill>
              </a:rPr>
              <a:t>Bureau of Labor Statistics (BLS)</a:t>
            </a:r>
            <a:r>
              <a:rPr lang="en-US" sz="1700">
                <a:solidFill>
                  <a:schemeClr val="dk1"/>
                </a:solidFill>
              </a:rPr>
              <a:t>  </a:t>
            </a:r>
            <a:endParaRPr sz="1700">
              <a:solidFill>
                <a:schemeClr val="dk1"/>
              </a:solidFill>
            </a:endParaRPr>
          </a:p>
          <a:p>
            <a:pPr indent="0" lvl="0" marL="0" marR="0" rtl="0" algn="l">
              <a:lnSpc>
                <a:spcPct val="120000"/>
              </a:lnSpc>
              <a:spcBef>
                <a:spcPts val="0"/>
              </a:spcBef>
              <a:spcAft>
                <a:spcPts val="0"/>
              </a:spcAft>
              <a:buNone/>
            </a:pPr>
            <a:r>
              <a:rPr lang="en-US" sz="1700">
                <a:solidFill>
                  <a:schemeClr val="dk1"/>
                </a:solidFill>
              </a:rPr>
              <a:t>— City-level economic indicators</a:t>
            </a:r>
            <a:endParaRPr sz="1700">
              <a:solidFill>
                <a:schemeClr val="dk1"/>
              </a:solidFill>
            </a:endParaRPr>
          </a:p>
          <a:p>
            <a:pPr indent="-336550" lvl="0" marL="457200" marR="0" rtl="0" algn="l">
              <a:lnSpc>
                <a:spcPct val="120000"/>
              </a:lnSpc>
              <a:spcBef>
                <a:spcPts val="0"/>
              </a:spcBef>
              <a:spcAft>
                <a:spcPts val="0"/>
              </a:spcAft>
              <a:buClr>
                <a:srgbClr val="188038"/>
              </a:buClr>
              <a:buSzPts val="1700"/>
              <a:buChar char="●"/>
            </a:pPr>
            <a:r>
              <a:rPr lang="en-US" sz="1700">
                <a:solidFill>
                  <a:srgbClr val="188038"/>
                </a:solidFill>
              </a:rPr>
              <a:t>Population, density, rent, employment rates</a:t>
            </a:r>
            <a:endParaRPr sz="1700">
              <a:solidFill>
                <a:srgbClr val="188038"/>
              </a:solidFill>
            </a:endParaRPr>
          </a:p>
          <a:p>
            <a:pPr indent="0" lvl="0" marL="0" marR="0" rtl="0" algn="l">
              <a:lnSpc>
                <a:spcPct val="120000"/>
              </a:lnSpc>
              <a:spcBef>
                <a:spcPts val="0"/>
              </a:spcBef>
              <a:spcAft>
                <a:spcPts val="0"/>
              </a:spcAft>
              <a:buNone/>
            </a:pPr>
            <a:r>
              <a:t/>
            </a:r>
            <a:endParaRPr/>
          </a:p>
        </p:txBody>
      </p:sp>
      <p:sp>
        <p:nvSpPr>
          <p:cNvPr id="188" name="Google Shape;188;p23"/>
          <p:cNvSpPr txBox="1"/>
          <p:nvPr/>
        </p:nvSpPr>
        <p:spPr>
          <a:xfrm>
            <a:off x="4683208" y="16144638"/>
            <a:ext cx="4376100" cy="6003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0" lang="en-US" sz="1500" u="none" cap="none" strike="noStrike">
                <a:solidFill>
                  <a:schemeClr val="dk1"/>
                </a:solidFill>
                <a:latin typeface="Helvetica Neue"/>
                <a:ea typeface="Helvetica Neue"/>
                <a:cs typeface="Helvetica Neue"/>
                <a:sym typeface="Helvetica Neue"/>
              </a:rPr>
              <a:t>Bulleted Text Style Title—</a:t>
            </a:r>
            <a:br>
              <a:rPr b="1" i="0" lang="en-US" sz="1500" u="none" cap="none" strike="noStrike">
                <a:solidFill>
                  <a:schemeClr val="dk1"/>
                </a:solidFill>
                <a:latin typeface="Helvetica Neue"/>
                <a:ea typeface="Helvetica Neue"/>
                <a:cs typeface="Helvetica Neue"/>
                <a:sym typeface="Helvetica Neue"/>
              </a:rPr>
            </a:br>
            <a:r>
              <a:rPr b="1" i="0" lang="en-US" sz="1500" u="none" cap="none" strike="noStrike">
                <a:solidFill>
                  <a:schemeClr val="dk1"/>
                </a:solidFill>
                <a:latin typeface="Helvetica Neue"/>
                <a:ea typeface="Helvetica Neue"/>
                <a:cs typeface="Helvetica Neue"/>
                <a:sym typeface="Helvetica Neue"/>
              </a:rPr>
              <a:t>Helvetica Neue 20pt Bold</a:t>
            </a:r>
            <a:endParaRPr/>
          </a:p>
        </p:txBody>
      </p:sp>
      <p:pic>
        <p:nvPicPr>
          <p:cNvPr id="189" name="Google Shape;189;p23"/>
          <p:cNvPicPr preferRelativeResize="0"/>
          <p:nvPr/>
        </p:nvPicPr>
        <p:blipFill>
          <a:blip r:embed="rId3">
            <a:alphaModFix/>
          </a:blip>
          <a:stretch>
            <a:fillRect/>
          </a:stretch>
        </p:blipFill>
        <p:spPr>
          <a:xfrm>
            <a:off x="5816613" y="631675"/>
            <a:ext cx="1387375" cy="1173100"/>
          </a:xfrm>
          <a:prstGeom prst="rect">
            <a:avLst/>
          </a:prstGeom>
          <a:noFill/>
          <a:ln>
            <a:noFill/>
          </a:ln>
        </p:spPr>
      </p:pic>
      <p:pic>
        <p:nvPicPr>
          <p:cNvPr id="190" name="Google Shape;190;p23"/>
          <p:cNvPicPr preferRelativeResize="0"/>
          <p:nvPr/>
        </p:nvPicPr>
        <p:blipFill>
          <a:blip r:embed="rId4">
            <a:alphaModFix/>
          </a:blip>
          <a:stretch>
            <a:fillRect/>
          </a:stretch>
        </p:blipFill>
        <p:spPr>
          <a:xfrm>
            <a:off x="7623245" y="1725795"/>
            <a:ext cx="1223975" cy="1223975"/>
          </a:xfrm>
          <a:prstGeom prst="rect">
            <a:avLst/>
          </a:prstGeom>
          <a:noFill/>
          <a:ln>
            <a:noFill/>
          </a:ln>
        </p:spPr>
      </p:pic>
      <p:pic>
        <p:nvPicPr>
          <p:cNvPr id="191" name="Google Shape;191;p23"/>
          <p:cNvPicPr preferRelativeResize="0"/>
          <p:nvPr/>
        </p:nvPicPr>
        <p:blipFill>
          <a:blip r:embed="rId5">
            <a:alphaModFix/>
          </a:blip>
          <a:stretch>
            <a:fillRect/>
          </a:stretch>
        </p:blipFill>
        <p:spPr>
          <a:xfrm>
            <a:off x="7623250" y="3243550"/>
            <a:ext cx="1397064" cy="1223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 name="Shape 196"/>
        <p:cNvGrpSpPr/>
        <p:nvPr/>
      </p:nvGrpSpPr>
      <p:grpSpPr>
        <a:xfrm>
          <a:off x="0" y="0"/>
          <a:ext cx="0" cy="0"/>
          <a:chOff x="0" y="0"/>
          <a:chExt cx="0" cy="0"/>
        </a:xfrm>
      </p:grpSpPr>
      <p:sp>
        <p:nvSpPr>
          <p:cNvPr id="197" name="Google Shape;197;p24"/>
          <p:cNvSpPr/>
          <p:nvPr/>
        </p:nvSpPr>
        <p:spPr>
          <a:xfrm>
            <a:off x="457200" y="2743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LAYER 01  —  DEMAND (CASSIE ZHANG)</a:t>
            </a:r>
            <a:endParaRPr b="0" i="0" sz="1000" u="none" cap="none" strike="noStrike">
              <a:solidFill>
                <a:schemeClr val="dk1"/>
              </a:solidFill>
              <a:latin typeface="Calibri"/>
              <a:ea typeface="Calibri"/>
              <a:cs typeface="Calibri"/>
              <a:sym typeface="Calibri"/>
            </a:endParaRPr>
          </a:p>
        </p:txBody>
      </p:sp>
      <p:sp>
        <p:nvSpPr>
          <p:cNvPr id="198" name="Google Shape;198;p24"/>
          <p:cNvSpPr/>
          <p:nvPr/>
        </p:nvSpPr>
        <p:spPr>
          <a:xfrm>
            <a:off x="457200" y="566928"/>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Economic Geography Predicts Where Petitions Cluster</a:t>
            </a:r>
            <a:endParaRPr b="0" i="0" sz="2800" u="none" cap="none" strike="noStrike">
              <a:solidFill>
                <a:schemeClr val="dk1"/>
              </a:solidFill>
              <a:latin typeface="Calibri"/>
              <a:ea typeface="Calibri"/>
              <a:cs typeface="Calibri"/>
              <a:sym typeface="Calibri"/>
            </a:endParaRPr>
          </a:p>
        </p:txBody>
      </p:sp>
      <p:sp>
        <p:nvSpPr>
          <p:cNvPr id="199" name="Google Shape;199;p24"/>
          <p:cNvSpPr/>
          <p:nvPr/>
        </p:nvSpPr>
        <p:spPr>
          <a:xfrm>
            <a:off x="457200" y="1280160"/>
            <a:ext cx="8412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1" lang="en-US" sz="1300" u="none" cap="none" strike="noStrike">
                <a:solidFill>
                  <a:srgbClr val="475569"/>
                </a:solidFill>
                <a:latin typeface="Calibri"/>
                <a:ea typeface="Calibri"/>
                <a:cs typeface="Calibri"/>
                <a:sym typeface="Calibri"/>
              </a:rPr>
              <a:t>LCA + Census features classify cities by petition volume</a:t>
            </a:r>
            <a:endParaRPr b="0" i="0" sz="1300" u="none" cap="none" strike="noStrike">
              <a:solidFill>
                <a:schemeClr val="dk1"/>
              </a:solidFill>
              <a:latin typeface="Calibri"/>
              <a:ea typeface="Calibri"/>
              <a:cs typeface="Calibri"/>
              <a:sym typeface="Calibri"/>
            </a:endParaRPr>
          </a:p>
        </p:txBody>
      </p:sp>
      <p:sp>
        <p:nvSpPr>
          <p:cNvPr id="200" name="Google Shape;200;p24"/>
          <p:cNvSpPr/>
          <p:nvPr/>
        </p:nvSpPr>
        <p:spPr>
          <a:xfrm>
            <a:off x="457200" y="1783080"/>
            <a:ext cx="3474600" cy="28347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4"/>
          <p:cNvSpPr/>
          <p:nvPr/>
        </p:nvSpPr>
        <p:spPr>
          <a:xfrm>
            <a:off x="731520" y="2057400"/>
            <a:ext cx="2926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1000"/>
              <a:buFont typeface="Calibri"/>
              <a:buNone/>
            </a:pPr>
            <a:r>
              <a:rPr b="1" i="0" lang="en-US" sz="1000" u="none" cap="none" strike="noStrike">
                <a:solidFill>
                  <a:srgbClr val="059669"/>
                </a:solidFill>
                <a:latin typeface="Calibri"/>
                <a:ea typeface="Calibri"/>
                <a:cs typeface="Calibri"/>
                <a:sym typeface="Calibri"/>
              </a:rPr>
              <a:t>CLASSIFICATION TASK</a:t>
            </a:r>
            <a:endParaRPr b="0" i="0" sz="1000" u="none" cap="none" strike="noStrike">
              <a:solidFill>
                <a:schemeClr val="dk1"/>
              </a:solidFill>
              <a:latin typeface="Calibri"/>
              <a:ea typeface="Calibri"/>
              <a:cs typeface="Calibri"/>
              <a:sym typeface="Calibri"/>
            </a:endParaRPr>
          </a:p>
        </p:txBody>
      </p:sp>
      <p:sp>
        <p:nvSpPr>
          <p:cNvPr id="202" name="Google Shape;202;p24"/>
          <p:cNvSpPr/>
          <p:nvPr/>
        </p:nvSpPr>
        <p:spPr>
          <a:xfrm>
            <a:off x="731520" y="2286000"/>
            <a:ext cx="2926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200"/>
              <a:buFont typeface="Calibri"/>
              <a:buNone/>
            </a:pPr>
            <a:r>
              <a:rPr b="0" i="1" lang="en-US" sz="1200" u="none" cap="none" strike="noStrike">
                <a:solidFill>
                  <a:srgbClr val="CBD5E1"/>
                </a:solidFill>
                <a:latin typeface="Calibri"/>
                <a:ea typeface="Calibri"/>
                <a:cs typeface="Calibri"/>
                <a:sym typeface="Calibri"/>
              </a:rPr>
              <a:t>Low / Medium / High petition volume</a:t>
            </a:r>
            <a:endParaRPr b="0" i="0" sz="1200" u="none" cap="none" strike="noStrike">
              <a:solidFill>
                <a:schemeClr val="dk1"/>
              </a:solidFill>
              <a:latin typeface="Calibri"/>
              <a:ea typeface="Calibri"/>
              <a:cs typeface="Calibri"/>
              <a:sym typeface="Calibri"/>
            </a:endParaRPr>
          </a:p>
        </p:txBody>
      </p:sp>
      <p:sp>
        <p:nvSpPr>
          <p:cNvPr id="203" name="Google Shape;203;p24"/>
          <p:cNvSpPr/>
          <p:nvPr/>
        </p:nvSpPr>
        <p:spPr>
          <a:xfrm>
            <a:off x="731520" y="2697480"/>
            <a:ext cx="29262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8400"/>
              <a:buFont typeface="Georgia"/>
              <a:buNone/>
            </a:pPr>
            <a:r>
              <a:rPr b="1" i="0" lang="en-US" sz="8400" u="none" cap="none" strike="noStrike">
                <a:solidFill>
                  <a:srgbClr val="059669"/>
                </a:solidFill>
                <a:latin typeface="Georgia"/>
                <a:ea typeface="Georgia"/>
                <a:cs typeface="Georgia"/>
                <a:sym typeface="Georgia"/>
              </a:rPr>
              <a:t>0.79</a:t>
            </a:r>
            <a:endParaRPr b="0" i="0" sz="8400" u="none" cap="none" strike="noStrike">
              <a:solidFill>
                <a:schemeClr val="dk1"/>
              </a:solidFill>
              <a:latin typeface="Calibri"/>
              <a:ea typeface="Calibri"/>
              <a:cs typeface="Calibri"/>
              <a:sym typeface="Calibri"/>
            </a:endParaRPr>
          </a:p>
        </p:txBody>
      </p:sp>
      <p:sp>
        <p:nvSpPr>
          <p:cNvPr id="204" name="Google Shape;204;p24"/>
          <p:cNvSpPr/>
          <p:nvPr/>
        </p:nvSpPr>
        <p:spPr>
          <a:xfrm>
            <a:off x="731520" y="3749040"/>
            <a:ext cx="2926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AUC  —  High-demand class</a:t>
            </a:r>
            <a:endParaRPr b="0" i="0" sz="1200" u="none" cap="none" strike="noStrike">
              <a:solidFill>
                <a:schemeClr val="dk1"/>
              </a:solidFill>
              <a:latin typeface="Calibri"/>
              <a:ea typeface="Calibri"/>
              <a:cs typeface="Calibri"/>
              <a:sym typeface="Calibri"/>
            </a:endParaRPr>
          </a:p>
        </p:txBody>
      </p:sp>
      <p:cxnSp>
        <p:nvCxnSpPr>
          <p:cNvPr id="205" name="Google Shape;205;p24"/>
          <p:cNvCxnSpPr/>
          <p:nvPr/>
        </p:nvCxnSpPr>
        <p:spPr>
          <a:xfrm>
            <a:off x="731520" y="4114800"/>
            <a:ext cx="2926200" cy="0"/>
          </a:xfrm>
          <a:prstGeom prst="straightConnector1">
            <a:avLst/>
          </a:prstGeom>
          <a:noFill/>
          <a:ln cap="flat" cmpd="sng" w="12700">
            <a:solidFill>
              <a:srgbClr val="1C7293"/>
            </a:solidFill>
            <a:prstDash val="solid"/>
            <a:round/>
            <a:headEnd len="sm" w="sm" type="none"/>
            <a:tailEnd len="sm" w="sm" type="none"/>
          </a:ln>
        </p:spPr>
      </p:cxnSp>
      <p:sp>
        <p:nvSpPr>
          <p:cNvPr id="206" name="Google Shape;206;p24"/>
          <p:cNvSpPr/>
          <p:nvPr/>
        </p:nvSpPr>
        <p:spPr>
          <a:xfrm>
            <a:off x="731520" y="4251960"/>
            <a:ext cx="292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000"/>
              <a:buFont typeface="Calibri"/>
              <a:buNone/>
            </a:pPr>
            <a:r>
              <a:rPr b="0" i="0" lang="en-US" sz="1000" u="none" cap="none" strike="noStrike">
                <a:solidFill>
                  <a:srgbClr val="CBD5E1"/>
                </a:solidFill>
                <a:latin typeface="Calibri"/>
                <a:ea typeface="Calibri"/>
                <a:cs typeface="Calibri"/>
                <a:sym typeface="Calibri"/>
              </a:rPr>
              <a:t>Weighted F1 = 0.60 (XGBoost + State + SMOTE)</a:t>
            </a:r>
            <a:endParaRPr b="0" i="0" sz="1000" u="none" cap="none" strike="noStrike">
              <a:solidFill>
                <a:schemeClr val="dk1"/>
              </a:solidFill>
              <a:latin typeface="Calibri"/>
              <a:ea typeface="Calibri"/>
              <a:cs typeface="Calibri"/>
              <a:sym typeface="Calibri"/>
            </a:endParaRPr>
          </a:p>
        </p:txBody>
      </p:sp>
      <p:sp>
        <p:nvSpPr>
          <p:cNvPr id="207" name="Google Shape;207;p24"/>
          <p:cNvSpPr/>
          <p:nvPr/>
        </p:nvSpPr>
        <p:spPr>
          <a:xfrm>
            <a:off x="4206240" y="1783080"/>
            <a:ext cx="4480500" cy="8688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4"/>
          <p:cNvSpPr/>
          <p:nvPr/>
        </p:nvSpPr>
        <p:spPr>
          <a:xfrm>
            <a:off x="4389120" y="1947672"/>
            <a:ext cx="548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2200"/>
              <a:buFont typeface="Georgia"/>
              <a:buNone/>
            </a:pPr>
            <a:r>
              <a:rPr b="1" i="0" lang="en-US" sz="2200" u="none" cap="none" strike="noStrike">
                <a:solidFill>
                  <a:srgbClr val="059669"/>
                </a:solidFill>
                <a:latin typeface="Georgia"/>
                <a:ea typeface="Georgia"/>
                <a:cs typeface="Georgia"/>
                <a:sym typeface="Georgia"/>
              </a:rPr>
              <a:t>01</a:t>
            </a:r>
            <a:endParaRPr b="0" i="0" sz="2200" u="none" cap="none" strike="noStrike">
              <a:solidFill>
                <a:schemeClr val="dk1"/>
              </a:solidFill>
              <a:latin typeface="Calibri"/>
              <a:ea typeface="Calibri"/>
              <a:cs typeface="Calibri"/>
              <a:sym typeface="Calibri"/>
            </a:endParaRPr>
          </a:p>
        </p:txBody>
      </p:sp>
      <p:sp>
        <p:nvSpPr>
          <p:cNvPr id="209" name="Google Shape;209;p24"/>
          <p:cNvSpPr/>
          <p:nvPr/>
        </p:nvSpPr>
        <p:spPr>
          <a:xfrm>
            <a:off x="4983480" y="1892808"/>
            <a:ext cx="3566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Wages and density carry real signal</a:t>
            </a:r>
            <a:endParaRPr b="0" i="0" sz="1300" u="none" cap="none" strike="noStrike">
              <a:solidFill>
                <a:schemeClr val="dk1"/>
              </a:solidFill>
              <a:latin typeface="Calibri"/>
              <a:ea typeface="Calibri"/>
              <a:cs typeface="Calibri"/>
              <a:sym typeface="Calibri"/>
            </a:endParaRPr>
          </a:p>
        </p:txBody>
      </p:sp>
      <p:sp>
        <p:nvSpPr>
          <p:cNvPr id="210" name="Google Shape;210;p24"/>
          <p:cNvSpPr/>
          <p:nvPr/>
        </p:nvSpPr>
        <p:spPr>
          <a:xfrm>
            <a:off x="4983480" y="2212848"/>
            <a:ext cx="3566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Tech-wage premiums and dense metros cluster in the High tier.</a:t>
            </a:r>
            <a:endParaRPr b="0" i="0" sz="1050" u="none" cap="none" strike="noStrike">
              <a:solidFill>
                <a:schemeClr val="dk1"/>
              </a:solidFill>
              <a:latin typeface="Calibri"/>
              <a:ea typeface="Calibri"/>
              <a:cs typeface="Calibri"/>
              <a:sym typeface="Calibri"/>
            </a:endParaRPr>
          </a:p>
        </p:txBody>
      </p:sp>
      <p:sp>
        <p:nvSpPr>
          <p:cNvPr id="211" name="Google Shape;211;p24"/>
          <p:cNvSpPr/>
          <p:nvPr/>
        </p:nvSpPr>
        <p:spPr>
          <a:xfrm>
            <a:off x="4206240" y="2743200"/>
            <a:ext cx="4480500" cy="8688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4"/>
          <p:cNvSpPr/>
          <p:nvPr/>
        </p:nvSpPr>
        <p:spPr>
          <a:xfrm>
            <a:off x="4389120" y="2907792"/>
            <a:ext cx="548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2200"/>
              <a:buFont typeface="Georgia"/>
              <a:buNone/>
            </a:pPr>
            <a:r>
              <a:rPr b="1" i="0" lang="en-US" sz="2200" u="none" cap="none" strike="noStrike">
                <a:solidFill>
                  <a:srgbClr val="059669"/>
                </a:solidFill>
                <a:latin typeface="Georgia"/>
                <a:ea typeface="Georgia"/>
                <a:cs typeface="Georgia"/>
                <a:sym typeface="Georgia"/>
              </a:rPr>
              <a:t>02</a:t>
            </a:r>
            <a:endParaRPr b="0" i="0" sz="2200" u="none" cap="none" strike="noStrike">
              <a:solidFill>
                <a:schemeClr val="dk1"/>
              </a:solidFill>
              <a:latin typeface="Calibri"/>
              <a:ea typeface="Calibri"/>
              <a:cs typeface="Calibri"/>
              <a:sym typeface="Calibri"/>
            </a:endParaRPr>
          </a:p>
        </p:txBody>
      </p:sp>
      <p:sp>
        <p:nvSpPr>
          <p:cNvPr id="213" name="Google Shape;213;p24"/>
          <p:cNvSpPr/>
          <p:nvPr/>
        </p:nvSpPr>
        <p:spPr>
          <a:xfrm>
            <a:off x="4983480" y="2852928"/>
            <a:ext cx="3566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CA, NJ, TX concentrate High-demand cities</a:t>
            </a:r>
            <a:endParaRPr b="0" i="0" sz="1300" u="none" cap="none" strike="noStrike">
              <a:solidFill>
                <a:schemeClr val="dk1"/>
              </a:solidFill>
              <a:latin typeface="Calibri"/>
              <a:ea typeface="Calibri"/>
              <a:cs typeface="Calibri"/>
              <a:sym typeface="Calibri"/>
            </a:endParaRPr>
          </a:p>
        </p:txBody>
      </p:sp>
      <p:sp>
        <p:nvSpPr>
          <p:cNvPr id="214" name="Google Shape;214;p24"/>
          <p:cNvSpPr/>
          <p:nvPr/>
        </p:nvSpPr>
        <p:spPr>
          <a:xfrm>
            <a:off x="4983480" y="3172968"/>
            <a:ext cx="3566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Silicon Valley, Edison-NJ, and Texas tech metros drive the top.</a:t>
            </a:r>
            <a:endParaRPr b="0" i="0" sz="1050" u="none" cap="none" strike="noStrike">
              <a:solidFill>
                <a:schemeClr val="dk1"/>
              </a:solidFill>
              <a:latin typeface="Calibri"/>
              <a:ea typeface="Calibri"/>
              <a:cs typeface="Calibri"/>
              <a:sym typeface="Calibri"/>
            </a:endParaRPr>
          </a:p>
        </p:txBody>
      </p:sp>
      <p:sp>
        <p:nvSpPr>
          <p:cNvPr id="215" name="Google Shape;215;p24"/>
          <p:cNvSpPr/>
          <p:nvPr/>
        </p:nvSpPr>
        <p:spPr>
          <a:xfrm>
            <a:off x="4206240" y="3703320"/>
            <a:ext cx="4480500" cy="8688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4"/>
          <p:cNvSpPr/>
          <p:nvPr/>
        </p:nvSpPr>
        <p:spPr>
          <a:xfrm>
            <a:off x="4389120" y="3867912"/>
            <a:ext cx="5487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2200"/>
              <a:buFont typeface="Georgia"/>
              <a:buNone/>
            </a:pPr>
            <a:r>
              <a:rPr b="1" i="0" lang="en-US" sz="2200" u="none" cap="none" strike="noStrike">
                <a:solidFill>
                  <a:srgbClr val="059669"/>
                </a:solidFill>
                <a:latin typeface="Georgia"/>
                <a:ea typeface="Georgia"/>
                <a:cs typeface="Georgia"/>
                <a:sym typeface="Georgia"/>
              </a:rPr>
              <a:t>03</a:t>
            </a:r>
            <a:endParaRPr b="0" i="0" sz="2200" u="none" cap="none" strike="noStrike">
              <a:solidFill>
                <a:schemeClr val="dk1"/>
              </a:solidFill>
              <a:latin typeface="Calibri"/>
              <a:ea typeface="Calibri"/>
              <a:cs typeface="Calibri"/>
              <a:sym typeface="Calibri"/>
            </a:endParaRPr>
          </a:p>
        </p:txBody>
      </p:sp>
      <p:sp>
        <p:nvSpPr>
          <p:cNvPr id="217" name="Google Shape;217;p24"/>
          <p:cNvSpPr/>
          <p:nvPr/>
        </p:nvSpPr>
        <p:spPr>
          <a:xfrm>
            <a:off x="4983480" y="3813048"/>
            <a:ext cx="3566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But this is demand — not approval</a:t>
            </a:r>
            <a:endParaRPr b="0" i="0" sz="1300" u="none" cap="none" strike="noStrike">
              <a:solidFill>
                <a:schemeClr val="dk1"/>
              </a:solidFill>
              <a:latin typeface="Calibri"/>
              <a:ea typeface="Calibri"/>
              <a:cs typeface="Calibri"/>
              <a:sym typeface="Calibri"/>
            </a:endParaRPr>
          </a:p>
        </p:txBody>
      </p:sp>
      <p:sp>
        <p:nvSpPr>
          <p:cNvPr id="218" name="Google Shape;218;p24"/>
          <p:cNvSpPr/>
          <p:nvPr/>
        </p:nvSpPr>
        <p:spPr>
          <a:xfrm>
            <a:off x="4983480" y="4133088"/>
            <a:ext cx="3566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Predicting where filings happen ≠ predicting whether they succeed.</a:t>
            </a:r>
            <a:endParaRPr b="0" i="0" sz="1050" u="none" cap="none" strike="noStrike">
              <a:solidFill>
                <a:schemeClr val="dk1"/>
              </a:solidFill>
              <a:latin typeface="Calibri"/>
              <a:ea typeface="Calibri"/>
              <a:cs typeface="Calibri"/>
              <a:sym typeface="Calibri"/>
            </a:endParaRPr>
          </a:p>
        </p:txBody>
      </p:sp>
      <p:sp>
        <p:nvSpPr>
          <p:cNvPr id="219" name="Google Shape;219;p24"/>
          <p:cNvSpPr/>
          <p:nvPr/>
        </p:nvSpPr>
        <p:spPr>
          <a:xfrm>
            <a:off x="457200" y="4754880"/>
            <a:ext cx="82296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alibri"/>
              <a:buNone/>
            </a:pPr>
            <a:r>
              <a:rPr b="0" i="1" lang="en-US" sz="900" u="none" cap="none" strike="noStrike">
                <a:solidFill>
                  <a:srgbClr val="94A3B8"/>
                </a:solidFill>
                <a:latin typeface="Calibri"/>
                <a:ea typeface="Calibri"/>
                <a:cs typeface="Calibri"/>
                <a:sym typeface="Calibri"/>
              </a:rPr>
              <a:t>n = 9,866 cities  ·  target: LCA volume tier  ·  RF / XGBoost / BRF / LightGBM / Ordinal Logit</a:t>
            </a:r>
            <a:endParaRPr b="0" i="0" sz="900" u="none" cap="none" strike="noStrike">
              <a:solidFill>
                <a:schemeClr val="dk1"/>
              </a:solidFill>
              <a:latin typeface="Calibri"/>
              <a:ea typeface="Calibri"/>
              <a:cs typeface="Calibri"/>
              <a:sym typeface="Calibri"/>
            </a:endParaRPr>
          </a:p>
        </p:txBody>
      </p:sp>
      <p:sp>
        <p:nvSpPr>
          <p:cNvPr id="220" name="Google Shape;220;p24"/>
          <p:cNvSpPr/>
          <p:nvPr/>
        </p:nvSpPr>
        <p:spPr>
          <a:xfrm>
            <a:off x="8138160" y="4937760"/>
            <a:ext cx="6402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6 / 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25"/>
          <p:cNvSpPr/>
          <p:nvPr/>
        </p:nvSpPr>
        <p:spPr>
          <a:xfrm>
            <a:off x="457200" y="2743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LAYER 02  —  APPROVAL, BASELINE (XIAO XU)</a:t>
            </a:r>
            <a:endParaRPr b="0" i="0" sz="1000" u="none" cap="none" strike="noStrike">
              <a:solidFill>
                <a:schemeClr val="dk1"/>
              </a:solidFill>
              <a:latin typeface="Calibri"/>
              <a:ea typeface="Calibri"/>
              <a:cs typeface="Calibri"/>
              <a:sym typeface="Calibri"/>
            </a:endParaRPr>
          </a:p>
        </p:txBody>
      </p:sp>
      <p:sp>
        <p:nvSpPr>
          <p:cNvPr id="227" name="Google Shape;227;p25"/>
          <p:cNvSpPr/>
          <p:nvPr/>
        </p:nvSpPr>
        <p:spPr>
          <a:xfrm>
            <a:off x="457200" y="566928"/>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USCIS Alone Explains Essentially Nothing</a:t>
            </a:r>
            <a:endParaRPr b="0" i="0" sz="2800" u="none" cap="none" strike="noStrike">
              <a:solidFill>
                <a:schemeClr val="dk1"/>
              </a:solidFill>
              <a:latin typeface="Calibri"/>
              <a:ea typeface="Calibri"/>
              <a:cs typeface="Calibri"/>
              <a:sym typeface="Calibri"/>
            </a:endParaRPr>
          </a:p>
        </p:txBody>
      </p:sp>
      <p:sp>
        <p:nvSpPr>
          <p:cNvPr id="228" name="Google Shape;228;p25"/>
          <p:cNvSpPr/>
          <p:nvPr/>
        </p:nvSpPr>
        <p:spPr>
          <a:xfrm>
            <a:off x="457200" y="1280160"/>
            <a:ext cx="8412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1" lang="en-US" sz="1300" u="none" cap="none" strike="noStrike">
                <a:solidFill>
                  <a:srgbClr val="475569"/>
                </a:solidFill>
                <a:latin typeface="Calibri"/>
                <a:ea typeface="Calibri"/>
                <a:cs typeface="Calibri"/>
                <a:sym typeface="Calibri"/>
              </a:rPr>
              <a:t>Three model families, same near-zero ceiling on employer-level approval</a:t>
            </a:r>
            <a:endParaRPr b="0" i="0" sz="1300" u="none" cap="none" strike="noStrike">
              <a:solidFill>
                <a:schemeClr val="dk1"/>
              </a:solidFill>
              <a:latin typeface="Calibri"/>
              <a:ea typeface="Calibri"/>
              <a:cs typeface="Calibri"/>
              <a:sym typeface="Calibri"/>
            </a:endParaRPr>
          </a:p>
        </p:txBody>
      </p:sp>
      <p:sp>
        <p:nvSpPr>
          <p:cNvPr id="229" name="Google Shape;229;p25"/>
          <p:cNvSpPr/>
          <p:nvPr/>
        </p:nvSpPr>
        <p:spPr>
          <a:xfrm>
            <a:off x="457200" y="1783080"/>
            <a:ext cx="3474600" cy="28347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5"/>
          <p:cNvSpPr/>
          <p:nvPr/>
        </p:nvSpPr>
        <p:spPr>
          <a:xfrm>
            <a:off x="731520" y="2057400"/>
            <a:ext cx="2926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000"/>
              <a:buFont typeface="Calibri"/>
              <a:buNone/>
            </a:pPr>
            <a:r>
              <a:rPr b="1" i="0" lang="en-US" sz="1000" u="none" cap="none" strike="noStrike">
                <a:solidFill>
                  <a:srgbClr val="B91C1C"/>
                </a:solidFill>
                <a:latin typeface="Calibri"/>
                <a:ea typeface="Calibri"/>
                <a:cs typeface="Calibri"/>
                <a:sym typeface="Calibri"/>
              </a:rPr>
              <a:t>MODEL CEILING (TEST R²)</a:t>
            </a:r>
            <a:endParaRPr b="0" i="0" sz="1000" u="none" cap="none" strike="noStrike">
              <a:solidFill>
                <a:schemeClr val="dk1"/>
              </a:solidFill>
              <a:latin typeface="Calibri"/>
              <a:ea typeface="Calibri"/>
              <a:cs typeface="Calibri"/>
              <a:sym typeface="Calibri"/>
            </a:endParaRPr>
          </a:p>
        </p:txBody>
      </p:sp>
      <p:sp>
        <p:nvSpPr>
          <p:cNvPr id="231" name="Google Shape;231;p25"/>
          <p:cNvSpPr/>
          <p:nvPr/>
        </p:nvSpPr>
        <p:spPr>
          <a:xfrm>
            <a:off x="731520" y="2468880"/>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OLS</a:t>
            </a:r>
            <a:endParaRPr b="0" i="0" sz="1200" u="none" cap="none" strike="noStrike">
              <a:solidFill>
                <a:schemeClr val="dk1"/>
              </a:solidFill>
              <a:latin typeface="Calibri"/>
              <a:ea typeface="Calibri"/>
              <a:cs typeface="Calibri"/>
              <a:sym typeface="Calibri"/>
            </a:endParaRPr>
          </a:p>
        </p:txBody>
      </p:sp>
      <p:sp>
        <p:nvSpPr>
          <p:cNvPr id="232" name="Google Shape;232;p25"/>
          <p:cNvSpPr/>
          <p:nvPr/>
        </p:nvSpPr>
        <p:spPr>
          <a:xfrm>
            <a:off x="2103120" y="2468880"/>
            <a:ext cx="914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800"/>
              <a:buFont typeface="Georgia"/>
              <a:buNone/>
            </a:pPr>
            <a:r>
              <a:rPr b="1" i="0" lang="en-US" sz="1800" u="none" cap="none" strike="noStrike">
                <a:solidFill>
                  <a:srgbClr val="B91C1C"/>
                </a:solidFill>
                <a:latin typeface="Georgia"/>
                <a:ea typeface="Georgia"/>
                <a:cs typeface="Georgia"/>
                <a:sym typeface="Georgia"/>
              </a:rPr>
              <a:t>+0.006</a:t>
            </a:r>
            <a:endParaRPr b="0" i="0" sz="1800" u="none" cap="none" strike="noStrike">
              <a:solidFill>
                <a:schemeClr val="dk1"/>
              </a:solidFill>
              <a:latin typeface="Calibri"/>
              <a:ea typeface="Calibri"/>
              <a:cs typeface="Calibri"/>
              <a:sym typeface="Calibri"/>
            </a:endParaRPr>
          </a:p>
        </p:txBody>
      </p:sp>
      <p:sp>
        <p:nvSpPr>
          <p:cNvPr id="233" name="Google Shape;233;p25"/>
          <p:cNvSpPr/>
          <p:nvPr/>
        </p:nvSpPr>
        <p:spPr>
          <a:xfrm>
            <a:off x="3017520" y="2468880"/>
            <a:ext cx="914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000"/>
              <a:buFont typeface="Calibri"/>
              <a:buNone/>
            </a:pPr>
            <a:r>
              <a:rPr b="0" i="0" lang="en-US" sz="1000" u="none" cap="none" strike="noStrike">
                <a:solidFill>
                  <a:srgbClr val="CBD5E1"/>
                </a:solidFill>
                <a:latin typeface="Calibri"/>
                <a:ea typeface="Calibri"/>
                <a:cs typeface="Calibri"/>
                <a:sym typeface="Calibri"/>
              </a:rPr>
              <a:t>MAE  0.060</a:t>
            </a:r>
            <a:endParaRPr b="0" i="0" sz="1000" u="none" cap="none" strike="noStrike">
              <a:solidFill>
                <a:schemeClr val="dk1"/>
              </a:solidFill>
              <a:latin typeface="Calibri"/>
              <a:ea typeface="Calibri"/>
              <a:cs typeface="Calibri"/>
              <a:sym typeface="Calibri"/>
            </a:endParaRPr>
          </a:p>
        </p:txBody>
      </p:sp>
      <p:sp>
        <p:nvSpPr>
          <p:cNvPr id="234" name="Google Shape;234;p25"/>
          <p:cNvSpPr/>
          <p:nvPr/>
        </p:nvSpPr>
        <p:spPr>
          <a:xfrm>
            <a:off x="731520" y="2971800"/>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Random Forest</a:t>
            </a:r>
            <a:endParaRPr b="0" i="0" sz="1200" u="none" cap="none" strike="noStrike">
              <a:solidFill>
                <a:schemeClr val="dk1"/>
              </a:solidFill>
              <a:latin typeface="Calibri"/>
              <a:ea typeface="Calibri"/>
              <a:cs typeface="Calibri"/>
              <a:sym typeface="Calibri"/>
            </a:endParaRPr>
          </a:p>
        </p:txBody>
      </p:sp>
      <p:sp>
        <p:nvSpPr>
          <p:cNvPr id="235" name="Google Shape;235;p25"/>
          <p:cNvSpPr/>
          <p:nvPr/>
        </p:nvSpPr>
        <p:spPr>
          <a:xfrm>
            <a:off x="2103120" y="2971800"/>
            <a:ext cx="914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800"/>
              <a:buFont typeface="Georgia"/>
              <a:buNone/>
            </a:pPr>
            <a:r>
              <a:rPr b="1" i="0" lang="en-US" sz="1800" u="none" cap="none" strike="noStrike">
                <a:solidFill>
                  <a:srgbClr val="B91C1C"/>
                </a:solidFill>
                <a:latin typeface="Georgia"/>
                <a:ea typeface="Georgia"/>
                <a:cs typeface="Georgia"/>
                <a:sym typeface="Georgia"/>
              </a:rPr>
              <a:t>+0.008</a:t>
            </a:r>
            <a:endParaRPr b="0" i="0" sz="1800" u="none" cap="none" strike="noStrike">
              <a:solidFill>
                <a:schemeClr val="dk1"/>
              </a:solidFill>
              <a:latin typeface="Calibri"/>
              <a:ea typeface="Calibri"/>
              <a:cs typeface="Calibri"/>
              <a:sym typeface="Calibri"/>
            </a:endParaRPr>
          </a:p>
        </p:txBody>
      </p:sp>
      <p:sp>
        <p:nvSpPr>
          <p:cNvPr id="236" name="Google Shape;236;p25"/>
          <p:cNvSpPr/>
          <p:nvPr/>
        </p:nvSpPr>
        <p:spPr>
          <a:xfrm>
            <a:off x="3017520" y="2971800"/>
            <a:ext cx="914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000"/>
              <a:buFont typeface="Calibri"/>
              <a:buNone/>
            </a:pPr>
            <a:r>
              <a:rPr b="0" i="0" lang="en-US" sz="1000" u="none" cap="none" strike="noStrike">
                <a:solidFill>
                  <a:srgbClr val="CBD5E1"/>
                </a:solidFill>
                <a:latin typeface="Calibri"/>
                <a:ea typeface="Calibri"/>
                <a:cs typeface="Calibri"/>
                <a:sym typeface="Calibri"/>
              </a:rPr>
              <a:t>MAE  0.059</a:t>
            </a:r>
            <a:endParaRPr b="0" i="0" sz="1000" u="none" cap="none" strike="noStrike">
              <a:solidFill>
                <a:schemeClr val="dk1"/>
              </a:solidFill>
              <a:latin typeface="Calibri"/>
              <a:ea typeface="Calibri"/>
              <a:cs typeface="Calibri"/>
              <a:sym typeface="Calibri"/>
            </a:endParaRPr>
          </a:p>
        </p:txBody>
      </p:sp>
      <p:sp>
        <p:nvSpPr>
          <p:cNvPr id="237" name="Google Shape;237;p25"/>
          <p:cNvSpPr/>
          <p:nvPr/>
        </p:nvSpPr>
        <p:spPr>
          <a:xfrm>
            <a:off x="731520" y="3474720"/>
            <a:ext cx="1371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XGBoost</a:t>
            </a:r>
            <a:endParaRPr b="0" i="0" sz="1200" u="none" cap="none" strike="noStrike">
              <a:solidFill>
                <a:schemeClr val="dk1"/>
              </a:solidFill>
              <a:latin typeface="Calibri"/>
              <a:ea typeface="Calibri"/>
              <a:cs typeface="Calibri"/>
              <a:sym typeface="Calibri"/>
            </a:endParaRPr>
          </a:p>
        </p:txBody>
      </p:sp>
      <p:sp>
        <p:nvSpPr>
          <p:cNvPr id="238" name="Google Shape;238;p25"/>
          <p:cNvSpPr/>
          <p:nvPr/>
        </p:nvSpPr>
        <p:spPr>
          <a:xfrm>
            <a:off x="2103120" y="3474720"/>
            <a:ext cx="914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800"/>
              <a:buFont typeface="Georgia"/>
              <a:buNone/>
            </a:pPr>
            <a:r>
              <a:rPr b="1" i="0" lang="en-US" sz="1800" u="none" cap="none" strike="noStrike">
                <a:solidFill>
                  <a:srgbClr val="B91C1C"/>
                </a:solidFill>
                <a:latin typeface="Georgia"/>
                <a:ea typeface="Georgia"/>
                <a:cs typeface="Georgia"/>
                <a:sym typeface="Georgia"/>
              </a:rPr>
              <a:t>+0.006</a:t>
            </a:r>
            <a:endParaRPr b="0" i="0" sz="1800" u="none" cap="none" strike="noStrike">
              <a:solidFill>
                <a:schemeClr val="dk1"/>
              </a:solidFill>
              <a:latin typeface="Calibri"/>
              <a:ea typeface="Calibri"/>
              <a:cs typeface="Calibri"/>
              <a:sym typeface="Calibri"/>
            </a:endParaRPr>
          </a:p>
        </p:txBody>
      </p:sp>
      <p:sp>
        <p:nvSpPr>
          <p:cNvPr id="239" name="Google Shape;239;p25"/>
          <p:cNvSpPr/>
          <p:nvPr/>
        </p:nvSpPr>
        <p:spPr>
          <a:xfrm>
            <a:off x="3017520" y="3474720"/>
            <a:ext cx="914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000"/>
              <a:buFont typeface="Calibri"/>
              <a:buNone/>
            </a:pPr>
            <a:r>
              <a:rPr b="0" i="0" lang="en-US" sz="1000" u="none" cap="none" strike="noStrike">
                <a:solidFill>
                  <a:srgbClr val="CBD5E1"/>
                </a:solidFill>
                <a:latin typeface="Calibri"/>
                <a:ea typeface="Calibri"/>
                <a:cs typeface="Calibri"/>
                <a:sym typeface="Calibri"/>
              </a:rPr>
              <a:t>MAE  0.059</a:t>
            </a:r>
            <a:endParaRPr b="0" i="0" sz="1000" u="none" cap="none" strike="noStrike">
              <a:solidFill>
                <a:schemeClr val="dk1"/>
              </a:solidFill>
              <a:latin typeface="Calibri"/>
              <a:ea typeface="Calibri"/>
              <a:cs typeface="Calibri"/>
              <a:sym typeface="Calibri"/>
            </a:endParaRPr>
          </a:p>
        </p:txBody>
      </p:sp>
      <p:cxnSp>
        <p:nvCxnSpPr>
          <p:cNvPr id="240" name="Google Shape;240;p25"/>
          <p:cNvCxnSpPr/>
          <p:nvPr/>
        </p:nvCxnSpPr>
        <p:spPr>
          <a:xfrm>
            <a:off x="731520" y="3977640"/>
            <a:ext cx="2926200" cy="0"/>
          </a:xfrm>
          <a:prstGeom prst="straightConnector1">
            <a:avLst/>
          </a:prstGeom>
          <a:noFill/>
          <a:ln cap="flat" cmpd="sng" w="12700">
            <a:solidFill>
              <a:srgbClr val="1C7293"/>
            </a:solidFill>
            <a:prstDash val="solid"/>
            <a:round/>
            <a:headEnd len="sm" w="sm" type="none"/>
            <a:tailEnd len="sm" w="sm" type="none"/>
          </a:ln>
        </p:spPr>
      </p:cxnSp>
      <p:sp>
        <p:nvSpPr>
          <p:cNvPr id="241" name="Google Shape;241;p25"/>
          <p:cNvSpPr/>
          <p:nvPr/>
        </p:nvSpPr>
        <p:spPr>
          <a:xfrm>
            <a:off x="731520" y="4114800"/>
            <a:ext cx="2926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000"/>
              <a:buFont typeface="Calibri"/>
              <a:buNone/>
            </a:pPr>
            <a:r>
              <a:rPr b="0" i="0" lang="en-US" sz="1000" u="none" cap="none" strike="noStrike">
                <a:solidFill>
                  <a:srgbClr val="CBD5E1"/>
                </a:solidFill>
                <a:latin typeface="Calibri"/>
                <a:ea typeface="Calibri"/>
                <a:cs typeface="Calibri"/>
                <a:sym typeface="Calibri"/>
              </a:rPr>
              <a:t>82% of rows sit at ≥ 99.9% approval —</a:t>
            </a:r>
            <a:endParaRPr b="0" i="0" sz="1000" u="none" cap="none" strike="noStrike">
              <a:solidFill>
                <a:schemeClr val="dk1"/>
              </a:solidFill>
              <a:latin typeface="Calibri"/>
              <a:ea typeface="Calibri"/>
              <a:cs typeface="Calibri"/>
              <a:sym typeface="Calibri"/>
            </a:endParaRPr>
          </a:p>
        </p:txBody>
      </p:sp>
      <p:sp>
        <p:nvSpPr>
          <p:cNvPr id="242" name="Google Shape;242;p25"/>
          <p:cNvSpPr/>
          <p:nvPr/>
        </p:nvSpPr>
        <p:spPr>
          <a:xfrm>
            <a:off x="731520" y="4325112"/>
            <a:ext cx="2926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1000"/>
              <a:buFont typeface="Calibri"/>
              <a:buNone/>
            </a:pPr>
            <a:r>
              <a:rPr b="0" i="1" lang="en-US" sz="1000" u="none" cap="none" strike="noStrike">
                <a:solidFill>
                  <a:srgbClr val="F4B942"/>
                </a:solidFill>
                <a:latin typeface="Calibri"/>
                <a:ea typeface="Calibri"/>
                <a:cs typeface="Calibri"/>
                <a:sym typeface="Calibri"/>
              </a:rPr>
              <a:t>the target is near-degenerate.</a:t>
            </a:r>
            <a:endParaRPr b="0" i="0" sz="1000" u="none" cap="none" strike="noStrike">
              <a:solidFill>
                <a:schemeClr val="dk1"/>
              </a:solidFill>
              <a:latin typeface="Calibri"/>
              <a:ea typeface="Calibri"/>
              <a:cs typeface="Calibri"/>
              <a:sym typeface="Calibri"/>
            </a:endParaRPr>
          </a:p>
        </p:txBody>
      </p:sp>
      <p:sp>
        <p:nvSpPr>
          <p:cNvPr id="243" name="Google Shape;243;p25"/>
          <p:cNvSpPr/>
          <p:nvPr/>
        </p:nvSpPr>
        <p:spPr>
          <a:xfrm>
            <a:off x="4206240" y="1783080"/>
            <a:ext cx="4480500" cy="28347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5"/>
          <p:cNvSpPr/>
          <p:nvPr/>
        </p:nvSpPr>
        <p:spPr>
          <a:xfrm>
            <a:off x="4480560" y="1965960"/>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1000"/>
              <a:buFont typeface="Calibri"/>
              <a:buNone/>
            </a:pPr>
            <a:r>
              <a:rPr b="1" i="0" lang="en-US" sz="1000" u="none" cap="none" strike="noStrike">
                <a:solidFill>
                  <a:srgbClr val="B91C1C"/>
                </a:solidFill>
                <a:latin typeface="Calibri"/>
                <a:ea typeface="Calibri"/>
                <a:cs typeface="Calibri"/>
                <a:sym typeface="Calibri"/>
              </a:rPr>
              <a:t>BETWEEN-GROUP VARIANCE</a:t>
            </a:r>
            <a:endParaRPr b="0" i="0" sz="1000" u="none" cap="none" strike="noStrike">
              <a:solidFill>
                <a:schemeClr val="dk1"/>
              </a:solidFill>
              <a:latin typeface="Calibri"/>
              <a:ea typeface="Calibri"/>
              <a:cs typeface="Calibri"/>
              <a:sym typeface="Calibri"/>
            </a:endParaRPr>
          </a:p>
        </p:txBody>
      </p:sp>
      <p:sp>
        <p:nvSpPr>
          <p:cNvPr id="245" name="Google Shape;245;p25"/>
          <p:cNvSpPr/>
          <p:nvPr/>
        </p:nvSpPr>
        <p:spPr>
          <a:xfrm>
            <a:off x="4480560" y="2221992"/>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1" lang="en-US" sz="1100" u="none" cap="none" strike="noStrike">
                <a:solidFill>
                  <a:srgbClr val="475569"/>
                </a:solidFill>
                <a:latin typeface="Calibri"/>
                <a:ea typeface="Calibri"/>
                <a:cs typeface="Calibri"/>
                <a:sym typeface="Calibri"/>
              </a:rPr>
              <a:t>How much approval variation lives across groups?</a:t>
            </a:r>
            <a:endParaRPr b="0" i="0" sz="1100" u="none" cap="none" strike="noStrike">
              <a:solidFill>
                <a:schemeClr val="dk1"/>
              </a:solidFill>
              <a:latin typeface="Calibri"/>
              <a:ea typeface="Calibri"/>
              <a:cs typeface="Calibri"/>
              <a:sym typeface="Calibri"/>
            </a:endParaRPr>
          </a:p>
        </p:txBody>
      </p:sp>
      <p:cxnSp>
        <p:nvCxnSpPr>
          <p:cNvPr id="246" name="Google Shape;246;p25"/>
          <p:cNvCxnSpPr/>
          <p:nvPr/>
        </p:nvCxnSpPr>
        <p:spPr>
          <a:xfrm>
            <a:off x="4480560" y="3017520"/>
            <a:ext cx="3931800" cy="0"/>
          </a:xfrm>
          <a:prstGeom prst="straightConnector1">
            <a:avLst/>
          </a:prstGeom>
          <a:noFill/>
          <a:ln cap="flat" cmpd="sng" w="9525">
            <a:solidFill>
              <a:srgbClr val="E2E8F0"/>
            </a:solidFill>
            <a:prstDash val="solid"/>
            <a:round/>
            <a:headEnd len="sm" w="sm" type="none"/>
            <a:tailEnd len="sm" w="sm" type="none"/>
          </a:ln>
        </p:spPr>
      </p:cxnSp>
      <p:sp>
        <p:nvSpPr>
          <p:cNvPr id="247" name="Google Shape;247;p25"/>
          <p:cNvSpPr/>
          <p:nvPr/>
        </p:nvSpPr>
        <p:spPr>
          <a:xfrm>
            <a:off x="4480560" y="2651760"/>
            <a:ext cx="1828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State</a:t>
            </a:r>
            <a:endParaRPr b="0" i="0" sz="1200" u="none" cap="none" strike="noStrike">
              <a:solidFill>
                <a:schemeClr val="dk1"/>
              </a:solidFill>
              <a:latin typeface="Calibri"/>
              <a:ea typeface="Calibri"/>
              <a:cs typeface="Calibri"/>
              <a:sym typeface="Calibri"/>
            </a:endParaRPr>
          </a:p>
        </p:txBody>
      </p:sp>
      <p:sp>
        <p:nvSpPr>
          <p:cNvPr id="248" name="Google Shape;248;p25"/>
          <p:cNvSpPr/>
          <p:nvPr/>
        </p:nvSpPr>
        <p:spPr>
          <a:xfrm>
            <a:off x="6217920" y="2651760"/>
            <a:ext cx="118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1" lang="en-US" sz="1000" u="none" cap="none" strike="noStrike">
                <a:solidFill>
                  <a:srgbClr val="94A3B8"/>
                </a:solidFill>
                <a:latin typeface="Calibri"/>
                <a:ea typeface="Calibri"/>
                <a:cs typeface="Calibri"/>
                <a:sym typeface="Calibri"/>
              </a:rPr>
              <a:t>57 groups</a:t>
            </a:r>
            <a:endParaRPr b="0" i="0" sz="1000" u="none" cap="none" strike="noStrike">
              <a:solidFill>
                <a:schemeClr val="dk1"/>
              </a:solidFill>
              <a:latin typeface="Calibri"/>
              <a:ea typeface="Calibri"/>
              <a:cs typeface="Calibri"/>
              <a:sym typeface="Calibri"/>
            </a:endParaRPr>
          </a:p>
        </p:txBody>
      </p:sp>
      <p:sp>
        <p:nvSpPr>
          <p:cNvPr id="249" name="Google Shape;249;p25"/>
          <p:cNvSpPr/>
          <p:nvPr/>
        </p:nvSpPr>
        <p:spPr>
          <a:xfrm>
            <a:off x="7406640" y="2651760"/>
            <a:ext cx="10974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0.33%</a:t>
            </a:r>
            <a:endParaRPr b="0" i="0" sz="1400" u="none" cap="none" strike="noStrike">
              <a:solidFill>
                <a:schemeClr val="dk1"/>
              </a:solidFill>
              <a:latin typeface="Calibri"/>
              <a:ea typeface="Calibri"/>
              <a:cs typeface="Calibri"/>
              <a:sym typeface="Calibri"/>
            </a:endParaRPr>
          </a:p>
        </p:txBody>
      </p:sp>
      <p:cxnSp>
        <p:nvCxnSpPr>
          <p:cNvPr id="250" name="Google Shape;250;p25"/>
          <p:cNvCxnSpPr/>
          <p:nvPr/>
        </p:nvCxnSpPr>
        <p:spPr>
          <a:xfrm>
            <a:off x="4480560" y="3401568"/>
            <a:ext cx="3931800" cy="0"/>
          </a:xfrm>
          <a:prstGeom prst="straightConnector1">
            <a:avLst/>
          </a:prstGeom>
          <a:noFill/>
          <a:ln cap="flat" cmpd="sng" w="9525">
            <a:solidFill>
              <a:srgbClr val="E2E8F0"/>
            </a:solidFill>
            <a:prstDash val="solid"/>
            <a:round/>
            <a:headEnd len="sm" w="sm" type="none"/>
            <a:tailEnd len="sm" w="sm" type="none"/>
          </a:ln>
        </p:spPr>
      </p:cxnSp>
      <p:sp>
        <p:nvSpPr>
          <p:cNvPr id="251" name="Google Shape;251;p25"/>
          <p:cNvSpPr/>
          <p:nvPr/>
        </p:nvSpPr>
        <p:spPr>
          <a:xfrm>
            <a:off x="4480560" y="3035808"/>
            <a:ext cx="1828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Census region</a:t>
            </a:r>
            <a:endParaRPr b="0" i="0" sz="1200" u="none" cap="none" strike="noStrike">
              <a:solidFill>
                <a:schemeClr val="dk1"/>
              </a:solidFill>
              <a:latin typeface="Calibri"/>
              <a:ea typeface="Calibri"/>
              <a:cs typeface="Calibri"/>
              <a:sym typeface="Calibri"/>
            </a:endParaRPr>
          </a:p>
        </p:txBody>
      </p:sp>
      <p:sp>
        <p:nvSpPr>
          <p:cNvPr id="252" name="Google Shape;252;p25"/>
          <p:cNvSpPr/>
          <p:nvPr/>
        </p:nvSpPr>
        <p:spPr>
          <a:xfrm>
            <a:off x="6217920" y="3035808"/>
            <a:ext cx="118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1" lang="en-US" sz="1000" u="none" cap="none" strike="noStrike">
                <a:solidFill>
                  <a:srgbClr val="94A3B8"/>
                </a:solidFill>
                <a:latin typeface="Calibri"/>
                <a:ea typeface="Calibri"/>
                <a:cs typeface="Calibri"/>
                <a:sym typeface="Calibri"/>
              </a:rPr>
              <a:t>5 groups</a:t>
            </a:r>
            <a:endParaRPr b="0" i="0" sz="1000" u="none" cap="none" strike="noStrike">
              <a:solidFill>
                <a:schemeClr val="dk1"/>
              </a:solidFill>
              <a:latin typeface="Calibri"/>
              <a:ea typeface="Calibri"/>
              <a:cs typeface="Calibri"/>
              <a:sym typeface="Calibri"/>
            </a:endParaRPr>
          </a:p>
        </p:txBody>
      </p:sp>
      <p:sp>
        <p:nvSpPr>
          <p:cNvPr id="253" name="Google Shape;253;p25"/>
          <p:cNvSpPr/>
          <p:nvPr/>
        </p:nvSpPr>
        <p:spPr>
          <a:xfrm>
            <a:off x="7406640" y="3035808"/>
            <a:ext cx="10974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0.06%</a:t>
            </a:r>
            <a:endParaRPr b="0" i="0" sz="1400" u="none" cap="none" strike="noStrike">
              <a:solidFill>
                <a:schemeClr val="dk1"/>
              </a:solidFill>
              <a:latin typeface="Calibri"/>
              <a:ea typeface="Calibri"/>
              <a:cs typeface="Calibri"/>
              <a:sym typeface="Calibri"/>
            </a:endParaRPr>
          </a:p>
        </p:txBody>
      </p:sp>
      <p:cxnSp>
        <p:nvCxnSpPr>
          <p:cNvPr id="254" name="Google Shape;254;p25"/>
          <p:cNvCxnSpPr/>
          <p:nvPr/>
        </p:nvCxnSpPr>
        <p:spPr>
          <a:xfrm>
            <a:off x="4480560" y="3785616"/>
            <a:ext cx="3931800" cy="0"/>
          </a:xfrm>
          <a:prstGeom prst="straightConnector1">
            <a:avLst/>
          </a:prstGeom>
          <a:noFill/>
          <a:ln cap="flat" cmpd="sng" w="9525">
            <a:solidFill>
              <a:srgbClr val="E2E8F0"/>
            </a:solidFill>
            <a:prstDash val="solid"/>
            <a:round/>
            <a:headEnd len="sm" w="sm" type="none"/>
            <a:tailEnd len="sm" w="sm" type="none"/>
          </a:ln>
        </p:spPr>
      </p:cxnSp>
      <p:sp>
        <p:nvSpPr>
          <p:cNvPr id="255" name="Google Shape;255;p25"/>
          <p:cNvSpPr/>
          <p:nvPr/>
        </p:nvSpPr>
        <p:spPr>
          <a:xfrm>
            <a:off x="4480560" y="3419856"/>
            <a:ext cx="1828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NAICS industry</a:t>
            </a:r>
            <a:endParaRPr b="0" i="0" sz="1200" u="none" cap="none" strike="noStrike">
              <a:solidFill>
                <a:schemeClr val="dk1"/>
              </a:solidFill>
              <a:latin typeface="Calibri"/>
              <a:ea typeface="Calibri"/>
              <a:cs typeface="Calibri"/>
              <a:sym typeface="Calibri"/>
            </a:endParaRPr>
          </a:p>
        </p:txBody>
      </p:sp>
      <p:sp>
        <p:nvSpPr>
          <p:cNvPr id="256" name="Google Shape;256;p25"/>
          <p:cNvSpPr/>
          <p:nvPr/>
        </p:nvSpPr>
        <p:spPr>
          <a:xfrm>
            <a:off x="6217920" y="3419856"/>
            <a:ext cx="118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1" lang="en-US" sz="1000" u="none" cap="none" strike="noStrike">
                <a:solidFill>
                  <a:srgbClr val="94A3B8"/>
                </a:solidFill>
                <a:latin typeface="Calibri"/>
                <a:ea typeface="Calibri"/>
                <a:cs typeface="Calibri"/>
                <a:sym typeface="Calibri"/>
              </a:rPr>
              <a:t>21 groups</a:t>
            </a:r>
            <a:endParaRPr b="0" i="0" sz="1000" u="none" cap="none" strike="noStrike">
              <a:solidFill>
                <a:schemeClr val="dk1"/>
              </a:solidFill>
              <a:latin typeface="Calibri"/>
              <a:ea typeface="Calibri"/>
              <a:cs typeface="Calibri"/>
              <a:sym typeface="Calibri"/>
            </a:endParaRPr>
          </a:p>
        </p:txBody>
      </p:sp>
      <p:sp>
        <p:nvSpPr>
          <p:cNvPr id="257" name="Google Shape;257;p25"/>
          <p:cNvSpPr/>
          <p:nvPr/>
        </p:nvSpPr>
        <p:spPr>
          <a:xfrm>
            <a:off x="7406640" y="3419856"/>
            <a:ext cx="10974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0.30%</a:t>
            </a:r>
            <a:endParaRPr b="0" i="0" sz="1400" u="none" cap="none" strike="noStrike">
              <a:solidFill>
                <a:schemeClr val="dk1"/>
              </a:solidFill>
              <a:latin typeface="Calibri"/>
              <a:ea typeface="Calibri"/>
              <a:cs typeface="Calibri"/>
              <a:sym typeface="Calibri"/>
            </a:endParaRPr>
          </a:p>
        </p:txBody>
      </p:sp>
      <p:cxnSp>
        <p:nvCxnSpPr>
          <p:cNvPr id="258" name="Google Shape;258;p25"/>
          <p:cNvCxnSpPr/>
          <p:nvPr/>
        </p:nvCxnSpPr>
        <p:spPr>
          <a:xfrm>
            <a:off x="4480560" y="4169664"/>
            <a:ext cx="3931800" cy="0"/>
          </a:xfrm>
          <a:prstGeom prst="straightConnector1">
            <a:avLst/>
          </a:prstGeom>
          <a:noFill/>
          <a:ln cap="flat" cmpd="sng" w="9525">
            <a:solidFill>
              <a:srgbClr val="E2E8F0"/>
            </a:solidFill>
            <a:prstDash val="solid"/>
            <a:round/>
            <a:headEnd len="sm" w="sm" type="none"/>
            <a:tailEnd len="sm" w="sm" type="none"/>
          </a:ln>
        </p:spPr>
      </p:cxnSp>
      <p:sp>
        <p:nvSpPr>
          <p:cNvPr id="259" name="Google Shape;259;p25"/>
          <p:cNvSpPr/>
          <p:nvPr/>
        </p:nvSpPr>
        <p:spPr>
          <a:xfrm>
            <a:off x="4480560" y="3803904"/>
            <a:ext cx="1828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Size bucket</a:t>
            </a:r>
            <a:endParaRPr b="0" i="0" sz="1200" u="none" cap="none" strike="noStrike">
              <a:solidFill>
                <a:schemeClr val="dk1"/>
              </a:solidFill>
              <a:latin typeface="Calibri"/>
              <a:ea typeface="Calibri"/>
              <a:cs typeface="Calibri"/>
              <a:sym typeface="Calibri"/>
            </a:endParaRPr>
          </a:p>
        </p:txBody>
      </p:sp>
      <p:sp>
        <p:nvSpPr>
          <p:cNvPr id="260" name="Google Shape;260;p25"/>
          <p:cNvSpPr/>
          <p:nvPr/>
        </p:nvSpPr>
        <p:spPr>
          <a:xfrm>
            <a:off x="6217920" y="3803904"/>
            <a:ext cx="1188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1000"/>
              <a:buFont typeface="Calibri"/>
              <a:buNone/>
            </a:pPr>
            <a:r>
              <a:rPr b="0" i="1" lang="en-US" sz="1000" u="none" cap="none" strike="noStrike">
                <a:solidFill>
                  <a:srgbClr val="94A3B8"/>
                </a:solidFill>
                <a:latin typeface="Calibri"/>
                <a:ea typeface="Calibri"/>
                <a:cs typeface="Calibri"/>
                <a:sym typeface="Calibri"/>
              </a:rPr>
              <a:t>5 groups</a:t>
            </a:r>
            <a:endParaRPr b="0" i="0" sz="1000" u="none" cap="none" strike="noStrike">
              <a:solidFill>
                <a:schemeClr val="dk1"/>
              </a:solidFill>
              <a:latin typeface="Calibri"/>
              <a:ea typeface="Calibri"/>
              <a:cs typeface="Calibri"/>
              <a:sym typeface="Calibri"/>
            </a:endParaRPr>
          </a:p>
        </p:txBody>
      </p:sp>
      <p:sp>
        <p:nvSpPr>
          <p:cNvPr id="261" name="Google Shape;261;p25"/>
          <p:cNvSpPr/>
          <p:nvPr/>
        </p:nvSpPr>
        <p:spPr>
          <a:xfrm>
            <a:off x="7406640" y="3803904"/>
            <a:ext cx="1097400" cy="3201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0.03%</a:t>
            </a:r>
            <a:endParaRPr b="0" i="0" sz="1400" u="none" cap="none" strike="noStrike">
              <a:solidFill>
                <a:schemeClr val="dk1"/>
              </a:solidFill>
              <a:latin typeface="Calibri"/>
              <a:ea typeface="Calibri"/>
              <a:cs typeface="Calibri"/>
              <a:sym typeface="Calibri"/>
            </a:endParaRPr>
          </a:p>
        </p:txBody>
      </p:sp>
      <p:sp>
        <p:nvSpPr>
          <p:cNvPr id="262" name="Google Shape;262;p25"/>
          <p:cNvSpPr/>
          <p:nvPr/>
        </p:nvSpPr>
        <p:spPr>
          <a:xfrm>
            <a:off x="4480560" y="4251960"/>
            <a:ext cx="39318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1" i="1" lang="en-US" sz="1100" u="none" cap="none" strike="noStrike">
                <a:solidFill>
                  <a:srgbClr val="1E293B"/>
                </a:solidFill>
                <a:latin typeface="Calibri"/>
                <a:ea typeface="Calibri"/>
                <a:cs typeface="Calibri"/>
                <a:sym typeface="Calibri"/>
              </a:rPr>
              <a:t>→ Observable groupings explain &lt; 0.5% of variation.</a:t>
            </a:r>
            <a:endParaRPr b="0" i="0" sz="1100" u="none" cap="none" strike="noStrike">
              <a:solidFill>
                <a:schemeClr val="dk1"/>
              </a:solidFill>
              <a:latin typeface="Calibri"/>
              <a:ea typeface="Calibri"/>
              <a:cs typeface="Calibri"/>
              <a:sym typeface="Calibri"/>
            </a:endParaRPr>
          </a:p>
        </p:txBody>
      </p:sp>
      <p:sp>
        <p:nvSpPr>
          <p:cNvPr id="263" name="Google Shape;263;p25"/>
          <p:cNvSpPr/>
          <p:nvPr/>
        </p:nvSpPr>
        <p:spPr>
          <a:xfrm>
            <a:off x="457200" y="4754880"/>
            <a:ext cx="82296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alibri"/>
              <a:buNone/>
            </a:pPr>
            <a:r>
              <a:rPr b="0" i="1" lang="en-US" sz="900" u="none" cap="none" strike="noStrike">
                <a:solidFill>
                  <a:srgbClr val="94A3B8"/>
                </a:solidFill>
                <a:latin typeface="Calibri"/>
                <a:ea typeface="Calibri"/>
                <a:cs typeface="Calibri"/>
                <a:sym typeface="Calibri"/>
              </a:rPr>
              <a:t>n = 61,452 employers  ·  target: employer approval rate  ·  features: state, NAICS, application mix</a:t>
            </a:r>
            <a:endParaRPr b="0" i="0" sz="900" u="none" cap="none" strike="noStrike">
              <a:solidFill>
                <a:schemeClr val="dk1"/>
              </a:solidFill>
              <a:latin typeface="Calibri"/>
              <a:ea typeface="Calibri"/>
              <a:cs typeface="Calibri"/>
              <a:sym typeface="Calibri"/>
            </a:endParaRPr>
          </a:p>
        </p:txBody>
      </p:sp>
      <p:sp>
        <p:nvSpPr>
          <p:cNvPr id="264" name="Google Shape;264;p25"/>
          <p:cNvSpPr/>
          <p:nvPr/>
        </p:nvSpPr>
        <p:spPr>
          <a:xfrm>
            <a:off x="8138160" y="4937760"/>
            <a:ext cx="6402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7 / 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26"/>
          <p:cNvSpPr/>
          <p:nvPr/>
        </p:nvSpPr>
        <p:spPr>
          <a:xfrm>
            <a:off x="457200" y="2743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LAYER 03  —  ENRICHMENT TEST</a:t>
            </a:r>
            <a:endParaRPr b="0" i="0" sz="1000" u="none" cap="none" strike="noStrike">
              <a:solidFill>
                <a:schemeClr val="dk1"/>
              </a:solidFill>
              <a:latin typeface="Calibri"/>
              <a:ea typeface="Calibri"/>
              <a:cs typeface="Calibri"/>
              <a:sym typeface="Calibri"/>
            </a:endParaRPr>
          </a:p>
        </p:txBody>
      </p:sp>
      <p:sp>
        <p:nvSpPr>
          <p:cNvPr id="271" name="Google Shape;271;p26"/>
          <p:cNvSpPr/>
          <p:nvPr/>
        </p:nvSpPr>
        <p:spPr>
          <a:xfrm>
            <a:off x="457200" y="566928"/>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Wages + Local Economy Still Can't Beat the Mean</a:t>
            </a:r>
            <a:endParaRPr b="0" i="0" sz="2800" u="none" cap="none" strike="noStrike">
              <a:solidFill>
                <a:schemeClr val="dk1"/>
              </a:solidFill>
              <a:latin typeface="Calibri"/>
              <a:ea typeface="Calibri"/>
              <a:cs typeface="Calibri"/>
              <a:sym typeface="Calibri"/>
            </a:endParaRPr>
          </a:p>
        </p:txBody>
      </p:sp>
      <p:sp>
        <p:nvSpPr>
          <p:cNvPr id="272" name="Google Shape;272;p26"/>
          <p:cNvSpPr/>
          <p:nvPr/>
        </p:nvSpPr>
        <p:spPr>
          <a:xfrm>
            <a:off x="457200" y="1280160"/>
            <a:ext cx="8412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1" lang="en-US" sz="1300" u="none" cap="none" strike="noStrike">
                <a:solidFill>
                  <a:srgbClr val="475569"/>
                </a:solidFill>
                <a:latin typeface="Calibri"/>
                <a:ea typeface="Calibri"/>
                <a:cs typeface="Calibri"/>
                <a:sym typeface="Calibri"/>
              </a:rPr>
              <a:t>On identical cities, no model achieves R² &gt; 0 even with the full enriched feature set</a:t>
            </a:r>
            <a:endParaRPr b="0" i="0" sz="1300" u="none" cap="none" strike="noStrike">
              <a:solidFill>
                <a:schemeClr val="dk1"/>
              </a:solidFill>
              <a:latin typeface="Calibri"/>
              <a:ea typeface="Calibri"/>
              <a:cs typeface="Calibri"/>
              <a:sym typeface="Calibri"/>
            </a:endParaRPr>
          </a:p>
        </p:txBody>
      </p:sp>
      <p:sp>
        <p:nvSpPr>
          <p:cNvPr id="273" name="Google Shape;273;p26"/>
          <p:cNvSpPr/>
          <p:nvPr/>
        </p:nvSpPr>
        <p:spPr>
          <a:xfrm>
            <a:off x="457200" y="1783080"/>
            <a:ext cx="8229600" cy="4116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6"/>
          <p:cNvSpPr/>
          <p:nvPr/>
        </p:nvSpPr>
        <p:spPr>
          <a:xfrm>
            <a:off x="731520" y="1783080"/>
            <a:ext cx="1920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1000"/>
              <a:buFont typeface="Calibri"/>
              <a:buNone/>
            </a:pPr>
            <a:r>
              <a:rPr b="1" i="0" lang="en-US" sz="1000" u="none" cap="none" strike="noStrike">
                <a:solidFill>
                  <a:srgbClr val="F4B942"/>
                </a:solidFill>
                <a:latin typeface="Calibri"/>
                <a:ea typeface="Calibri"/>
                <a:cs typeface="Calibri"/>
                <a:sym typeface="Calibri"/>
              </a:rPr>
              <a:t>MODEL</a:t>
            </a:r>
            <a:endParaRPr b="0" i="0" sz="1000" u="none" cap="none" strike="noStrike">
              <a:solidFill>
                <a:schemeClr val="dk1"/>
              </a:solidFill>
              <a:latin typeface="Calibri"/>
              <a:ea typeface="Calibri"/>
              <a:cs typeface="Calibri"/>
              <a:sym typeface="Calibri"/>
            </a:endParaRPr>
          </a:p>
        </p:txBody>
      </p:sp>
      <p:sp>
        <p:nvSpPr>
          <p:cNvPr id="275" name="Google Shape;275;p26"/>
          <p:cNvSpPr/>
          <p:nvPr/>
        </p:nvSpPr>
        <p:spPr>
          <a:xfrm>
            <a:off x="2651760" y="178308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B942"/>
              </a:buClr>
              <a:buSzPts val="1000"/>
              <a:buFont typeface="Calibri"/>
              <a:buNone/>
            </a:pPr>
            <a:r>
              <a:rPr b="1" i="0" lang="en-US" sz="1000" u="none" cap="none" strike="noStrike">
                <a:solidFill>
                  <a:srgbClr val="F4B942"/>
                </a:solidFill>
                <a:latin typeface="Calibri"/>
                <a:ea typeface="Calibri"/>
                <a:cs typeface="Calibri"/>
                <a:sym typeface="Calibri"/>
              </a:rPr>
              <a:t>STRUCTURAL</a:t>
            </a:r>
            <a:endParaRPr b="0" i="0" sz="1000" u="none" cap="none" strike="noStrike">
              <a:solidFill>
                <a:schemeClr val="dk1"/>
              </a:solidFill>
              <a:latin typeface="Calibri"/>
              <a:ea typeface="Calibri"/>
              <a:cs typeface="Calibri"/>
              <a:sym typeface="Calibri"/>
            </a:endParaRPr>
          </a:p>
        </p:txBody>
      </p:sp>
      <p:sp>
        <p:nvSpPr>
          <p:cNvPr id="276" name="Google Shape;276;p26"/>
          <p:cNvSpPr/>
          <p:nvPr/>
        </p:nvSpPr>
        <p:spPr>
          <a:xfrm>
            <a:off x="4663440" y="178308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B942"/>
              </a:buClr>
              <a:buSzPts val="1000"/>
              <a:buFont typeface="Calibri"/>
              <a:buNone/>
            </a:pPr>
            <a:r>
              <a:rPr b="1" i="0" lang="en-US" sz="1000" u="none" cap="none" strike="noStrike">
                <a:solidFill>
                  <a:srgbClr val="F4B942"/>
                </a:solidFill>
                <a:latin typeface="Calibri"/>
                <a:ea typeface="Calibri"/>
                <a:cs typeface="Calibri"/>
                <a:sym typeface="Calibri"/>
              </a:rPr>
              <a:t>ENRICHED</a:t>
            </a:r>
            <a:endParaRPr b="0" i="0" sz="1000" u="none" cap="none" strike="noStrike">
              <a:solidFill>
                <a:schemeClr val="dk1"/>
              </a:solidFill>
              <a:latin typeface="Calibri"/>
              <a:ea typeface="Calibri"/>
              <a:cs typeface="Calibri"/>
              <a:sym typeface="Calibri"/>
            </a:endParaRPr>
          </a:p>
        </p:txBody>
      </p:sp>
      <p:sp>
        <p:nvSpPr>
          <p:cNvPr id="277" name="Google Shape;277;p26"/>
          <p:cNvSpPr/>
          <p:nvPr/>
        </p:nvSpPr>
        <p:spPr>
          <a:xfrm>
            <a:off x="6675120" y="1783080"/>
            <a:ext cx="1828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4B942"/>
              </a:buClr>
              <a:buSzPts val="1000"/>
              <a:buFont typeface="Calibri"/>
              <a:buNone/>
            </a:pPr>
            <a:r>
              <a:rPr b="1" i="0" lang="en-US" sz="1000" u="none" cap="none" strike="noStrike">
                <a:solidFill>
                  <a:srgbClr val="F4B942"/>
                </a:solidFill>
                <a:latin typeface="Calibri"/>
                <a:ea typeface="Calibri"/>
                <a:cs typeface="Calibri"/>
                <a:sym typeface="Calibri"/>
              </a:rPr>
              <a:t>Δ R²</a:t>
            </a:r>
            <a:endParaRPr b="0" i="0" sz="1000" u="none" cap="none" strike="noStrike">
              <a:solidFill>
                <a:schemeClr val="dk1"/>
              </a:solidFill>
              <a:latin typeface="Calibri"/>
              <a:ea typeface="Calibri"/>
              <a:cs typeface="Calibri"/>
              <a:sym typeface="Calibri"/>
            </a:endParaRPr>
          </a:p>
        </p:txBody>
      </p:sp>
      <p:sp>
        <p:nvSpPr>
          <p:cNvPr id="278" name="Google Shape;278;p26"/>
          <p:cNvSpPr/>
          <p:nvPr/>
        </p:nvSpPr>
        <p:spPr>
          <a:xfrm>
            <a:off x="457200" y="2194560"/>
            <a:ext cx="8229600" cy="4116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
          <p:cNvSpPr/>
          <p:nvPr/>
        </p:nvSpPr>
        <p:spPr>
          <a:xfrm>
            <a:off x="731520" y="2194560"/>
            <a:ext cx="1920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OLS</a:t>
            </a:r>
            <a:endParaRPr b="0" i="0" sz="1200" u="none" cap="none" strike="noStrike">
              <a:solidFill>
                <a:schemeClr val="dk1"/>
              </a:solidFill>
              <a:latin typeface="Calibri"/>
              <a:ea typeface="Calibri"/>
              <a:cs typeface="Calibri"/>
              <a:sym typeface="Calibri"/>
            </a:endParaRPr>
          </a:p>
        </p:txBody>
      </p:sp>
      <p:sp>
        <p:nvSpPr>
          <p:cNvPr id="280" name="Google Shape;280;p26"/>
          <p:cNvSpPr/>
          <p:nvPr/>
        </p:nvSpPr>
        <p:spPr>
          <a:xfrm>
            <a:off x="2651760" y="219456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−0.022</a:t>
            </a:r>
            <a:endParaRPr b="0" i="0" sz="1400" u="none" cap="none" strike="noStrike">
              <a:solidFill>
                <a:schemeClr val="dk1"/>
              </a:solidFill>
              <a:latin typeface="Calibri"/>
              <a:ea typeface="Calibri"/>
              <a:cs typeface="Calibri"/>
              <a:sym typeface="Calibri"/>
            </a:endParaRPr>
          </a:p>
        </p:txBody>
      </p:sp>
      <p:sp>
        <p:nvSpPr>
          <p:cNvPr id="281" name="Google Shape;281;p26"/>
          <p:cNvSpPr/>
          <p:nvPr/>
        </p:nvSpPr>
        <p:spPr>
          <a:xfrm>
            <a:off x="4663440" y="219456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−0.014</a:t>
            </a:r>
            <a:endParaRPr b="0" i="0" sz="1400" u="none" cap="none" strike="noStrike">
              <a:solidFill>
                <a:schemeClr val="dk1"/>
              </a:solidFill>
              <a:latin typeface="Calibri"/>
              <a:ea typeface="Calibri"/>
              <a:cs typeface="Calibri"/>
              <a:sym typeface="Calibri"/>
            </a:endParaRPr>
          </a:p>
        </p:txBody>
      </p:sp>
      <p:sp>
        <p:nvSpPr>
          <p:cNvPr id="282" name="Google Shape;282;p26"/>
          <p:cNvSpPr/>
          <p:nvPr/>
        </p:nvSpPr>
        <p:spPr>
          <a:xfrm>
            <a:off x="6675120" y="2194560"/>
            <a:ext cx="1828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400"/>
              <a:buFont typeface="Georgia"/>
              <a:buNone/>
            </a:pPr>
            <a:r>
              <a:rPr b="1" i="0" lang="en-US" sz="1400" u="none" cap="none" strike="noStrike">
                <a:solidFill>
                  <a:srgbClr val="94A3B8"/>
                </a:solidFill>
                <a:latin typeface="Georgia"/>
                <a:ea typeface="Georgia"/>
                <a:cs typeface="Georgia"/>
                <a:sym typeface="Georgia"/>
              </a:rPr>
              <a:t>+0.007</a:t>
            </a:r>
            <a:endParaRPr b="0" i="0" sz="1400" u="none" cap="none" strike="noStrike">
              <a:solidFill>
                <a:schemeClr val="dk1"/>
              </a:solidFill>
              <a:latin typeface="Calibri"/>
              <a:ea typeface="Calibri"/>
              <a:cs typeface="Calibri"/>
              <a:sym typeface="Calibri"/>
            </a:endParaRPr>
          </a:p>
        </p:txBody>
      </p:sp>
      <p:sp>
        <p:nvSpPr>
          <p:cNvPr id="283" name="Google Shape;283;p26"/>
          <p:cNvSpPr/>
          <p:nvPr/>
        </p:nvSpPr>
        <p:spPr>
          <a:xfrm>
            <a:off x="457200" y="2606040"/>
            <a:ext cx="8229600" cy="4116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6"/>
          <p:cNvSpPr/>
          <p:nvPr/>
        </p:nvSpPr>
        <p:spPr>
          <a:xfrm>
            <a:off x="731520" y="2606040"/>
            <a:ext cx="1920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Random Forest</a:t>
            </a:r>
            <a:endParaRPr b="0" i="0" sz="1200" u="none" cap="none" strike="noStrike">
              <a:solidFill>
                <a:schemeClr val="dk1"/>
              </a:solidFill>
              <a:latin typeface="Calibri"/>
              <a:ea typeface="Calibri"/>
              <a:cs typeface="Calibri"/>
              <a:sym typeface="Calibri"/>
            </a:endParaRPr>
          </a:p>
        </p:txBody>
      </p:sp>
      <p:sp>
        <p:nvSpPr>
          <p:cNvPr id="285" name="Google Shape;285;p26"/>
          <p:cNvSpPr/>
          <p:nvPr/>
        </p:nvSpPr>
        <p:spPr>
          <a:xfrm>
            <a:off x="2651760" y="260604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−0.222</a:t>
            </a:r>
            <a:endParaRPr b="0" i="0" sz="1400" u="none" cap="none" strike="noStrike">
              <a:solidFill>
                <a:schemeClr val="dk1"/>
              </a:solidFill>
              <a:latin typeface="Calibri"/>
              <a:ea typeface="Calibri"/>
              <a:cs typeface="Calibri"/>
              <a:sym typeface="Calibri"/>
            </a:endParaRPr>
          </a:p>
        </p:txBody>
      </p:sp>
      <p:sp>
        <p:nvSpPr>
          <p:cNvPr id="286" name="Google Shape;286;p26"/>
          <p:cNvSpPr/>
          <p:nvPr/>
        </p:nvSpPr>
        <p:spPr>
          <a:xfrm>
            <a:off x="4663440" y="260604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−0.055</a:t>
            </a:r>
            <a:endParaRPr b="0" i="0" sz="1400" u="none" cap="none" strike="noStrike">
              <a:solidFill>
                <a:schemeClr val="dk1"/>
              </a:solidFill>
              <a:latin typeface="Calibri"/>
              <a:ea typeface="Calibri"/>
              <a:cs typeface="Calibri"/>
              <a:sym typeface="Calibri"/>
            </a:endParaRPr>
          </a:p>
        </p:txBody>
      </p:sp>
      <p:sp>
        <p:nvSpPr>
          <p:cNvPr id="287" name="Google Shape;287;p26"/>
          <p:cNvSpPr/>
          <p:nvPr/>
        </p:nvSpPr>
        <p:spPr>
          <a:xfrm>
            <a:off x="6675120" y="2606040"/>
            <a:ext cx="1828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400"/>
              <a:buFont typeface="Georgia"/>
              <a:buNone/>
            </a:pPr>
            <a:r>
              <a:rPr b="1" i="0" lang="en-US" sz="1400" u="none" cap="none" strike="noStrike">
                <a:solidFill>
                  <a:srgbClr val="94A3B8"/>
                </a:solidFill>
                <a:latin typeface="Georgia"/>
                <a:ea typeface="Georgia"/>
                <a:cs typeface="Georgia"/>
                <a:sym typeface="Georgia"/>
              </a:rPr>
              <a:t>+0.167</a:t>
            </a:r>
            <a:endParaRPr b="0" i="0" sz="1400" u="none" cap="none" strike="noStrike">
              <a:solidFill>
                <a:schemeClr val="dk1"/>
              </a:solidFill>
              <a:latin typeface="Calibri"/>
              <a:ea typeface="Calibri"/>
              <a:cs typeface="Calibri"/>
              <a:sym typeface="Calibri"/>
            </a:endParaRPr>
          </a:p>
        </p:txBody>
      </p:sp>
      <p:sp>
        <p:nvSpPr>
          <p:cNvPr id="288" name="Google Shape;288;p26"/>
          <p:cNvSpPr/>
          <p:nvPr/>
        </p:nvSpPr>
        <p:spPr>
          <a:xfrm>
            <a:off x="457200" y="3017520"/>
            <a:ext cx="8229600" cy="4116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6"/>
          <p:cNvSpPr/>
          <p:nvPr/>
        </p:nvSpPr>
        <p:spPr>
          <a:xfrm>
            <a:off x="731520" y="3017520"/>
            <a:ext cx="19203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XGBoost</a:t>
            </a:r>
            <a:endParaRPr b="0" i="0" sz="1200" u="none" cap="none" strike="noStrike">
              <a:solidFill>
                <a:schemeClr val="dk1"/>
              </a:solidFill>
              <a:latin typeface="Calibri"/>
              <a:ea typeface="Calibri"/>
              <a:cs typeface="Calibri"/>
              <a:sym typeface="Calibri"/>
            </a:endParaRPr>
          </a:p>
        </p:txBody>
      </p:sp>
      <p:sp>
        <p:nvSpPr>
          <p:cNvPr id="290" name="Google Shape;290;p26"/>
          <p:cNvSpPr/>
          <p:nvPr/>
        </p:nvSpPr>
        <p:spPr>
          <a:xfrm>
            <a:off x="2651760" y="301752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−0.305</a:t>
            </a:r>
            <a:endParaRPr b="0" i="0" sz="1400" u="none" cap="none" strike="noStrike">
              <a:solidFill>
                <a:schemeClr val="dk1"/>
              </a:solidFill>
              <a:latin typeface="Calibri"/>
              <a:ea typeface="Calibri"/>
              <a:cs typeface="Calibri"/>
              <a:sym typeface="Calibri"/>
            </a:endParaRPr>
          </a:p>
        </p:txBody>
      </p:sp>
      <p:sp>
        <p:nvSpPr>
          <p:cNvPr id="291" name="Google Shape;291;p26"/>
          <p:cNvSpPr/>
          <p:nvPr/>
        </p:nvSpPr>
        <p:spPr>
          <a:xfrm>
            <a:off x="4663440" y="3017520"/>
            <a:ext cx="2011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91C1C"/>
              </a:buClr>
              <a:buSzPts val="1400"/>
              <a:buFont typeface="Georgia"/>
              <a:buNone/>
            </a:pPr>
            <a:r>
              <a:rPr b="1" i="0" lang="en-US" sz="1400" u="none" cap="none" strike="noStrike">
                <a:solidFill>
                  <a:srgbClr val="B91C1C"/>
                </a:solidFill>
                <a:latin typeface="Georgia"/>
                <a:ea typeface="Georgia"/>
                <a:cs typeface="Georgia"/>
                <a:sym typeface="Georgia"/>
              </a:rPr>
              <a:t>−0.164</a:t>
            </a:r>
            <a:endParaRPr b="0" i="0" sz="1400" u="none" cap="none" strike="noStrike">
              <a:solidFill>
                <a:schemeClr val="dk1"/>
              </a:solidFill>
              <a:latin typeface="Calibri"/>
              <a:ea typeface="Calibri"/>
              <a:cs typeface="Calibri"/>
              <a:sym typeface="Calibri"/>
            </a:endParaRPr>
          </a:p>
        </p:txBody>
      </p:sp>
      <p:sp>
        <p:nvSpPr>
          <p:cNvPr id="292" name="Google Shape;292;p26"/>
          <p:cNvSpPr/>
          <p:nvPr/>
        </p:nvSpPr>
        <p:spPr>
          <a:xfrm>
            <a:off x="6675120" y="3017520"/>
            <a:ext cx="1828800" cy="4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1400"/>
              <a:buFont typeface="Georgia"/>
              <a:buNone/>
            </a:pPr>
            <a:r>
              <a:rPr b="1" i="0" lang="en-US" sz="1400" u="none" cap="none" strike="noStrike">
                <a:solidFill>
                  <a:srgbClr val="94A3B8"/>
                </a:solidFill>
                <a:latin typeface="Georgia"/>
                <a:ea typeface="Georgia"/>
                <a:cs typeface="Georgia"/>
                <a:sym typeface="Georgia"/>
              </a:rPr>
              <a:t>+0.141</a:t>
            </a:r>
            <a:endParaRPr b="0" i="0" sz="1400" u="none" cap="none" strike="noStrike">
              <a:solidFill>
                <a:schemeClr val="dk1"/>
              </a:solidFill>
              <a:latin typeface="Calibri"/>
              <a:ea typeface="Calibri"/>
              <a:cs typeface="Calibri"/>
              <a:sym typeface="Calibri"/>
            </a:endParaRPr>
          </a:p>
        </p:txBody>
      </p:sp>
      <p:sp>
        <p:nvSpPr>
          <p:cNvPr id="293" name="Google Shape;293;p26"/>
          <p:cNvSpPr/>
          <p:nvPr/>
        </p:nvSpPr>
        <p:spPr>
          <a:xfrm>
            <a:off x="457200" y="3657600"/>
            <a:ext cx="4023300" cy="10974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6"/>
          <p:cNvSpPr/>
          <p:nvPr/>
        </p:nvSpPr>
        <p:spPr>
          <a:xfrm>
            <a:off x="457200" y="3657600"/>
            <a:ext cx="73200" cy="1097400"/>
          </a:xfrm>
          <a:prstGeom prst="rect">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6"/>
          <p:cNvSpPr/>
          <p:nvPr/>
        </p:nvSpPr>
        <p:spPr>
          <a:xfrm>
            <a:off x="685800" y="3767328"/>
            <a:ext cx="37491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1000"/>
              <a:buFont typeface="Calibri"/>
              <a:buNone/>
            </a:pPr>
            <a:r>
              <a:rPr b="1" i="0" lang="en-US" sz="1000" u="none" cap="none" strike="noStrike">
                <a:solidFill>
                  <a:srgbClr val="F4B942"/>
                </a:solidFill>
                <a:latin typeface="Calibri"/>
                <a:ea typeface="Calibri"/>
                <a:cs typeface="Calibri"/>
                <a:sym typeface="Calibri"/>
              </a:rPr>
              <a:t>READ IT CAREFULLY</a:t>
            </a:r>
            <a:endParaRPr b="0" i="0" sz="1000" u="none" cap="none" strike="noStrike">
              <a:solidFill>
                <a:schemeClr val="dk1"/>
              </a:solidFill>
              <a:latin typeface="Calibri"/>
              <a:ea typeface="Calibri"/>
              <a:cs typeface="Calibri"/>
              <a:sym typeface="Calibri"/>
            </a:endParaRPr>
          </a:p>
        </p:txBody>
      </p:sp>
      <p:sp>
        <p:nvSpPr>
          <p:cNvPr id="296" name="Google Shape;296;p26"/>
          <p:cNvSpPr/>
          <p:nvPr/>
        </p:nvSpPr>
        <p:spPr>
          <a:xfrm>
            <a:off x="685800" y="4005072"/>
            <a:ext cx="37491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Tree models rise when enriched — but only because they stop overfitting. None crosses zero.</a:t>
            </a:r>
            <a:endParaRPr b="0" i="0" sz="1100" u="none" cap="none" strike="noStrike">
              <a:solidFill>
                <a:schemeClr val="dk1"/>
              </a:solidFill>
              <a:latin typeface="Calibri"/>
              <a:ea typeface="Calibri"/>
              <a:cs typeface="Calibri"/>
              <a:sym typeface="Calibri"/>
            </a:endParaRPr>
          </a:p>
        </p:txBody>
      </p:sp>
      <p:sp>
        <p:nvSpPr>
          <p:cNvPr id="297" name="Google Shape;297;p26"/>
          <p:cNvSpPr/>
          <p:nvPr/>
        </p:nvSpPr>
        <p:spPr>
          <a:xfrm>
            <a:off x="4663440" y="3657600"/>
            <a:ext cx="4023300" cy="10974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6"/>
          <p:cNvSpPr/>
          <p:nvPr/>
        </p:nvSpPr>
        <p:spPr>
          <a:xfrm>
            <a:off x="4892040" y="3767328"/>
            <a:ext cx="37491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1000"/>
              <a:buFont typeface="Calibri"/>
              <a:buNone/>
            </a:pPr>
            <a:r>
              <a:rPr b="1" i="0" lang="en-US" sz="1000" u="none" cap="none" strike="noStrike">
                <a:solidFill>
                  <a:srgbClr val="F4B942"/>
                </a:solidFill>
                <a:latin typeface="Calibri"/>
                <a:ea typeface="Calibri"/>
                <a:cs typeface="Calibri"/>
                <a:sym typeface="Calibri"/>
              </a:rPr>
              <a:t>THE CEILING</a:t>
            </a:r>
            <a:endParaRPr b="0" i="0" sz="1000" u="none" cap="none" strike="noStrike">
              <a:solidFill>
                <a:schemeClr val="dk1"/>
              </a:solidFill>
              <a:latin typeface="Calibri"/>
              <a:ea typeface="Calibri"/>
              <a:cs typeface="Calibri"/>
              <a:sym typeface="Calibri"/>
            </a:endParaRPr>
          </a:p>
        </p:txBody>
      </p:sp>
      <p:sp>
        <p:nvSpPr>
          <p:cNvPr id="299" name="Google Shape;299;p26"/>
          <p:cNvSpPr/>
          <p:nvPr/>
        </p:nvSpPr>
        <p:spPr>
          <a:xfrm>
            <a:off x="4892040" y="4005072"/>
            <a:ext cx="37491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MAE ≈ 0.04</a:t>
            </a:r>
            <a:r>
              <a:rPr b="0" i="0" lang="en-US" sz="1200" u="none" cap="none" strike="noStrike">
                <a:solidFill>
                  <a:srgbClr val="CBD5E1"/>
                </a:solidFill>
                <a:latin typeface="Calibri"/>
                <a:ea typeface="Calibri"/>
                <a:cs typeface="Calibri"/>
                <a:sym typeface="Calibri"/>
              </a:rPr>
              <a:t>   —   4 pp of noise around a mean of 96.6%.</a:t>
            </a:r>
            <a:r>
              <a:rPr b="0" i="0" lang="en-US" sz="1400" u="none" cap="none" strike="noStrike">
                <a:solidFill>
                  <a:srgbClr val="000000"/>
                </a:solidFill>
                <a:latin typeface="Calibri"/>
                <a:ea typeface="Calibri"/>
                <a:cs typeface="Calibri"/>
                <a:sym typeface="Calibri"/>
              </a:rPr>
              <a:t> </a:t>
            </a:r>
            <a:endParaRPr b="0" i="0" sz="1400" u="none" cap="none" strike="noStrike">
              <a:solidFill>
                <a:schemeClr val="dk1"/>
              </a:solidFill>
              <a:latin typeface="Calibri"/>
              <a:ea typeface="Calibri"/>
              <a:cs typeface="Calibri"/>
              <a:sym typeface="Calibri"/>
            </a:endParaRPr>
          </a:p>
          <a:p>
            <a:pPr indent="0" lvl="0" marL="0" marR="0" rtl="0" algn="l">
              <a:spcBef>
                <a:spcPts val="300"/>
              </a:spcBef>
              <a:spcAft>
                <a:spcPts val="0"/>
              </a:spcAft>
              <a:buClr>
                <a:srgbClr val="F4B942"/>
              </a:buClr>
              <a:buSzPts val="1100"/>
              <a:buFont typeface="Calibri"/>
              <a:buNone/>
            </a:pPr>
            <a:r>
              <a:rPr b="0" i="1" lang="en-US" sz="1100" u="none" cap="none" strike="noStrike">
                <a:solidFill>
                  <a:srgbClr val="F4B942"/>
                </a:solidFill>
                <a:latin typeface="Calibri"/>
                <a:ea typeface="Calibri"/>
                <a:cs typeface="Calibri"/>
                <a:sym typeface="Calibri"/>
              </a:rPr>
              <a:t>A constant-mean predictor beats every model tested.</a:t>
            </a:r>
            <a:endParaRPr b="0" i="0" sz="1400" u="none" cap="none" strike="noStrike">
              <a:solidFill>
                <a:schemeClr val="dk1"/>
              </a:solidFill>
              <a:latin typeface="Calibri"/>
              <a:ea typeface="Calibri"/>
              <a:cs typeface="Calibri"/>
              <a:sym typeface="Calibri"/>
            </a:endParaRPr>
          </a:p>
        </p:txBody>
      </p:sp>
      <p:sp>
        <p:nvSpPr>
          <p:cNvPr id="300" name="Google Shape;300;p26"/>
          <p:cNvSpPr/>
          <p:nvPr/>
        </p:nvSpPr>
        <p:spPr>
          <a:xfrm>
            <a:off x="457200" y="4754880"/>
            <a:ext cx="822960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4A3B8"/>
              </a:buClr>
              <a:buSzPts val="900"/>
              <a:buFont typeface="Calibri"/>
              <a:buNone/>
            </a:pPr>
            <a:r>
              <a:rPr b="0" i="1" lang="en-US" sz="900" u="none" cap="none" strike="noStrike">
                <a:solidFill>
                  <a:srgbClr val="94A3B8"/>
                </a:solidFill>
                <a:latin typeface="Calibri"/>
                <a:ea typeface="Calibri"/>
                <a:cs typeface="Calibri"/>
                <a:sym typeface="Calibri"/>
              </a:rPr>
              <a:t>n = 3,968 cities  ·  96.7% petition coverage  ·  identical rows across specs</a:t>
            </a:r>
            <a:endParaRPr b="0" i="0" sz="900" u="none" cap="none" strike="noStrike">
              <a:solidFill>
                <a:schemeClr val="dk1"/>
              </a:solidFill>
              <a:latin typeface="Calibri"/>
              <a:ea typeface="Calibri"/>
              <a:cs typeface="Calibri"/>
              <a:sym typeface="Calibri"/>
            </a:endParaRPr>
          </a:p>
        </p:txBody>
      </p:sp>
      <p:sp>
        <p:nvSpPr>
          <p:cNvPr id="301" name="Google Shape;301;p26"/>
          <p:cNvSpPr/>
          <p:nvPr/>
        </p:nvSpPr>
        <p:spPr>
          <a:xfrm>
            <a:off x="8138160" y="4937760"/>
            <a:ext cx="6402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8 / 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27"/>
          <p:cNvSpPr/>
          <p:nvPr/>
        </p:nvSpPr>
        <p:spPr>
          <a:xfrm>
            <a:off x="457200" y="2743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INTERPRETATION</a:t>
            </a:r>
            <a:endParaRPr b="0" i="0" sz="1000" u="none" cap="none" strike="noStrike">
              <a:solidFill>
                <a:schemeClr val="dk1"/>
              </a:solidFill>
              <a:latin typeface="Calibri"/>
              <a:ea typeface="Calibri"/>
              <a:cs typeface="Calibri"/>
              <a:sym typeface="Calibri"/>
            </a:endParaRPr>
          </a:p>
        </p:txBody>
      </p:sp>
      <p:sp>
        <p:nvSpPr>
          <p:cNvPr id="308" name="Google Shape;308;p27"/>
          <p:cNvSpPr/>
          <p:nvPr/>
        </p:nvSpPr>
        <p:spPr>
          <a:xfrm>
            <a:off x="457200" y="566928"/>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The Data Is Bounded, Not the Method</a:t>
            </a:r>
            <a:endParaRPr b="0" i="0" sz="2800" u="none" cap="none" strike="noStrike">
              <a:solidFill>
                <a:schemeClr val="dk1"/>
              </a:solidFill>
              <a:latin typeface="Calibri"/>
              <a:ea typeface="Calibri"/>
              <a:cs typeface="Calibri"/>
              <a:sym typeface="Calibri"/>
            </a:endParaRPr>
          </a:p>
        </p:txBody>
      </p:sp>
      <p:sp>
        <p:nvSpPr>
          <p:cNvPr id="309" name="Google Shape;309;p27"/>
          <p:cNvSpPr/>
          <p:nvPr/>
        </p:nvSpPr>
        <p:spPr>
          <a:xfrm>
            <a:off x="457200" y="1280160"/>
            <a:ext cx="8412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1" lang="en-US" sz="1300" u="none" cap="none" strike="noStrike">
                <a:solidFill>
                  <a:srgbClr val="475569"/>
                </a:solidFill>
                <a:latin typeface="Calibri"/>
                <a:ea typeface="Calibri"/>
                <a:cs typeface="Calibri"/>
                <a:sym typeface="Calibri"/>
              </a:rPr>
              <a:t>Three layers converge on one answer</a:t>
            </a:r>
            <a:endParaRPr b="0" i="0" sz="1300" u="none" cap="none" strike="noStrike">
              <a:solidFill>
                <a:schemeClr val="dk1"/>
              </a:solidFill>
              <a:latin typeface="Calibri"/>
              <a:ea typeface="Calibri"/>
              <a:cs typeface="Calibri"/>
              <a:sym typeface="Calibri"/>
            </a:endParaRPr>
          </a:p>
        </p:txBody>
      </p:sp>
      <p:sp>
        <p:nvSpPr>
          <p:cNvPr id="310" name="Google Shape;310;p27"/>
          <p:cNvSpPr/>
          <p:nvPr/>
        </p:nvSpPr>
        <p:spPr>
          <a:xfrm>
            <a:off x="457200" y="1783080"/>
            <a:ext cx="8229600" cy="7773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457200" y="1783080"/>
            <a:ext cx="73200" cy="777300"/>
          </a:xfrm>
          <a:prstGeom prst="rect">
            <a:avLst/>
          </a:prstGeom>
          <a:solidFill>
            <a:srgbClr val="059669"/>
          </a:solidFill>
          <a:ln cap="flat" cmpd="sng" w="12700">
            <a:solidFill>
              <a:srgbClr val="0596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685800" y="19202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59669"/>
              </a:buClr>
              <a:buSzPts val="2200"/>
              <a:buFont typeface="Georgia"/>
              <a:buNone/>
            </a:pPr>
            <a:r>
              <a:rPr b="1" i="0" lang="en-US" sz="2200" u="none" cap="none" strike="noStrike">
                <a:solidFill>
                  <a:srgbClr val="059669"/>
                </a:solidFill>
                <a:latin typeface="Georgia"/>
                <a:ea typeface="Georgia"/>
                <a:cs typeface="Georgia"/>
                <a:sym typeface="Georgia"/>
              </a:rPr>
              <a:t>L1</a:t>
            </a:r>
            <a:endParaRPr b="0" i="0" sz="2200" u="none" cap="none" strike="noStrike">
              <a:solidFill>
                <a:schemeClr val="dk1"/>
              </a:solidFill>
              <a:latin typeface="Calibri"/>
              <a:ea typeface="Calibri"/>
              <a:cs typeface="Calibri"/>
              <a:sym typeface="Calibri"/>
            </a:endParaRPr>
          </a:p>
        </p:txBody>
      </p:sp>
      <p:sp>
        <p:nvSpPr>
          <p:cNvPr id="313" name="Google Shape;313;p27"/>
          <p:cNvSpPr/>
          <p:nvPr/>
        </p:nvSpPr>
        <p:spPr>
          <a:xfrm>
            <a:off x="1417320" y="1874520"/>
            <a:ext cx="7132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Demand is publicly visible</a:t>
            </a:r>
            <a:endParaRPr b="0" i="0" sz="1400" u="none" cap="none" strike="noStrike">
              <a:solidFill>
                <a:schemeClr val="dk1"/>
              </a:solidFill>
              <a:latin typeface="Calibri"/>
              <a:ea typeface="Calibri"/>
              <a:cs typeface="Calibri"/>
              <a:sym typeface="Calibri"/>
            </a:endParaRPr>
          </a:p>
        </p:txBody>
      </p:sp>
      <p:sp>
        <p:nvSpPr>
          <p:cNvPr id="314" name="Google Shape;314;p27"/>
          <p:cNvSpPr/>
          <p:nvPr/>
        </p:nvSpPr>
        <p:spPr>
          <a:xfrm>
            <a:off x="1417320" y="2194560"/>
            <a:ext cx="7132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Where H-1B workers are needed — driven by wages, density, state effects — is learnable from public data.</a:t>
            </a:r>
            <a:endParaRPr b="0" i="0" sz="1100" u="none" cap="none" strike="noStrike">
              <a:solidFill>
                <a:schemeClr val="dk1"/>
              </a:solidFill>
              <a:latin typeface="Calibri"/>
              <a:ea typeface="Calibri"/>
              <a:cs typeface="Calibri"/>
              <a:sym typeface="Calibri"/>
            </a:endParaRPr>
          </a:p>
        </p:txBody>
      </p:sp>
      <p:sp>
        <p:nvSpPr>
          <p:cNvPr id="315" name="Google Shape;315;p27"/>
          <p:cNvSpPr/>
          <p:nvPr/>
        </p:nvSpPr>
        <p:spPr>
          <a:xfrm>
            <a:off x="457200" y="2651760"/>
            <a:ext cx="8229600" cy="7773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p:nvPr/>
        </p:nvSpPr>
        <p:spPr>
          <a:xfrm>
            <a:off x="457200" y="2651760"/>
            <a:ext cx="73200" cy="777300"/>
          </a:xfrm>
          <a:prstGeom prst="rect">
            <a:avLst/>
          </a:prstGeom>
          <a:solidFill>
            <a:srgbClr val="B91C1C"/>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7"/>
          <p:cNvSpPr/>
          <p:nvPr/>
        </p:nvSpPr>
        <p:spPr>
          <a:xfrm>
            <a:off x="685800" y="27889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2200"/>
              <a:buFont typeface="Georgia"/>
              <a:buNone/>
            </a:pPr>
            <a:r>
              <a:rPr b="1" i="0" lang="en-US" sz="2200" u="none" cap="none" strike="noStrike">
                <a:solidFill>
                  <a:srgbClr val="B91C1C"/>
                </a:solidFill>
                <a:latin typeface="Georgia"/>
                <a:ea typeface="Georgia"/>
                <a:cs typeface="Georgia"/>
                <a:sym typeface="Georgia"/>
              </a:rPr>
              <a:t>L2</a:t>
            </a:r>
            <a:endParaRPr b="0" i="0" sz="2200" u="none" cap="none" strike="noStrike">
              <a:solidFill>
                <a:schemeClr val="dk1"/>
              </a:solidFill>
              <a:latin typeface="Calibri"/>
              <a:ea typeface="Calibri"/>
              <a:cs typeface="Calibri"/>
              <a:sym typeface="Calibri"/>
            </a:endParaRPr>
          </a:p>
        </p:txBody>
      </p:sp>
      <p:sp>
        <p:nvSpPr>
          <p:cNvPr id="318" name="Google Shape;318;p27"/>
          <p:cNvSpPr/>
          <p:nvPr/>
        </p:nvSpPr>
        <p:spPr>
          <a:xfrm>
            <a:off x="1417320" y="2743200"/>
            <a:ext cx="7132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Approval, at the employer level, is not</a:t>
            </a:r>
            <a:endParaRPr b="0" i="0" sz="1400" u="none" cap="none" strike="noStrike">
              <a:solidFill>
                <a:schemeClr val="dk1"/>
              </a:solidFill>
              <a:latin typeface="Calibri"/>
              <a:ea typeface="Calibri"/>
              <a:cs typeface="Calibri"/>
              <a:sym typeface="Calibri"/>
            </a:endParaRPr>
          </a:p>
        </p:txBody>
      </p:sp>
      <p:sp>
        <p:nvSpPr>
          <p:cNvPr id="319" name="Google Shape;319;p27"/>
          <p:cNvSpPr/>
          <p:nvPr/>
        </p:nvSpPr>
        <p:spPr>
          <a:xfrm>
            <a:off x="1417320" y="3063240"/>
            <a:ext cx="7132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State, NAICS, application mix explain &lt; 0.5% of variance. 82% of rows live at ≥99.9% approval.</a:t>
            </a:r>
            <a:endParaRPr b="0" i="0" sz="1100" u="none" cap="none" strike="noStrike">
              <a:solidFill>
                <a:schemeClr val="dk1"/>
              </a:solidFill>
              <a:latin typeface="Calibri"/>
              <a:ea typeface="Calibri"/>
              <a:cs typeface="Calibri"/>
              <a:sym typeface="Calibri"/>
            </a:endParaRPr>
          </a:p>
        </p:txBody>
      </p:sp>
      <p:sp>
        <p:nvSpPr>
          <p:cNvPr id="320" name="Google Shape;320;p27"/>
          <p:cNvSpPr/>
          <p:nvPr/>
        </p:nvSpPr>
        <p:spPr>
          <a:xfrm>
            <a:off x="457200" y="3520440"/>
            <a:ext cx="8229600" cy="7773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
          <p:cNvSpPr/>
          <p:nvPr/>
        </p:nvSpPr>
        <p:spPr>
          <a:xfrm>
            <a:off x="457200" y="3520440"/>
            <a:ext cx="73200" cy="777300"/>
          </a:xfrm>
          <a:prstGeom prst="rect">
            <a:avLst/>
          </a:prstGeom>
          <a:solidFill>
            <a:srgbClr val="B91C1C"/>
          </a:solidFill>
          <a:ln cap="flat" cmpd="sng" w="12700">
            <a:solidFill>
              <a:srgbClr val="B9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a:off x="685800" y="365760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1C1C"/>
              </a:buClr>
              <a:buSzPts val="2200"/>
              <a:buFont typeface="Georgia"/>
              <a:buNone/>
            </a:pPr>
            <a:r>
              <a:rPr b="1" i="0" lang="en-US" sz="2200" u="none" cap="none" strike="noStrike">
                <a:solidFill>
                  <a:srgbClr val="B91C1C"/>
                </a:solidFill>
                <a:latin typeface="Georgia"/>
                <a:ea typeface="Georgia"/>
                <a:cs typeface="Georgia"/>
                <a:sym typeface="Georgia"/>
              </a:rPr>
              <a:t>L3</a:t>
            </a:r>
            <a:endParaRPr b="0" i="0" sz="2200" u="none" cap="none" strike="noStrike">
              <a:solidFill>
                <a:schemeClr val="dk1"/>
              </a:solidFill>
              <a:latin typeface="Calibri"/>
              <a:ea typeface="Calibri"/>
              <a:cs typeface="Calibri"/>
              <a:sym typeface="Calibri"/>
            </a:endParaRPr>
          </a:p>
        </p:txBody>
      </p:sp>
      <p:sp>
        <p:nvSpPr>
          <p:cNvPr id="323" name="Google Shape;323;p27"/>
          <p:cNvSpPr/>
          <p:nvPr/>
        </p:nvSpPr>
        <p:spPr>
          <a:xfrm>
            <a:off x="1417320" y="3611880"/>
            <a:ext cx="7132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Enrichment doesn't move the ceiling</a:t>
            </a:r>
            <a:endParaRPr b="0" i="0" sz="1400" u="none" cap="none" strike="noStrike">
              <a:solidFill>
                <a:schemeClr val="dk1"/>
              </a:solidFill>
              <a:latin typeface="Calibri"/>
              <a:ea typeface="Calibri"/>
              <a:cs typeface="Calibri"/>
              <a:sym typeface="Calibri"/>
            </a:endParaRPr>
          </a:p>
        </p:txBody>
      </p:sp>
      <p:sp>
        <p:nvSpPr>
          <p:cNvPr id="324" name="Google Shape;324;p27"/>
          <p:cNvSpPr/>
          <p:nvPr/>
        </p:nvSpPr>
        <p:spPr>
          <a:xfrm>
            <a:off x="1417320" y="3931920"/>
            <a:ext cx="71322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alibri"/>
              <a:buNone/>
            </a:pPr>
            <a:r>
              <a:rPr b="0" i="0" lang="en-US" sz="1100" u="none" cap="none" strike="noStrike">
                <a:solidFill>
                  <a:srgbClr val="475569"/>
                </a:solidFill>
                <a:latin typeface="Calibri"/>
                <a:ea typeface="Calibri"/>
                <a:cs typeface="Calibri"/>
                <a:sym typeface="Calibri"/>
              </a:rPr>
              <a:t>Adding LCA wage + Census economy across 3,968 cities still yields R² ≤ 0 for every model tried.</a:t>
            </a:r>
            <a:endParaRPr b="0" i="0" sz="1100" u="none" cap="none" strike="noStrike">
              <a:solidFill>
                <a:schemeClr val="dk1"/>
              </a:solidFill>
              <a:latin typeface="Calibri"/>
              <a:ea typeface="Calibri"/>
              <a:cs typeface="Calibri"/>
              <a:sym typeface="Calibri"/>
            </a:endParaRPr>
          </a:p>
        </p:txBody>
      </p:sp>
      <p:sp>
        <p:nvSpPr>
          <p:cNvPr id="325" name="Google Shape;325;p27"/>
          <p:cNvSpPr/>
          <p:nvPr/>
        </p:nvSpPr>
        <p:spPr>
          <a:xfrm>
            <a:off x="457200" y="4434840"/>
            <a:ext cx="8229600" cy="5487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p:nvPr/>
        </p:nvSpPr>
        <p:spPr>
          <a:xfrm>
            <a:off x="457200" y="4434840"/>
            <a:ext cx="109800" cy="548700"/>
          </a:xfrm>
          <a:prstGeom prst="rect">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a:off x="731520" y="4434840"/>
            <a:ext cx="78639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B942"/>
              </a:buClr>
              <a:buSzPts val="1100"/>
              <a:buFont typeface="Calibri"/>
              <a:buNone/>
            </a:pPr>
            <a:r>
              <a:rPr b="1" i="0" lang="en-US" sz="1100" u="none" cap="none" strike="noStrike">
                <a:solidFill>
                  <a:srgbClr val="F4B942"/>
                </a:solidFill>
                <a:latin typeface="Calibri"/>
                <a:ea typeface="Calibri"/>
                <a:cs typeface="Calibri"/>
                <a:sym typeface="Calibri"/>
              </a:rPr>
              <a:t>THE ANSWER  </a:t>
            </a:r>
            <a:r>
              <a:rPr b="0" i="0" lang="en-US" sz="1200" u="none" cap="none" strike="noStrike">
                <a:solidFill>
                  <a:srgbClr val="FFFFFF"/>
                </a:solidFill>
                <a:latin typeface="Calibri"/>
                <a:ea typeface="Calibri"/>
                <a:cs typeface="Calibri"/>
                <a:sym typeface="Calibri"/>
              </a:rPr>
              <a:t>Approval variance lives </a:t>
            </a:r>
            <a:r>
              <a:rPr b="1" i="1" lang="en-US" sz="1200" u="none" cap="none" strike="noStrike">
                <a:solidFill>
                  <a:srgbClr val="FFFFFF"/>
                </a:solidFill>
                <a:latin typeface="Calibri"/>
                <a:ea typeface="Calibri"/>
                <a:cs typeface="Calibri"/>
                <a:sym typeface="Calibri"/>
              </a:rPr>
              <a:t>inside individual case files</a:t>
            </a:r>
            <a:r>
              <a:rPr b="0" i="0" lang="en-US" sz="1200" u="none" cap="none" strike="noStrike">
                <a:solidFill>
                  <a:srgbClr val="FFFFFF"/>
                </a:solidFill>
                <a:latin typeface="Calibri"/>
                <a:ea typeface="Calibri"/>
                <a:cs typeface="Calibri"/>
                <a:sym typeface="Calibri"/>
              </a:rPr>
              <a:t> — wage vs. prevailing-wage by SOC, RFE history, attorney, documentation quality. None of those are in any public release.</a:t>
            </a:r>
            <a:endParaRPr b="0" i="0" sz="1100" u="none" cap="none" strike="noStrike">
              <a:solidFill>
                <a:schemeClr val="dk1"/>
              </a:solidFill>
              <a:latin typeface="Calibri"/>
              <a:ea typeface="Calibri"/>
              <a:cs typeface="Calibri"/>
              <a:sym typeface="Calibri"/>
            </a:endParaRPr>
          </a:p>
        </p:txBody>
      </p:sp>
      <p:sp>
        <p:nvSpPr>
          <p:cNvPr id="328" name="Google Shape;328;p27"/>
          <p:cNvSpPr/>
          <p:nvPr/>
        </p:nvSpPr>
        <p:spPr>
          <a:xfrm>
            <a:off x="8138160" y="4937760"/>
            <a:ext cx="6402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9 / 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28"/>
          <p:cNvSpPr/>
          <p:nvPr/>
        </p:nvSpPr>
        <p:spPr>
          <a:xfrm>
            <a:off x="457200" y="2743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LIMITATIONS</a:t>
            </a:r>
            <a:endParaRPr b="0" i="0" sz="1000" u="none" cap="none" strike="noStrike">
              <a:solidFill>
                <a:schemeClr val="dk1"/>
              </a:solidFill>
              <a:latin typeface="Calibri"/>
              <a:ea typeface="Calibri"/>
              <a:cs typeface="Calibri"/>
              <a:sym typeface="Calibri"/>
            </a:endParaRPr>
          </a:p>
        </p:txBody>
      </p:sp>
      <p:sp>
        <p:nvSpPr>
          <p:cNvPr id="335" name="Google Shape;335;p28"/>
          <p:cNvSpPr/>
          <p:nvPr/>
        </p:nvSpPr>
        <p:spPr>
          <a:xfrm>
            <a:off x="457200" y="566928"/>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What We Claim — and What We Don't</a:t>
            </a:r>
            <a:endParaRPr b="0" i="0" sz="2800" u="none" cap="none" strike="noStrike">
              <a:solidFill>
                <a:schemeClr val="dk1"/>
              </a:solidFill>
              <a:latin typeface="Calibri"/>
              <a:ea typeface="Calibri"/>
              <a:cs typeface="Calibri"/>
              <a:sym typeface="Calibri"/>
            </a:endParaRPr>
          </a:p>
        </p:txBody>
      </p:sp>
      <p:sp>
        <p:nvSpPr>
          <p:cNvPr id="336" name="Google Shape;336;p28"/>
          <p:cNvSpPr/>
          <p:nvPr/>
        </p:nvSpPr>
        <p:spPr>
          <a:xfrm>
            <a:off x="457200" y="1280160"/>
            <a:ext cx="8412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1" lang="en-US" sz="1300" u="none" cap="none" strike="noStrike">
                <a:solidFill>
                  <a:srgbClr val="475569"/>
                </a:solidFill>
                <a:latin typeface="Calibri"/>
                <a:ea typeface="Calibri"/>
                <a:cs typeface="Calibri"/>
                <a:sym typeface="Calibri"/>
              </a:rPr>
              <a:t>Being explicit about scope is part of the contribution</a:t>
            </a:r>
            <a:endParaRPr b="0" i="0" sz="1300" u="none" cap="none" strike="noStrike">
              <a:solidFill>
                <a:schemeClr val="dk1"/>
              </a:solidFill>
              <a:latin typeface="Calibri"/>
              <a:ea typeface="Calibri"/>
              <a:cs typeface="Calibri"/>
              <a:sym typeface="Calibri"/>
            </a:endParaRPr>
          </a:p>
        </p:txBody>
      </p:sp>
      <p:sp>
        <p:nvSpPr>
          <p:cNvPr id="337" name="Google Shape;337;p28"/>
          <p:cNvSpPr/>
          <p:nvPr/>
        </p:nvSpPr>
        <p:spPr>
          <a:xfrm>
            <a:off x="457200" y="1783080"/>
            <a:ext cx="4023300" cy="14172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8"/>
          <p:cNvSpPr/>
          <p:nvPr/>
        </p:nvSpPr>
        <p:spPr>
          <a:xfrm>
            <a:off x="731520" y="2057400"/>
            <a:ext cx="502800" cy="502800"/>
          </a:xfrm>
          <a:prstGeom prst="ellipse">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9" name="Google Shape;339;p28"/>
          <p:cNvPicPr preferRelativeResize="0"/>
          <p:nvPr/>
        </p:nvPicPr>
        <p:blipFill rotWithShape="1">
          <a:blip r:embed="rId3">
            <a:alphaModFix/>
          </a:blip>
          <a:srcRect b="0" l="0" r="0" t="0"/>
          <a:stretch/>
        </p:blipFill>
        <p:spPr>
          <a:xfrm>
            <a:off x="850392" y="2176272"/>
            <a:ext cx="198882" cy="198882"/>
          </a:xfrm>
          <a:prstGeom prst="rect">
            <a:avLst/>
          </a:prstGeom>
          <a:noFill/>
          <a:ln>
            <a:noFill/>
          </a:ln>
        </p:spPr>
      </p:pic>
      <p:sp>
        <p:nvSpPr>
          <p:cNvPr id="340" name="Google Shape;340;p28"/>
          <p:cNvSpPr/>
          <p:nvPr/>
        </p:nvSpPr>
        <p:spPr>
          <a:xfrm>
            <a:off x="1371600" y="2075688"/>
            <a:ext cx="3017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No predictive claim</a:t>
            </a:r>
            <a:endParaRPr b="0" i="0" sz="1400" u="none" cap="none" strike="noStrike">
              <a:solidFill>
                <a:schemeClr val="dk1"/>
              </a:solidFill>
              <a:latin typeface="Calibri"/>
              <a:ea typeface="Calibri"/>
              <a:cs typeface="Calibri"/>
              <a:sym typeface="Calibri"/>
            </a:endParaRPr>
          </a:p>
        </p:txBody>
      </p:sp>
      <p:sp>
        <p:nvSpPr>
          <p:cNvPr id="341" name="Google Shape;341;p28"/>
          <p:cNvSpPr/>
          <p:nvPr/>
        </p:nvSpPr>
        <p:spPr>
          <a:xfrm>
            <a:off x="731520" y="2651760"/>
            <a:ext cx="3566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Our models exist to bound explanatory power, not to ship a predictor. Near-zero R² is the finding.</a:t>
            </a:r>
            <a:endParaRPr b="0" i="0" sz="1050" u="none" cap="none" strike="noStrike">
              <a:solidFill>
                <a:schemeClr val="dk1"/>
              </a:solidFill>
              <a:latin typeface="Calibri"/>
              <a:ea typeface="Calibri"/>
              <a:cs typeface="Calibri"/>
              <a:sym typeface="Calibri"/>
            </a:endParaRPr>
          </a:p>
        </p:txBody>
      </p:sp>
      <p:sp>
        <p:nvSpPr>
          <p:cNvPr id="342" name="Google Shape;342;p28"/>
          <p:cNvSpPr/>
          <p:nvPr/>
        </p:nvSpPr>
        <p:spPr>
          <a:xfrm>
            <a:off x="4663440" y="1783080"/>
            <a:ext cx="4023300" cy="14172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8"/>
          <p:cNvSpPr/>
          <p:nvPr/>
        </p:nvSpPr>
        <p:spPr>
          <a:xfrm>
            <a:off x="4937760" y="2057400"/>
            <a:ext cx="502800" cy="502800"/>
          </a:xfrm>
          <a:prstGeom prst="ellipse">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4" name="Google Shape;344;p28"/>
          <p:cNvPicPr preferRelativeResize="0"/>
          <p:nvPr/>
        </p:nvPicPr>
        <p:blipFill rotWithShape="1">
          <a:blip r:embed="rId4">
            <a:alphaModFix/>
          </a:blip>
          <a:srcRect b="0" l="0" r="0" t="0"/>
          <a:stretch/>
        </p:blipFill>
        <p:spPr>
          <a:xfrm>
            <a:off x="5056632" y="2176272"/>
            <a:ext cx="198882" cy="198882"/>
          </a:xfrm>
          <a:prstGeom prst="rect">
            <a:avLst/>
          </a:prstGeom>
          <a:noFill/>
          <a:ln>
            <a:noFill/>
          </a:ln>
        </p:spPr>
      </p:pic>
      <p:sp>
        <p:nvSpPr>
          <p:cNvPr id="345" name="Google Shape;345;p28"/>
          <p:cNvSpPr/>
          <p:nvPr/>
        </p:nvSpPr>
        <p:spPr>
          <a:xfrm>
            <a:off x="5577840" y="2075688"/>
            <a:ext cx="3017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No causal claim</a:t>
            </a:r>
            <a:endParaRPr b="0" i="0" sz="1400" u="none" cap="none" strike="noStrike">
              <a:solidFill>
                <a:schemeClr val="dk1"/>
              </a:solidFill>
              <a:latin typeface="Calibri"/>
              <a:ea typeface="Calibri"/>
              <a:cs typeface="Calibri"/>
              <a:sym typeface="Calibri"/>
            </a:endParaRPr>
          </a:p>
        </p:txBody>
      </p:sp>
      <p:sp>
        <p:nvSpPr>
          <p:cNvPr id="346" name="Google Shape;346;p28"/>
          <p:cNvSpPr/>
          <p:nvPr/>
        </p:nvSpPr>
        <p:spPr>
          <a:xfrm>
            <a:off x="4937760" y="2651760"/>
            <a:ext cx="3566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State and industry correlate with approval; they do not cause it. Every result is read as an upper bound on between-group signal.</a:t>
            </a:r>
            <a:endParaRPr b="0" i="0" sz="1050" u="none" cap="none" strike="noStrike">
              <a:solidFill>
                <a:schemeClr val="dk1"/>
              </a:solidFill>
              <a:latin typeface="Calibri"/>
              <a:ea typeface="Calibri"/>
              <a:cs typeface="Calibri"/>
              <a:sym typeface="Calibri"/>
            </a:endParaRPr>
          </a:p>
        </p:txBody>
      </p:sp>
      <p:sp>
        <p:nvSpPr>
          <p:cNvPr id="347" name="Google Shape;347;p28"/>
          <p:cNvSpPr/>
          <p:nvPr/>
        </p:nvSpPr>
        <p:spPr>
          <a:xfrm>
            <a:off x="457200" y="3383280"/>
            <a:ext cx="4023300" cy="14172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8"/>
          <p:cNvSpPr/>
          <p:nvPr/>
        </p:nvSpPr>
        <p:spPr>
          <a:xfrm>
            <a:off x="731520" y="3657600"/>
            <a:ext cx="502800" cy="502800"/>
          </a:xfrm>
          <a:prstGeom prst="ellipse">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9" name="Google Shape;349;p28"/>
          <p:cNvPicPr preferRelativeResize="0"/>
          <p:nvPr/>
        </p:nvPicPr>
        <p:blipFill rotWithShape="1">
          <a:blip r:embed="rId5">
            <a:alphaModFix/>
          </a:blip>
          <a:srcRect b="0" l="0" r="0" t="0"/>
          <a:stretch/>
        </p:blipFill>
        <p:spPr>
          <a:xfrm>
            <a:off x="850392" y="3776472"/>
            <a:ext cx="198882" cy="198882"/>
          </a:xfrm>
          <a:prstGeom prst="rect">
            <a:avLst/>
          </a:prstGeom>
          <a:noFill/>
          <a:ln>
            <a:noFill/>
          </a:ln>
        </p:spPr>
      </p:pic>
      <p:sp>
        <p:nvSpPr>
          <p:cNvPr id="350" name="Google Shape;350;p28"/>
          <p:cNvSpPr/>
          <p:nvPr/>
        </p:nvSpPr>
        <p:spPr>
          <a:xfrm>
            <a:off x="1371600" y="3675888"/>
            <a:ext cx="3017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Post-lottery only</a:t>
            </a:r>
            <a:endParaRPr b="0" i="0" sz="1400" u="none" cap="none" strike="noStrike">
              <a:solidFill>
                <a:schemeClr val="dk1"/>
              </a:solidFill>
              <a:latin typeface="Calibri"/>
              <a:ea typeface="Calibri"/>
              <a:cs typeface="Calibri"/>
              <a:sym typeface="Calibri"/>
            </a:endParaRPr>
          </a:p>
        </p:txBody>
      </p:sp>
      <p:sp>
        <p:nvSpPr>
          <p:cNvPr id="351" name="Google Shape;351;p28"/>
          <p:cNvSpPr/>
          <p:nvPr/>
        </p:nvSpPr>
        <p:spPr>
          <a:xfrm>
            <a:off x="731520" y="4251960"/>
            <a:ext cx="3566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We observe the ~25% who reached adjudication. The larger, earlier selection step is outside our scope.</a:t>
            </a:r>
            <a:endParaRPr b="0" i="0" sz="1050" u="none" cap="none" strike="noStrike">
              <a:solidFill>
                <a:schemeClr val="dk1"/>
              </a:solidFill>
              <a:latin typeface="Calibri"/>
              <a:ea typeface="Calibri"/>
              <a:cs typeface="Calibri"/>
              <a:sym typeface="Calibri"/>
            </a:endParaRPr>
          </a:p>
        </p:txBody>
      </p:sp>
      <p:sp>
        <p:nvSpPr>
          <p:cNvPr id="352" name="Google Shape;352;p28"/>
          <p:cNvSpPr/>
          <p:nvPr/>
        </p:nvSpPr>
        <p:spPr>
          <a:xfrm>
            <a:off x="4663440" y="3383280"/>
            <a:ext cx="4023300" cy="14172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8"/>
          <p:cNvSpPr/>
          <p:nvPr/>
        </p:nvSpPr>
        <p:spPr>
          <a:xfrm>
            <a:off x="4937760" y="3657600"/>
            <a:ext cx="502800" cy="502800"/>
          </a:xfrm>
          <a:prstGeom prst="ellipse">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4" name="Google Shape;354;p28"/>
          <p:cNvPicPr preferRelativeResize="0"/>
          <p:nvPr/>
        </p:nvPicPr>
        <p:blipFill rotWithShape="1">
          <a:blip r:embed="rId6">
            <a:alphaModFix/>
          </a:blip>
          <a:srcRect b="0" l="0" r="0" t="0"/>
          <a:stretch/>
        </p:blipFill>
        <p:spPr>
          <a:xfrm>
            <a:off x="5056632" y="3776472"/>
            <a:ext cx="198882" cy="198882"/>
          </a:xfrm>
          <a:prstGeom prst="rect">
            <a:avLst/>
          </a:prstGeom>
          <a:noFill/>
          <a:ln>
            <a:noFill/>
          </a:ln>
        </p:spPr>
      </p:pic>
      <p:sp>
        <p:nvSpPr>
          <p:cNvPr id="355" name="Google Shape;355;p28"/>
          <p:cNvSpPr/>
          <p:nvPr/>
        </p:nvSpPr>
        <p:spPr>
          <a:xfrm>
            <a:off x="5577840" y="3675888"/>
            <a:ext cx="30174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Single fiscal year</a:t>
            </a:r>
            <a:endParaRPr b="0" i="0" sz="1400" u="none" cap="none" strike="noStrike">
              <a:solidFill>
                <a:schemeClr val="dk1"/>
              </a:solidFill>
              <a:latin typeface="Calibri"/>
              <a:ea typeface="Calibri"/>
              <a:cs typeface="Calibri"/>
              <a:sym typeface="Calibri"/>
            </a:endParaRPr>
          </a:p>
        </p:txBody>
      </p:sp>
      <p:sp>
        <p:nvSpPr>
          <p:cNvPr id="356" name="Google Shape;356;p28"/>
          <p:cNvSpPr/>
          <p:nvPr/>
        </p:nvSpPr>
        <p:spPr>
          <a:xfrm>
            <a:off x="4937760" y="4251960"/>
            <a:ext cx="3566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FY2024 cannot separate structural patterns from administration-specific policy regimes.</a:t>
            </a:r>
            <a:endParaRPr b="0" i="0" sz="1050" u="none" cap="none" strike="noStrike">
              <a:solidFill>
                <a:schemeClr val="dk1"/>
              </a:solidFill>
              <a:latin typeface="Calibri"/>
              <a:ea typeface="Calibri"/>
              <a:cs typeface="Calibri"/>
              <a:sym typeface="Calibri"/>
            </a:endParaRPr>
          </a:p>
        </p:txBody>
      </p:sp>
      <p:sp>
        <p:nvSpPr>
          <p:cNvPr id="357" name="Google Shape;357;p28"/>
          <p:cNvSpPr/>
          <p:nvPr/>
        </p:nvSpPr>
        <p:spPr>
          <a:xfrm>
            <a:off x="8138160" y="4937760"/>
            <a:ext cx="6402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10 / 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sp>
        <p:nvSpPr>
          <p:cNvPr id="363" name="Google Shape;363;p29"/>
          <p:cNvSpPr/>
          <p:nvPr/>
        </p:nvSpPr>
        <p:spPr>
          <a:xfrm>
            <a:off x="457200" y="27432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000"/>
              <a:buFont typeface="Calibri"/>
              <a:buNone/>
            </a:pPr>
            <a:r>
              <a:rPr b="1" i="0" lang="en-US" sz="1000" u="none" cap="none" strike="noStrike">
                <a:solidFill>
                  <a:srgbClr val="1C7293"/>
                </a:solidFill>
                <a:latin typeface="Calibri"/>
                <a:ea typeface="Calibri"/>
                <a:cs typeface="Calibri"/>
                <a:sym typeface="Calibri"/>
              </a:rPr>
              <a:t>FUTURE WORK</a:t>
            </a:r>
            <a:endParaRPr b="0" i="0" sz="1000" u="none" cap="none" strike="noStrike">
              <a:solidFill>
                <a:schemeClr val="dk1"/>
              </a:solidFill>
              <a:latin typeface="Calibri"/>
              <a:ea typeface="Calibri"/>
              <a:cs typeface="Calibri"/>
              <a:sym typeface="Calibri"/>
            </a:endParaRPr>
          </a:p>
        </p:txBody>
      </p:sp>
      <p:sp>
        <p:nvSpPr>
          <p:cNvPr id="364" name="Google Shape;364;p29"/>
          <p:cNvSpPr/>
          <p:nvPr/>
        </p:nvSpPr>
        <p:spPr>
          <a:xfrm>
            <a:off x="457200" y="566928"/>
            <a:ext cx="8412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93B"/>
              </a:buClr>
              <a:buSzPts val="2800"/>
              <a:buFont typeface="Georgia"/>
              <a:buNone/>
            </a:pPr>
            <a:r>
              <a:rPr b="1" i="0" lang="en-US" sz="2800" u="none" cap="none" strike="noStrike">
                <a:solidFill>
                  <a:srgbClr val="1E293B"/>
                </a:solidFill>
                <a:latin typeface="Georgia"/>
                <a:ea typeface="Georgia"/>
                <a:cs typeface="Georgia"/>
                <a:sym typeface="Georgia"/>
              </a:rPr>
              <a:t>The Commit Worth Making</a:t>
            </a:r>
            <a:endParaRPr b="0" i="0" sz="2800" u="none" cap="none" strike="noStrike">
              <a:solidFill>
                <a:schemeClr val="dk1"/>
              </a:solidFill>
              <a:latin typeface="Calibri"/>
              <a:ea typeface="Calibri"/>
              <a:cs typeface="Calibri"/>
              <a:sym typeface="Calibri"/>
            </a:endParaRPr>
          </a:p>
        </p:txBody>
      </p:sp>
      <p:sp>
        <p:nvSpPr>
          <p:cNvPr id="365" name="Google Shape;365;p29"/>
          <p:cNvSpPr/>
          <p:nvPr/>
        </p:nvSpPr>
        <p:spPr>
          <a:xfrm>
            <a:off x="457200" y="1280160"/>
            <a:ext cx="8412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0" i="1" lang="en-US" sz="1300" u="none" cap="none" strike="noStrike">
                <a:solidFill>
                  <a:srgbClr val="475569"/>
                </a:solidFill>
                <a:latin typeface="Calibri"/>
                <a:ea typeface="Calibri"/>
                <a:cs typeface="Calibri"/>
                <a:sym typeface="Calibri"/>
              </a:rPr>
              <a:t>The bottleneck is the input, not the compute</a:t>
            </a:r>
            <a:endParaRPr b="0" i="0" sz="1300" u="none" cap="none" strike="noStrike">
              <a:solidFill>
                <a:schemeClr val="dk1"/>
              </a:solidFill>
              <a:latin typeface="Calibri"/>
              <a:ea typeface="Calibri"/>
              <a:cs typeface="Calibri"/>
              <a:sym typeface="Calibri"/>
            </a:endParaRPr>
          </a:p>
        </p:txBody>
      </p:sp>
      <p:sp>
        <p:nvSpPr>
          <p:cNvPr id="366" name="Google Shape;366;p29"/>
          <p:cNvSpPr/>
          <p:nvPr/>
        </p:nvSpPr>
        <p:spPr>
          <a:xfrm>
            <a:off x="457200" y="1783080"/>
            <a:ext cx="8229600" cy="822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9"/>
          <p:cNvSpPr/>
          <p:nvPr/>
        </p:nvSpPr>
        <p:spPr>
          <a:xfrm>
            <a:off x="685800" y="1965960"/>
            <a:ext cx="457200" cy="4572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8" name="Google Shape;368;p29"/>
          <p:cNvPicPr preferRelativeResize="0"/>
          <p:nvPr/>
        </p:nvPicPr>
        <p:blipFill rotWithShape="1">
          <a:blip r:embed="rId3">
            <a:alphaModFix/>
          </a:blip>
          <a:srcRect b="0" l="0" r="0" t="0"/>
          <a:stretch/>
        </p:blipFill>
        <p:spPr>
          <a:xfrm>
            <a:off x="786384" y="2066544"/>
            <a:ext cx="192024" cy="192024"/>
          </a:xfrm>
          <a:prstGeom prst="rect">
            <a:avLst/>
          </a:prstGeom>
          <a:noFill/>
          <a:ln>
            <a:noFill/>
          </a:ln>
        </p:spPr>
      </p:pic>
      <p:sp>
        <p:nvSpPr>
          <p:cNvPr id="369" name="Google Shape;369;p29"/>
          <p:cNvSpPr/>
          <p:nvPr/>
        </p:nvSpPr>
        <p:spPr>
          <a:xfrm>
            <a:off x="1280160" y="1892808"/>
            <a:ext cx="722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01  Case-level data, not aggregates</a:t>
            </a:r>
            <a:endParaRPr b="0" i="0" sz="1400" u="none" cap="none" strike="noStrike">
              <a:solidFill>
                <a:schemeClr val="dk1"/>
              </a:solidFill>
              <a:latin typeface="Calibri"/>
              <a:ea typeface="Calibri"/>
              <a:cs typeface="Calibri"/>
              <a:sym typeface="Calibri"/>
            </a:endParaRPr>
          </a:p>
        </p:txBody>
      </p:sp>
      <p:sp>
        <p:nvSpPr>
          <p:cNvPr id="370" name="Google Shape;370;p29"/>
          <p:cNvSpPr/>
          <p:nvPr/>
        </p:nvSpPr>
        <p:spPr>
          <a:xfrm>
            <a:off x="1280160" y="2194560"/>
            <a:ext cx="7223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Join USCIS I-129 case releases with wage-relative-to-prevailing by SOC, RFE history, and attorney metadata. This is where the unexplained variance lives.</a:t>
            </a:r>
            <a:endParaRPr b="0" i="0" sz="1050" u="none" cap="none" strike="noStrike">
              <a:solidFill>
                <a:schemeClr val="dk1"/>
              </a:solidFill>
              <a:latin typeface="Calibri"/>
              <a:ea typeface="Calibri"/>
              <a:cs typeface="Calibri"/>
              <a:sym typeface="Calibri"/>
            </a:endParaRPr>
          </a:p>
        </p:txBody>
      </p:sp>
      <p:sp>
        <p:nvSpPr>
          <p:cNvPr id="371" name="Google Shape;371;p29"/>
          <p:cNvSpPr/>
          <p:nvPr/>
        </p:nvSpPr>
        <p:spPr>
          <a:xfrm>
            <a:off x="457200" y="2715768"/>
            <a:ext cx="8229600" cy="822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9"/>
          <p:cNvSpPr/>
          <p:nvPr/>
        </p:nvSpPr>
        <p:spPr>
          <a:xfrm>
            <a:off x="685800" y="2898648"/>
            <a:ext cx="457200" cy="457200"/>
          </a:xfrm>
          <a:prstGeom prst="ellipse">
            <a:avLst/>
          </a:prstGeom>
          <a:solidFill>
            <a:srgbClr val="1C7293"/>
          </a:solidFill>
          <a:ln cap="flat" cmpd="sng" w="12700">
            <a:solidFill>
              <a:srgbClr val="1C729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3" name="Google Shape;373;p29"/>
          <p:cNvPicPr preferRelativeResize="0"/>
          <p:nvPr/>
        </p:nvPicPr>
        <p:blipFill rotWithShape="1">
          <a:blip r:embed="rId4">
            <a:alphaModFix/>
          </a:blip>
          <a:srcRect b="0" l="0" r="0" t="0"/>
          <a:stretch/>
        </p:blipFill>
        <p:spPr>
          <a:xfrm>
            <a:off x="786384" y="2999232"/>
            <a:ext cx="192024" cy="192024"/>
          </a:xfrm>
          <a:prstGeom prst="rect">
            <a:avLst/>
          </a:prstGeom>
          <a:noFill/>
          <a:ln>
            <a:noFill/>
          </a:ln>
        </p:spPr>
      </p:pic>
      <p:sp>
        <p:nvSpPr>
          <p:cNvPr id="374" name="Google Shape;374;p29"/>
          <p:cNvSpPr/>
          <p:nvPr/>
        </p:nvSpPr>
        <p:spPr>
          <a:xfrm>
            <a:off x="1280160" y="2825496"/>
            <a:ext cx="722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02  Multi-year temporal coverage</a:t>
            </a:r>
            <a:endParaRPr b="0" i="0" sz="1400" u="none" cap="none" strike="noStrike">
              <a:solidFill>
                <a:schemeClr val="dk1"/>
              </a:solidFill>
              <a:latin typeface="Calibri"/>
              <a:ea typeface="Calibri"/>
              <a:cs typeface="Calibri"/>
              <a:sym typeface="Calibri"/>
            </a:endParaRPr>
          </a:p>
        </p:txBody>
      </p:sp>
      <p:sp>
        <p:nvSpPr>
          <p:cNvPr id="375" name="Google Shape;375;p29"/>
          <p:cNvSpPr/>
          <p:nvPr/>
        </p:nvSpPr>
        <p:spPr>
          <a:xfrm>
            <a:off x="1280160" y="3127248"/>
            <a:ext cx="7223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Extend to FY2019–FY2025 to separate policy-regime effects (Buy American EO, 2025 $100K proclamation) from structural patterns.</a:t>
            </a:r>
            <a:endParaRPr b="0" i="0" sz="1050" u="none" cap="none" strike="noStrike">
              <a:solidFill>
                <a:schemeClr val="dk1"/>
              </a:solidFill>
              <a:latin typeface="Calibri"/>
              <a:ea typeface="Calibri"/>
              <a:cs typeface="Calibri"/>
              <a:sym typeface="Calibri"/>
            </a:endParaRPr>
          </a:p>
        </p:txBody>
      </p:sp>
      <p:sp>
        <p:nvSpPr>
          <p:cNvPr id="376" name="Google Shape;376;p29"/>
          <p:cNvSpPr/>
          <p:nvPr/>
        </p:nvSpPr>
        <p:spPr>
          <a:xfrm>
            <a:off x="457200" y="3648456"/>
            <a:ext cx="8229600" cy="822900"/>
          </a:xfrm>
          <a:prstGeom prst="rect">
            <a:avLst/>
          </a:prstGeom>
          <a:solidFill>
            <a:srgbClr val="F1F5F9"/>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9"/>
          <p:cNvSpPr/>
          <p:nvPr/>
        </p:nvSpPr>
        <p:spPr>
          <a:xfrm>
            <a:off x="685800" y="3831336"/>
            <a:ext cx="457200" cy="457200"/>
          </a:xfrm>
          <a:prstGeom prst="ellipse">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8" name="Google Shape;378;p29"/>
          <p:cNvPicPr preferRelativeResize="0"/>
          <p:nvPr/>
        </p:nvPicPr>
        <p:blipFill rotWithShape="1">
          <a:blip r:embed="rId5">
            <a:alphaModFix/>
          </a:blip>
          <a:srcRect b="0" l="0" r="0" t="0"/>
          <a:stretch/>
        </p:blipFill>
        <p:spPr>
          <a:xfrm>
            <a:off x="786384" y="3931920"/>
            <a:ext cx="192024" cy="192024"/>
          </a:xfrm>
          <a:prstGeom prst="rect">
            <a:avLst/>
          </a:prstGeom>
          <a:noFill/>
          <a:ln>
            <a:noFill/>
          </a:ln>
        </p:spPr>
      </p:pic>
      <p:sp>
        <p:nvSpPr>
          <p:cNvPr id="379" name="Google Shape;379;p29"/>
          <p:cNvSpPr/>
          <p:nvPr/>
        </p:nvSpPr>
        <p:spPr>
          <a:xfrm>
            <a:off x="1280160" y="3758184"/>
            <a:ext cx="72237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03  Productionize the Spark pipeline</a:t>
            </a:r>
            <a:endParaRPr b="0" i="0" sz="1400" u="none" cap="none" strike="noStrike">
              <a:solidFill>
                <a:schemeClr val="dk1"/>
              </a:solidFill>
              <a:latin typeface="Calibri"/>
              <a:ea typeface="Calibri"/>
              <a:cs typeface="Calibri"/>
              <a:sym typeface="Calibri"/>
            </a:endParaRPr>
          </a:p>
        </p:txBody>
      </p:sp>
      <p:sp>
        <p:nvSpPr>
          <p:cNvPr id="380" name="Google Shape;380;p29"/>
          <p:cNvSpPr/>
          <p:nvPr/>
        </p:nvSpPr>
        <p:spPr>
          <a:xfrm>
            <a:off x="1280160" y="4059936"/>
            <a:ext cx="7223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050"/>
              <a:buFont typeface="Calibri"/>
              <a:buNone/>
            </a:pPr>
            <a:r>
              <a:rPr b="0" i="0" lang="en-US" sz="1050" u="none" cap="none" strike="noStrike">
                <a:solidFill>
                  <a:srgbClr val="475569"/>
                </a:solidFill>
                <a:latin typeface="Calibri"/>
                <a:ea typeface="Calibri"/>
                <a:cs typeface="Calibri"/>
                <a:sym typeface="Calibri"/>
              </a:rPr>
              <a:t>Move the verified PySpark merge from local[*] to Dataproc/EMR/Databricks — one-line swap from .toPandas() to .write.parquet().</a:t>
            </a:r>
            <a:endParaRPr b="0" i="0" sz="1050" u="none" cap="none" strike="noStrike">
              <a:solidFill>
                <a:schemeClr val="dk1"/>
              </a:solidFill>
              <a:latin typeface="Calibri"/>
              <a:ea typeface="Calibri"/>
              <a:cs typeface="Calibri"/>
              <a:sym typeface="Calibri"/>
            </a:endParaRPr>
          </a:p>
        </p:txBody>
      </p:sp>
      <p:sp>
        <p:nvSpPr>
          <p:cNvPr id="381" name="Google Shape;381;p29"/>
          <p:cNvSpPr/>
          <p:nvPr/>
        </p:nvSpPr>
        <p:spPr>
          <a:xfrm>
            <a:off x="457200" y="4526280"/>
            <a:ext cx="8229600" cy="365700"/>
          </a:xfrm>
          <a:prstGeom prst="rect">
            <a:avLst/>
          </a:prstGeom>
          <a:solidFill>
            <a:srgbClr val="0A2540"/>
          </a:solidFill>
          <a:ln cap="flat" cmpd="sng" w="12700">
            <a:solidFill>
              <a:srgbClr val="0A254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9"/>
          <p:cNvSpPr/>
          <p:nvPr/>
        </p:nvSpPr>
        <p:spPr>
          <a:xfrm>
            <a:off x="457200" y="4526280"/>
            <a:ext cx="109800" cy="365700"/>
          </a:xfrm>
          <a:prstGeom prst="rect">
            <a:avLst/>
          </a:prstGeom>
          <a:solidFill>
            <a:srgbClr val="F4B942"/>
          </a:solidFill>
          <a:ln cap="flat" cmpd="sng" w="12700">
            <a:solidFill>
              <a:srgbClr val="F4B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9"/>
          <p:cNvSpPr/>
          <p:nvPr/>
        </p:nvSpPr>
        <p:spPr>
          <a:xfrm>
            <a:off x="731520" y="4526280"/>
            <a:ext cx="7863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1" lang="en-US" sz="1200" u="none" cap="none" strike="noStrike">
                <a:solidFill>
                  <a:srgbClr val="FFFFFF"/>
                </a:solidFill>
                <a:latin typeface="Calibri"/>
                <a:ea typeface="Calibri"/>
                <a:cs typeface="Calibri"/>
                <a:sym typeface="Calibri"/>
              </a:rPr>
              <a:t>Bounding what public data can't explain is the first step to demanding better data.  Thank you.</a:t>
            </a:r>
            <a:endParaRPr b="0" i="0" sz="1200" u="none" cap="none" strike="noStrike">
              <a:solidFill>
                <a:schemeClr val="dk1"/>
              </a:solidFill>
              <a:latin typeface="Calibri"/>
              <a:ea typeface="Calibri"/>
              <a:cs typeface="Calibri"/>
              <a:sym typeface="Calibri"/>
            </a:endParaRPr>
          </a:p>
        </p:txBody>
      </p:sp>
      <p:sp>
        <p:nvSpPr>
          <p:cNvPr id="384" name="Google Shape;384;p29"/>
          <p:cNvSpPr/>
          <p:nvPr/>
        </p:nvSpPr>
        <p:spPr>
          <a:xfrm>
            <a:off x="8138160" y="4937760"/>
            <a:ext cx="640200" cy="183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800"/>
              <a:buFont typeface="Calibri"/>
              <a:buNone/>
            </a:pPr>
            <a:r>
              <a:rPr b="0" i="0" lang="en-US" sz="800" u="none" cap="none" strike="noStrike">
                <a:solidFill>
                  <a:srgbClr val="94A3B8"/>
                </a:solidFill>
                <a:latin typeface="Calibri"/>
                <a:ea typeface="Calibri"/>
                <a:cs typeface="Calibri"/>
                <a:sym typeface="Calibri"/>
              </a:rPr>
              <a:t>11 / 11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txBox="1"/>
          <p:nvPr/>
        </p:nvSpPr>
        <p:spPr>
          <a:xfrm>
            <a:off x="457201" y="1193814"/>
            <a:ext cx="1495500" cy="6348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rgbClr val="002D50"/>
              </a:buClr>
              <a:buSzPts val="1500"/>
              <a:buFont typeface="Helvetica Neue"/>
              <a:buNone/>
            </a:pPr>
            <a:r>
              <a:rPr b="1" i="0" lang="en-US" sz="1500" u="none" cap="none" strike="noStrike">
                <a:solidFill>
                  <a:srgbClr val="002D50"/>
                </a:solidFill>
                <a:latin typeface="Helvetica Neue"/>
                <a:ea typeface="Helvetica Neue"/>
                <a:cs typeface="Helvetica Neue"/>
                <a:sym typeface="Helvetica Neue"/>
              </a:rPr>
              <a:t>Add Title</a:t>
            </a:r>
            <a:endParaRPr/>
          </a:p>
        </p:txBody>
      </p:sp>
      <p:sp>
        <p:nvSpPr>
          <p:cNvPr id="391" name="Google Shape;391;p30"/>
          <p:cNvSpPr txBox="1"/>
          <p:nvPr/>
        </p:nvSpPr>
        <p:spPr>
          <a:xfrm>
            <a:off x="5439501" y="1101549"/>
            <a:ext cx="3663900" cy="3987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chemeClr val="dk1"/>
              </a:buClr>
              <a:buSzPts val="1200"/>
              <a:buFont typeface="Helvetica Neue"/>
              <a:buNone/>
            </a:pPr>
            <a:r>
              <a:rPr b="0" i="0" lang="en-US" sz="1200" u="none" cap="none" strike="noStrike">
                <a:solidFill>
                  <a:schemeClr val="dk1"/>
                </a:solidFill>
                <a:latin typeface="Helvetica Neue"/>
                <a:ea typeface="Helvetica Neue"/>
                <a:cs typeface="Helvetica Neue"/>
                <a:sym typeface="Helvetica Neue"/>
              </a:rPr>
              <a:t>Add Text. Vertically align this box with arrow.</a:t>
            </a:r>
            <a:endParaRPr/>
          </a:p>
        </p:txBody>
      </p:sp>
      <p:sp>
        <p:nvSpPr>
          <p:cNvPr id="392" name="Google Shape;392;p30"/>
          <p:cNvSpPr txBox="1"/>
          <p:nvPr/>
        </p:nvSpPr>
        <p:spPr>
          <a:xfrm>
            <a:off x="5439501" y="1788042"/>
            <a:ext cx="3663900" cy="3987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chemeClr val="dk1"/>
              </a:buClr>
              <a:buSzPts val="1200"/>
              <a:buFont typeface="Helvetica Neue"/>
              <a:buNone/>
            </a:pPr>
            <a:r>
              <a:rPr b="0" i="0" lang="en-US" sz="1200" u="none" cap="none" strike="noStrike">
                <a:solidFill>
                  <a:schemeClr val="dk1"/>
                </a:solidFill>
                <a:latin typeface="Helvetica Neue"/>
                <a:ea typeface="Helvetica Neue"/>
                <a:cs typeface="Helvetica Neue"/>
                <a:sym typeface="Helvetica Neue"/>
              </a:rPr>
              <a:t>Add Text. Vertically align this box with arrow.</a:t>
            </a:r>
            <a:endParaRPr/>
          </a:p>
        </p:txBody>
      </p:sp>
      <p:sp>
        <p:nvSpPr>
          <p:cNvPr id="393" name="Google Shape;393;p30"/>
          <p:cNvSpPr txBox="1"/>
          <p:nvPr/>
        </p:nvSpPr>
        <p:spPr>
          <a:xfrm>
            <a:off x="5439501" y="2392520"/>
            <a:ext cx="3663900" cy="3987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chemeClr val="dk1"/>
              </a:buClr>
              <a:buSzPts val="1200"/>
              <a:buFont typeface="Helvetica Neue"/>
              <a:buNone/>
            </a:pPr>
            <a:r>
              <a:rPr b="0" i="0" lang="en-US" sz="1200" u="none" cap="none" strike="noStrike">
                <a:solidFill>
                  <a:schemeClr val="dk1"/>
                </a:solidFill>
                <a:latin typeface="Helvetica Neue"/>
                <a:ea typeface="Helvetica Neue"/>
                <a:cs typeface="Helvetica Neue"/>
                <a:sym typeface="Helvetica Neue"/>
              </a:rPr>
              <a:t>Add Text. Vertically align this box with arrow.</a:t>
            </a:r>
            <a:endParaRPr/>
          </a:p>
        </p:txBody>
      </p:sp>
      <p:sp>
        <p:nvSpPr>
          <p:cNvPr id="394" name="Google Shape;394;p30"/>
          <p:cNvSpPr txBox="1"/>
          <p:nvPr/>
        </p:nvSpPr>
        <p:spPr>
          <a:xfrm>
            <a:off x="5439501" y="3137384"/>
            <a:ext cx="3663900" cy="3987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chemeClr val="dk1"/>
              </a:buClr>
              <a:buSzPts val="1200"/>
              <a:buFont typeface="Helvetica Neue"/>
              <a:buNone/>
            </a:pPr>
            <a:r>
              <a:rPr b="0" i="0" lang="en-US" sz="1200" u="none" cap="none" strike="noStrike">
                <a:solidFill>
                  <a:schemeClr val="dk1"/>
                </a:solidFill>
                <a:latin typeface="Helvetica Neue"/>
                <a:ea typeface="Helvetica Neue"/>
                <a:cs typeface="Helvetica Neue"/>
                <a:sym typeface="Helvetica Neue"/>
              </a:rPr>
              <a:t>Add Text. Vertically align this box with arrow.</a:t>
            </a:r>
            <a:endParaRPr/>
          </a:p>
        </p:txBody>
      </p:sp>
      <p:grpSp>
        <p:nvGrpSpPr>
          <p:cNvPr id="395" name="Google Shape;395;p30"/>
          <p:cNvGrpSpPr/>
          <p:nvPr/>
        </p:nvGrpSpPr>
        <p:grpSpPr>
          <a:xfrm>
            <a:off x="326749" y="926900"/>
            <a:ext cx="4659541" cy="2791421"/>
            <a:chOff x="0" y="0"/>
            <a:chExt cx="4659541" cy="3721894"/>
          </a:xfrm>
        </p:grpSpPr>
        <p:sp>
          <p:nvSpPr>
            <p:cNvPr id="396" name="Google Shape;396;p30"/>
            <p:cNvSpPr/>
            <p:nvPr/>
          </p:nvSpPr>
          <p:spPr>
            <a:xfrm>
              <a:off x="1747327" y="0"/>
              <a:ext cx="1164885" cy="930473"/>
            </a:xfrm>
            <a:prstGeom prst="trapezoid">
              <a:avLst>
                <a:gd fmla="val 62596" name="adj"/>
              </a:avLst>
            </a:prstGeom>
            <a:solidFill>
              <a:srgbClr val="001B3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0"/>
            <p:cNvSpPr txBox="1"/>
            <p:nvPr/>
          </p:nvSpPr>
          <p:spPr>
            <a:xfrm>
              <a:off x="1747327" y="0"/>
              <a:ext cx="1164885" cy="93047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t/>
              </a:r>
              <a:endParaRPr b="0" i="0" sz="1800" u="none" cap="none" strike="noStrike">
                <a:solidFill>
                  <a:schemeClr val="lt1"/>
                </a:solidFill>
                <a:latin typeface="Helvetica Neue"/>
                <a:ea typeface="Helvetica Neue"/>
                <a:cs typeface="Helvetica Neue"/>
                <a:sym typeface="Helvetica Neue"/>
              </a:endParaRPr>
            </a:p>
          </p:txBody>
        </p:sp>
        <p:sp>
          <p:nvSpPr>
            <p:cNvPr id="398" name="Google Shape;398;p30"/>
            <p:cNvSpPr/>
            <p:nvPr/>
          </p:nvSpPr>
          <p:spPr>
            <a:xfrm>
              <a:off x="1164885" y="930473"/>
              <a:ext cx="2329770" cy="930473"/>
            </a:xfrm>
            <a:prstGeom prst="trapezoid">
              <a:avLst>
                <a:gd fmla="val 62596" name="adj"/>
              </a:avLst>
            </a:prstGeom>
            <a:solidFill>
              <a:srgbClr val="001B3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0"/>
            <p:cNvSpPr txBox="1"/>
            <p:nvPr/>
          </p:nvSpPr>
          <p:spPr>
            <a:xfrm>
              <a:off x="1572595" y="930473"/>
              <a:ext cx="1514350" cy="93047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rPr b="0" i="0" lang="en-US" sz="1800" u="none" cap="none" strike="noStrike">
                  <a:solidFill>
                    <a:srgbClr val="FFFFFF"/>
                  </a:solidFill>
                  <a:latin typeface="Helvetica Neue"/>
                  <a:ea typeface="Helvetica Neue"/>
                  <a:cs typeface="Helvetica Neue"/>
                  <a:sym typeface="Helvetica Neue"/>
                </a:rPr>
                <a:t>[Text]</a:t>
              </a:r>
              <a:endParaRPr/>
            </a:p>
          </p:txBody>
        </p:sp>
        <p:sp>
          <p:nvSpPr>
            <p:cNvPr id="400" name="Google Shape;400;p30"/>
            <p:cNvSpPr/>
            <p:nvPr/>
          </p:nvSpPr>
          <p:spPr>
            <a:xfrm>
              <a:off x="582442" y="1860947"/>
              <a:ext cx="3494655" cy="930473"/>
            </a:xfrm>
            <a:prstGeom prst="trapezoid">
              <a:avLst>
                <a:gd fmla="val 62596" name="adj"/>
              </a:avLst>
            </a:prstGeom>
            <a:solidFill>
              <a:srgbClr val="001B3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0"/>
            <p:cNvSpPr txBox="1"/>
            <p:nvPr/>
          </p:nvSpPr>
          <p:spPr>
            <a:xfrm>
              <a:off x="1194007" y="1860947"/>
              <a:ext cx="2271526" cy="93047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t/>
              </a:r>
              <a:endParaRPr b="0" i="0" sz="1800" u="none" cap="none" strike="noStrike">
                <a:solidFill>
                  <a:schemeClr val="lt1"/>
                </a:solidFill>
                <a:latin typeface="Helvetica Neue"/>
                <a:ea typeface="Helvetica Neue"/>
                <a:cs typeface="Helvetica Neue"/>
                <a:sym typeface="Helvetica Neue"/>
              </a:endParaRPr>
            </a:p>
          </p:txBody>
        </p:sp>
        <p:sp>
          <p:nvSpPr>
            <p:cNvPr id="402" name="Google Shape;402;p30"/>
            <p:cNvSpPr/>
            <p:nvPr/>
          </p:nvSpPr>
          <p:spPr>
            <a:xfrm>
              <a:off x="0" y="2791421"/>
              <a:ext cx="4659541" cy="930473"/>
            </a:xfrm>
            <a:prstGeom prst="trapezoid">
              <a:avLst>
                <a:gd fmla="val 62596" name="adj"/>
              </a:avLst>
            </a:prstGeom>
            <a:solidFill>
              <a:srgbClr val="001B39"/>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0"/>
            <p:cNvSpPr txBox="1"/>
            <p:nvPr/>
          </p:nvSpPr>
          <p:spPr>
            <a:xfrm>
              <a:off x="815419" y="2791421"/>
              <a:ext cx="3028701" cy="930473"/>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t/>
              </a:r>
              <a:endParaRPr b="0" i="0" sz="1800" u="none" cap="none" strike="noStrike">
                <a:solidFill>
                  <a:schemeClr val="lt1"/>
                </a:solidFill>
                <a:latin typeface="Helvetica Neue"/>
                <a:ea typeface="Helvetica Neue"/>
                <a:cs typeface="Helvetica Neue"/>
                <a:sym typeface="Helvetica Neue"/>
              </a:endParaRPr>
            </a:p>
          </p:txBody>
        </p:sp>
      </p:grpSp>
      <p:cxnSp>
        <p:nvCxnSpPr>
          <p:cNvPr id="404" name="Google Shape;404;p30"/>
          <p:cNvCxnSpPr/>
          <p:nvPr/>
        </p:nvCxnSpPr>
        <p:spPr>
          <a:xfrm>
            <a:off x="3205455" y="1311208"/>
            <a:ext cx="2165400" cy="0"/>
          </a:xfrm>
          <a:prstGeom prst="straightConnector1">
            <a:avLst/>
          </a:prstGeom>
          <a:noFill/>
          <a:ln cap="flat" cmpd="sng" w="25400">
            <a:solidFill>
              <a:srgbClr val="011B39"/>
            </a:solidFill>
            <a:prstDash val="solid"/>
            <a:round/>
            <a:headEnd len="sm" w="sm" type="none"/>
            <a:tailEnd len="med" w="med" type="stealth"/>
          </a:ln>
        </p:spPr>
      </p:cxnSp>
      <p:cxnSp>
        <p:nvCxnSpPr>
          <p:cNvPr id="405" name="Google Shape;405;p30"/>
          <p:cNvCxnSpPr/>
          <p:nvPr/>
        </p:nvCxnSpPr>
        <p:spPr>
          <a:xfrm>
            <a:off x="3843271" y="1993169"/>
            <a:ext cx="1527600" cy="0"/>
          </a:xfrm>
          <a:prstGeom prst="straightConnector1">
            <a:avLst/>
          </a:prstGeom>
          <a:noFill/>
          <a:ln cap="flat" cmpd="sng" w="25400">
            <a:solidFill>
              <a:srgbClr val="011B39"/>
            </a:solidFill>
            <a:prstDash val="solid"/>
            <a:round/>
            <a:headEnd len="sm" w="sm" type="none"/>
            <a:tailEnd len="med" w="med" type="stealth"/>
          </a:ln>
        </p:spPr>
      </p:cxnSp>
      <p:cxnSp>
        <p:nvCxnSpPr>
          <p:cNvPr id="406" name="Google Shape;406;p30"/>
          <p:cNvCxnSpPr/>
          <p:nvPr/>
        </p:nvCxnSpPr>
        <p:spPr>
          <a:xfrm>
            <a:off x="4370848" y="2596775"/>
            <a:ext cx="999900" cy="0"/>
          </a:xfrm>
          <a:prstGeom prst="straightConnector1">
            <a:avLst/>
          </a:prstGeom>
          <a:noFill/>
          <a:ln cap="flat" cmpd="sng" w="25400">
            <a:solidFill>
              <a:srgbClr val="011B39"/>
            </a:solidFill>
            <a:prstDash val="solid"/>
            <a:round/>
            <a:headEnd len="sm" w="sm" type="none"/>
            <a:tailEnd len="med" w="med" type="stealth"/>
          </a:ln>
        </p:spPr>
      </p:cxnSp>
      <p:cxnSp>
        <p:nvCxnSpPr>
          <p:cNvPr id="407" name="Google Shape;407;p30"/>
          <p:cNvCxnSpPr/>
          <p:nvPr/>
        </p:nvCxnSpPr>
        <p:spPr>
          <a:xfrm>
            <a:off x="4923487" y="3346308"/>
            <a:ext cx="447300" cy="0"/>
          </a:xfrm>
          <a:prstGeom prst="straightConnector1">
            <a:avLst/>
          </a:prstGeom>
          <a:noFill/>
          <a:ln cap="flat" cmpd="sng" w="25400">
            <a:solidFill>
              <a:srgbClr val="011B39"/>
            </a:solidFill>
            <a:prstDash val="solid"/>
            <a:round/>
            <a:headEnd len="sm" w="sm" type="none"/>
            <a:tailEnd len="med" w="med" type="stealth"/>
          </a:ln>
        </p:spPr>
      </p:cxnSp>
      <p:sp>
        <p:nvSpPr>
          <p:cNvPr id="408" name="Google Shape;408;p30"/>
          <p:cNvSpPr txBox="1"/>
          <p:nvPr/>
        </p:nvSpPr>
        <p:spPr>
          <a:xfrm>
            <a:off x="262150" y="415657"/>
            <a:ext cx="8229600" cy="4437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002D50"/>
              </a:buClr>
              <a:buSzPts val="2701"/>
              <a:buFont typeface="Helvetica Neue"/>
              <a:buNone/>
            </a:pPr>
            <a:r>
              <a:rPr b="1" i="0" lang="en-US" sz="2701" u="none" cap="none" strike="noStrike">
                <a:solidFill>
                  <a:srgbClr val="002D50"/>
                </a:solidFill>
                <a:latin typeface="Helvetica Neue"/>
                <a:ea typeface="Helvetica Neue"/>
                <a:cs typeface="Helvetica Neue"/>
                <a:sym typeface="Helvetica Neue"/>
              </a:rPr>
              <a:t>Pyramid Layout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1"/>
          <p:cNvSpPr txBox="1"/>
          <p:nvPr>
            <p:ph type="title"/>
          </p:nvPr>
        </p:nvSpPr>
        <p:spPr>
          <a:xfrm>
            <a:off x="213474" y="256327"/>
            <a:ext cx="8686500" cy="659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2D50"/>
              </a:buClr>
              <a:buSzPts val="2700"/>
              <a:buFont typeface="Helvetica Neue"/>
              <a:buNone/>
            </a:pPr>
            <a:r>
              <a:rPr lang="en-US"/>
              <a:t>Pyramid Layout with Divider</a:t>
            </a:r>
            <a:endParaRPr/>
          </a:p>
        </p:txBody>
      </p:sp>
      <p:sp>
        <p:nvSpPr>
          <p:cNvPr id="415" name="Google Shape;415;p31"/>
          <p:cNvSpPr txBox="1"/>
          <p:nvPr/>
        </p:nvSpPr>
        <p:spPr>
          <a:xfrm>
            <a:off x="457201" y="1590292"/>
            <a:ext cx="1495500" cy="6348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rgbClr val="002D50"/>
              </a:buClr>
              <a:buSzPts val="1500"/>
              <a:buFont typeface="Helvetica Neue"/>
              <a:buNone/>
            </a:pPr>
            <a:r>
              <a:rPr b="1" i="0" lang="en-US" sz="1500" u="none" cap="none" strike="noStrike">
                <a:solidFill>
                  <a:srgbClr val="002D50"/>
                </a:solidFill>
                <a:latin typeface="Helvetica Neue"/>
                <a:ea typeface="Helvetica Neue"/>
                <a:cs typeface="Helvetica Neue"/>
                <a:sym typeface="Helvetica Neue"/>
              </a:rPr>
              <a:t>Add Title</a:t>
            </a:r>
            <a:endParaRPr/>
          </a:p>
        </p:txBody>
      </p:sp>
      <p:cxnSp>
        <p:nvCxnSpPr>
          <p:cNvPr id="416" name="Google Shape;416;p31"/>
          <p:cNvCxnSpPr/>
          <p:nvPr/>
        </p:nvCxnSpPr>
        <p:spPr>
          <a:xfrm>
            <a:off x="3810913" y="2253550"/>
            <a:ext cx="1771800" cy="0"/>
          </a:xfrm>
          <a:prstGeom prst="straightConnector1">
            <a:avLst/>
          </a:prstGeom>
          <a:noFill/>
          <a:ln cap="flat" cmpd="sng" w="25400">
            <a:solidFill>
              <a:schemeClr val="dk2"/>
            </a:solidFill>
            <a:prstDash val="solid"/>
            <a:round/>
            <a:headEnd len="sm" w="sm" type="none"/>
            <a:tailEnd len="med" w="med" type="stealth"/>
          </a:ln>
        </p:spPr>
      </p:cxnSp>
      <p:cxnSp>
        <p:nvCxnSpPr>
          <p:cNvPr id="417" name="Google Shape;417;p31"/>
          <p:cNvCxnSpPr/>
          <p:nvPr/>
        </p:nvCxnSpPr>
        <p:spPr>
          <a:xfrm>
            <a:off x="4807870" y="3403371"/>
            <a:ext cx="774600" cy="0"/>
          </a:xfrm>
          <a:prstGeom prst="straightConnector1">
            <a:avLst/>
          </a:prstGeom>
          <a:noFill/>
          <a:ln cap="flat" cmpd="sng" w="25400">
            <a:solidFill>
              <a:schemeClr val="dk2"/>
            </a:solidFill>
            <a:prstDash val="solid"/>
            <a:round/>
            <a:headEnd len="sm" w="sm" type="none"/>
            <a:tailEnd len="med" w="med" type="stealth"/>
          </a:ln>
        </p:spPr>
      </p:cxnSp>
      <p:sp>
        <p:nvSpPr>
          <p:cNvPr id="418" name="Google Shape;418;p31"/>
          <p:cNvSpPr txBox="1"/>
          <p:nvPr/>
        </p:nvSpPr>
        <p:spPr>
          <a:xfrm>
            <a:off x="5661073" y="2005717"/>
            <a:ext cx="2589600" cy="4590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chemeClr val="dk1"/>
              </a:buClr>
              <a:buSzPts val="1200"/>
              <a:buFont typeface="Helvetica Neue"/>
              <a:buNone/>
            </a:pPr>
            <a:r>
              <a:rPr b="0" i="0" lang="en-US" sz="1200" u="none" cap="none" strike="noStrike">
                <a:solidFill>
                  <a:schemeClr val="dk1"/>
                </a:solidFill>
                <a:latin typeface="Helvetica Neue"/>
                <a:ea typeface="Helvetica Neue"/>
                <a:cs typeface="Helvetica Neue"/>
                <a:sym typeface="Helvetica Neue"/>
              </a:rPr>
              <a:t>Add Text. Vertically align this box with arrow.</a:t>
            </a:r>
            <a:endParaRPr/>
          </a:p>
        </p:txBody>
      </p:sp>
      <p:sp>
        <p:nvSpPr>
          <p:cNvPr id="419" name="Google Shape;419;p31"/>
          <p:cNvSpPr txBox="1"/>
          <p:nvPr/>
        </p:nvSpPr>
        <p:spPr>
          <a:xfrm>
            <a:off x="5661073" y="3173842"/>
            <a:ext cx="2589600" cy="459000"/>
          </a:xfrm>
          <a:prstGeom prst="rect">
            <a:avLst/>
          </a:prstGeom>
          <a:noFill/>
          <a:ln>
            <a:noFill/>
          </a:ln>
        </p:spPr>
        <p:txBody>
          <a:bodyPr anchorCtr="0" anchor="ctr" bIns="34275" lIns="68575" spcFirstLastPara="1" rIns="68575" wrap="square" tIns="34275">
            <a:normAutofit/>
          </a:bodyPr>
          <a:lstStyle/>
          <a:p>
            <a:pPr indent="0" lvl="0" marL="0" marR="0" rtl="0" algn="l">
              <a:spcBef>
                <a:spcPts val="0"/>
              </a:spcBef>
              <a:spcAft>
                <a:spcPts val="0"/>
              </a:spcAft>
              <a:buClr>
                <a:schemeClr val="dk1"/>
              </a:buClr>
              <a:buSzPts val="1200"/>
              <a:buFont typeface="Helvetica Neue"/>
              <a:buNone/>
            </a:pPr>
            <a:r>
              <a:rPr b="0" i="0" lang="en-US" sz="1200" u="none" cap="none" strike="noStrike">
                <a:solidFill>
                  <a:schemeClr val="dk1"/>
                </a:solidFill>
                <a:latin typeface="Helvetica Neue"/>
                <a:ea typeface="Helvetica Neue"/>
                <a:cs typeface="Helvetica Neue"/>
                <a:sym typeface="Helvetica Neue"/>
              </a:rPr>
              <a:t>Add Text. Vertically align this box with arrow.</a:t>
            </a:r>
            <a:endParaRPr/>
          </a:p>
        </p:txBody>
      </p:sp>
      <p:grpSp>
        <p:nvGrpSpPr>
          <p:cNvPr id="420" name="Google Shape;420;p31"/>
          <p:cNvGrpSpPr/>
          <p:nvPr/>
        </p:nvGrpSpPr>
        <p:grpSpPr>
          <a:xfrm>
            <a:off x="372121" y="1334458"/>
            <a:ext cx="4659541" cy="2492200"/>
            <a:chOff x="0" y="0"/>
            <a:chExt cx="4659541" cy="3322933"/>
          </a:xfrm>
        </p:grpSpPr>
        <p:sp>
          <p:nvSpPr>
            <p:cNvPr id="421" name="Google Shape;421;p31"/>
            <p:cNvSpPr/>
            <p:nvPr/>
          </p:nvSpPr>
          <p:spPr>
            <a:xfrm>
              <a:off x="1553180" y="0"/>
              <a:ext cx="1553180" cy="1107644"/>
            </a:xfrm>
            <a:prstGeom prst="trapezoid">
              <a:avLst>
                <a:gd fmla="val 70112" name="adj"/>
              </a:avLst>
            </a:prstGeom>
            <a:solidFill>
              <a:schemeClr val="lt2"/>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1"/>
            <p:cNvSpPr txBox="1"/>
            <p:nvPr/>
          </p:nvSpPr>
          <p:spPr>
            <a:xfrm>
              <a:off x="1553180" y="0"/>
              <a:ext cx="1553180" cy="1107644"/>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t/>
              </a:r>
              <a:endParaRPr b="0" i="0" sz="1800" u="none" cap="none" strike="noStrike">
                <a:solidFill>
                  <a:schemeClr val="lt1"/>
                </a:solidFill>
                <a:latin typeface="Helvetica Neue"/>
                <a:ea typeface="Helvetica Neue"/>
                <a:cs typeface="Helvetica Neue"/>
                <a:sym typeface="Helvetica Neue"/>
              </a:endParaRPr>
            </a:p>
          </p:txBody>
        </p:sp>
        <p:sp>
          <p:nvSpPr>
            <p:cNvPr id="423" name="Google Shape;423;p31"/>
            <p:cNvSpPr/>
            <p:nvPr/>
          </p:nvSpPr>
          <p:spPr>
            <a:xfrm>
              <a:off x="776590" y="1107644"/>
              <a:ext cx="3106360" cy="1107644"/>
            </a:xfrm>
            <a:prstGeom prst="trapezoid">
              <a:avLst>
                <a:gd fmla="val 70112" name="adj"/>
              </a:avLst>
            </a:prstGeom>
            <a:solidFill>
              <a:schemeClr val="lt2"/>
            </a:solidFill>
            <a:ln cap="flat" cmpd="sng" w="254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1"/>
            <p:cNvSpPr txBox="1"/>
            <p:nvPr/>
          </p:nvSpPr>
          <p:spPr>
            <a:xfrm>
              <a:off x="1320203" y="1107644"/>
              <a:ext cx="2019134" cy="1107644"/>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rPr b="0" i="0" lang="en-US" sz="1800" u="none" cap="none" strike="noStrike">
                  <a:solidFill>
                    <a:srgbClr val="FFFFFF"/>
                  </a:solidFill>
                  <a:latin typeface="Helvetica Neue"/>
                  <a:ea typeface="Helvetica Neue"/>
                  <a:cs typeface="Helvetica Neue"/>
                  <a:sym typeface="Helvetica Neue"/>
                </a:rPr>
                <a:t>[Text]</a:t>
              </a:r>
              <a:endParaRPr/>
            </a:p>
          </p:txBody>
        </p:sp>
        <p:sp>
          <p:nvSpPr>
            <p:cNvPr id="425" name="Google Shape;425;p31"/>
            <p:cNvSpPr/>
            <p:nvPr/>
          </p:nvSpPr>
          <p:spPr>
            <a:xfrm>
              <a:off x="0" y="2215289"/>
              <a:ext cx="4659541" cy="1107644"/>
            </a:xfrm>
            <a:prstGeom prst="trapezoid">
              <a:avLst>
                <a:gd fmla="val 70112" name="adj"/>
              </a:avLst>
            </a:prstGeom>
            <a:solidFill>
              <a:srgbClr val="001B39"/>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1"/>
            <p:cNvSpPr txBox="1"/>
            <p:nvPr/>
          </p:nvSpPr>
          <p:spPr>
            <a:xfrm>
              <a:off x="815419" y="2215289"/>
              <a:ext cx="3028701" cy="1107644"/>
            </a:xfrm>
            <a:prstGeom prst="rect">
              <a:avLst/>
            </a:prstGeom>
            <a:noFill/>
            <a:ln>
              <a:noFill/>
            </a:ln>
          </p:spPr>
          <p:txBody>
            <a:bodyPr anchorCtr="0" anchor="ctr" bIns="22850" lIns="22850" spcFirstLastPara="1" rIns="22850" wrap="square" tIns="22850">
              <a:noAutofit/>
            </a:bodyPr>
            <a:lstStyle/>
            <a:p>
              <a:pPr indent="0" lvl="0" marL="0" marR="0" rtl="0" algn="ctr">
                <a:lnSpc>
                  <a:spcPct val="90000"/>
                </a:lnSpc>
                <a:spcBef>
                  <a:spcPts val="0"/>
                </a:spcBef>
                <a:spcAft>
                  <a:spcPts val="0"/>
                </a:spcAft>
                <a:buNone/>
              </a:pPr>
              <a:r>
                <a:rPr b="0" i="0" lang="en-US" sz="1800" u="none" cap="none" strike="noStrike">
                  <a:solidFill>
                    <a:schemeClr val="lt1"/>
                  </a:solidFill>
                  <a:latin typeface="Helvetica Neue"/>
                  <a:ea typeface="Helvetica Neue"/>
                  <a:cs typeface="Helvetica Neue"/>
                  <a:sym typeface="Helvetica Neue"/>
                </a:rPr>
                <a:t>[Text]</a:t>
              </a:r>
              <a:endParaRPr/>
            </a:p>
          </p:txBody>
        </p:sp>
      </p:grpSp>
      <p:sp>
        <p:nvSpPr>
          <p:cNvPr id="427" name="Google Shape;427;p31"/>
          <p:cNvSpPr/>
          <p:nvPr/>
        </p:nvSpPr>
        <p:spPr>
          <a:xfrm>
            <a:off x="1143859" y="2160850"/>
            <a:ext cx="1661945" cy="831702"/>
          </a:xfrm>
          <a:custGeom>
            <a:rect b="b" l="l" r="r" t="t"/>
            <a:pathLst>
              <a:path extrusionOk="0" h="1440176" w="3517343">
                <a:moveTo>
                  <a:pt x="0" y="1440176"/>
                </a:moveTo>
                <a:lnTo>
                  <a:pt x="1653149" y="7829"/>
                </a:lnTo>
                <a:lnTo>
                  <a:pt x="3497056" y="0"/>
                </a:lnTo>
                <a:lnTo>
                  <a:pt x="3517343" y="1435483"/>
                </a:lnTo>
                <a:lnTo>
                  <a:pt x="0" y="1440176"/>
                </a:lnTo>
                <a:close/>
              </a:path>
            </a:pathLst>
          </a:custGeom>
          <a:solidFill>
            <a:schemeClr val="lt2"/>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428" name="Google Shape;428;p31"/>
          <p:cNvSpPr/>
          <p:nvPr/>
        </p:nvSpPr>
        <p:spPr>
          <a:xfrm flipH="1">
            <a:off x="2711888" y="2160850"/>
            <a:ext cx="1556424" cy="831702"/>
          </a:xfrm>
          <a:custGeom>
            <a:rect b="b" l="l" r="r" t="t"/>
            <a:pathLst>
              <a:path extrusionOk="0" h="1440176" w="3517343">
                <a:moveTo>
                  <a:pt x="0" y="1440176"/>
                </a:moveTo>
                <a:lnTo>
                  <a:pt x="1818778" y="7829"/>
                </a:lnTo>
                <a:lnTo>
                  <a:pt x="3497056" y="0"/>
                </a:lnTo>
                <a:lnTo>
                  <a:pt x="3517343" y="1435483"/>
                </a:lnTo>
                <a:lnTo>
                  <a:pt x="0" y="1440176"/>
                </a:lnTo>
                <a:close/>
              </a:path>
            </a:pathLst>
          </a:custGeom>
          <a:solidFill>
            <a:schemeClr val="lt2"/>
          </a:solidFill>
          <a:ln cap="flat" cmpd="sng" w="127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lt1"/>
              </a:solidFill>
              <a:latin typeface="Calibri"/>
              <a:ea typeface="Calibri"/>
              <a:cs typeface="Calibri"/>
              <a:sym typeface="Calibri"/>
            </a:endParaRPr>
          </a:p>
        </p:txBody>
      </p:sp>
      <p:sp>
        <p:nvSpPr>
          <p:cNvPr id="429" name="Google Shape;429;p31"/>
          <p:cNvSpPr txBox="1"/>
          <p:nvPr/>
        </p:nvSpPr>
        <p:spPr>
          <a:xfrm>
            <a:off x="1688113" y="2382906"/>
            <a:ext cx="827100" cy="387300"/>
          </a:xfrm>
          <a:prstGeom prst="rect">
            <a:avLst/>
          </a:prstGeom>
          <a:noFill/>
          <a:ln>
            <a:noFill/>
          </a:ln>
        </p:spPr>
        <p:txBody>
          <a:bodyPr anchorCtr="0" anchor="ctr" bIns="34275" lIns="68575" spcFirstLastPara="1" rIns="68575" wrap="square" tIns="34275">
            <a:normAutofit/>
          </a:bodyPr>
          <a:lstStyle/>
          <a:p>
            <a:pPr indent="0" lvl="0" marL="0" marR="0" rtl="0" algn="ctr">
              <a:spcBef>
                <a:spcPts val="0"/>
              </a:spcBef>
              <a:spcAft>
                <a:spcPts val="0"/>
              </a:spcAft>
              <a:buClr>
                <a:schemeClr val="lt1"/>
              </a:buClr>
              <a:buSzPts val="1350"/>
              <a:buFont typeface="Helvetica Neue"/>
              <a:buNone/>
            </a:pPr>
            <a:r>
              <a:rPr b="0" i="0" lang="en-US" sz="1350" u="none" cap="none" strike="noStrike">
                <a:solidFill>
                  <a:schemeClr val="lt1"/>
                </a:solidFill>
                <a:latin typeface="Helvetica Neue"/>
                <a:ea typeface="Helvetica Neue"/>
                <a:cs typeface="Helvetica Neue"/>
                <a:sym typeface="Helvetica Neue"/>
              </a:rPr>
              <a:t>[Text]</a:t>
            </a:r>
            <a:endParaRPr/>
          </a:p>
        </p:txBody>
      </p:sp>
      <p:sp>
        <p:nvSpPr>
          <p:cNvPr id="430" name="Google Shape;430;p31"/>
          <p:cNvSpPr txBox="1"/>
          <p:nvPr/>
        </p:nvSpPr>
        <p:spPr>
          <a:xfrm>
            <a:off x="2864757" y="2382906"/>
            <a:ext cx="827100" cy="387300"/>
          </a:xfrm>
          <a:prstGeom prst="rect">
            <a:avLst/>
          </a:prstGeom>
          <a:noFill/>
          <a:ln>
            <a:noFill/>
          </a:ln>
        </p:spPr>
        <p:txBody>
          <a:bodyPr anchorCtr="0" anchor="ctr" bIns="34275" lIns="68575" spcFirstLastPara="1" rIns="68575" wrap="square" tIns="34275">
            <a:normAutofit/>
          </a:bodyPr>
          <a:lstStyle/>
          <a:p>
            <a:pPr indent="0" lvl="0" marL="0" marR="0" rtl="0" algn="ctr">
              <a:spcBef>
                <a:spcPts val="0"/>
              </a:spcBef>
              <a:spcAft>
                <a:spcPts val="0"/>
              </a:spcAft>
              <a:buClr>
                <a:schemeClr val="lt1"/>
              </a:buClr>
              <a:buSzPts val="1350"/>
              <a:buFont typeface="Helvetica Neue"/>
              <a:buNone/>
            </a:pPr>
            <a:r>
              <a:rPr b="0" i="0" lang="en-US" sz="1350" u="none" cap="none" strike="noStrike">
                <a:solidFill>
                  <a:schemeClr val="lt1"/>
                </a:solidFill>
                <a:latin typeface="Helvetica Neue"/>
                <a:ea typeface="Helvetica Neue"/>
                <a:cs typeface="Helvetica Neue"/>
                <a:sym typeface="Helvetica Neue"/>
              </a:rPr>
              <a:t>[Text]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2"/>
          <p:cNvSpPr txBox="1"/>
          <p:nvPr>
            <p:ph type="title"/>
          </p:nvPr>
        </p:nvSpPr>
        <p:spPr>
          <a:xfrm>
            <a:off x="265176" y="233172"/>
            <a:ext cx="8229600" cy="59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2D50"/>
              </a:buClr>
              <a:buSzPts val="2700"/>
              <a:buFont typeface="Helvetica Neue"/>
              <a:buNone/>
            </a:pPr>
            <a:r>
              <a:rPr i="0" lang="en-US"/>
              <a:t>Bar Chart</a:t>
            </a:r>
            <a:endParaRPr i="0"/>
          </a:p>
        </p:txBody>
      </p:sp>
      <p:pic>
        <p:nvPicPr>
          <p:cNvPr id="437" name="Google Shape;437;p32"/>
          <p:cNvPicPr preferRelativeResize="0"/>
          <p:nvPr/>
        </p:nvPicPr>
        <p:blipFill rotWithShape="1">
          <a:blip r:embed="rId3">
            <a:alphaModFix/>
          </a:blip>
          <a:srcRect b="0" l="0" r="0" t="0"/>
          <a:stretch/>
        </p:blipFill>
        <p:spPr>
          <a:xfrm>
            <a:off x="571418" y="1125142"/>
            <a:ext cx="7814100" cy="2784000"/>
          </a:xfrm>
          <a:prstGeom prst="rect">
            <a:avLst/>
          </a:prstGeom>
          <a:noFill/>
          <a:ln>
            <a:noFill/>
          </a:ln>
        </p:spPr>
      </p:pic>
      <p:sp>
        <p:nvSpPr>
          <p:cNvPr id="438" name="Google Shape;438;p32"/>
          <p:cNvSpPr txBox="1"/>
          <p:nvPr/>
        </p:nvSpPr>
        <p:spPr>
          <a:xfrm>
            <a:off x="543397" y="880811"/>
            <a:ext cx="5401800" cy="25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50" u="none" cap="none" strike="noStrike">
                <a:solidFill>
                  <a:srgbClr val="0B3066"/>
                </a:solidFill>
                <a:latin typeface="Helvetica Neue"/>
                <a:ea typeface="Helvetica Neue"/>
                <a:cs typeface="Helvetica Neue"/>
                <a:sym typeface="Helvetica Neue"/>
              </a:rPr>
              <a:t>Chart Title Here Lorem Ipsum Dolor Sit Amet</a:t>
            </a:r>
            <a:endParaRPr b="1" sz="1050">
              <a:solidFill>
                <a:srgbClr val="0B3066"/>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33"/>
          <p:cNvPicPr preferRelativeResize="0"/>
          <p:nvPr/>
        </p:nvPicPr>
        <p:blipFill rotWithShape="1">
          <a:blip r:embed="rId3">
            <a:alphaModFix/>
          </a:blip>
          <a:srcRect b="0" l="0" r="0" t="0"/>
          <a:stretch/>
        </p:blipFill>
        <p:spPr>
          <a:xfrm>
            <a:off x="571418" y="1189435"/>
            <a:ext cx="7814100" cy="3000300"/>
          </a:xfrm>
          <a:prstGeom prst="rect">
            <a:avLst/>
          </a:prstGeom>
          <a:noFill/>
          <a:ln>
            <a:noFill/>
          </a:ln>
        </p:spPr>
      </p:pic>
      <p:sp>
        <p:nvSpPr>
          <p:cNvPr id="445" name="Google Shape;445;p33"/>
          <p:cNvSpPr txBox="1"/>
          <p:nvPr/>
        </p:nvSpPr>
        <p:spPr>
          <a:xfrm>
            <a:off x="543397" y="912957"/>
            <a:ext cx="5401800" cy="25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50">
                <a:solidFill>
                  <a:srgbClr val="0B3066"/>
                </a:solidFill>
                <a:latin typeface="Helvetica Neue"/>
                <a:ea typeface="Helvetica Neue"/>
                <a:cs typeface="Helvetica Neue"/>
                <a:sym typeface="Helvetica Neue"/>
              </a:rPr>
              <a:t>Chart Title Here Lorem Ipsum Dolor Sit Amet</a:t>
            </a:r>
            <a:endParaRPr b="1" sz="1050">
              <a:solidFill>
                <a:srgbClr val="0B3066"/>
              </a:solidFill>
              <a:latin typeface="Helvetica Neue"/>
              <a:ea typeface="Helvetica Neue"/>
              <a:cs typeface="Helvetica Neue"/>
              <a:sym typeface="Helvetica Neue"/>
            </a:endParaRPr>
          </a:p>
        </p:txBody>
      </p:sp>
      <p:sp>
        <p:nvSpPr>
          <p:cNvPr id="446" name="Google Shape;446;p33"/>
          <p:cNvSpPr txBox="1"/>
          <p:nvPr/>
        </p:nvSpPr>
        <p:spPr>
          <a:xfrm>
            <a:off x="265176" y="233172"/>
            <a:ext cx="8229600" cy="593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2D50"/>
              </a:buClr>
              <a:buSzPts val="2701"/>
              <a:buFont typeface="Helvetica Neue"/>
              <a:buNone/>
            </a:pPr>
            <a:r>
              <a:rPr b="1" i="0" lang="en-US" sz="2701">
                <a:solidFill>
                  <a:srgbClr val="002D50"/>
                </a:solidFill>
                <a:latin typeface="Helvetica Neue"/>
                <a:ea typeface="Helvetica Neue"/>
                <a:cs typeface="Helvetica Neue"/>
                <a:sym typeface="Helvetica Neue"/>
              </a:rPr>
              <a:t>Stacked Bar Chart</a:t>
            </a:r>
            <a:endParaRPr b="1" i="0" sz="2701">
              <a:solidFill>
                <a:srgbClr val="002D50"/>
              </a:solidFill>
              <a:latin typeface="Helvetica Neue"/>
              <a:ea typeface="Helvetica Neue"/>
              <a:cs typeface="Helvetica Neue"/>
              <a:sym typeface="Helvetica Neu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34"/>
          <p:cNvPicPr preferRelativeResize="0"/>
          <p:nvPr/>
        </p:nvPicPr>
        <p:blipFill rotWithShape="1">
          <a:blip r:embed="rId3">
            <a:alphaModFix/>
          </a:blip>
          <a:srcRect b="0" l="0" r="0" t="0"/>
          <a:stretch/>
        </p:blipFill>
        <p:spPr>
          <a:xfrm>
            <a:off x="571419" y="953691"/>
            <a:ext cx="7758300" cy="3332700"/>
          </a:xfrm>
          <a:prstGeom prst="rect">
            <a:avLst/>
          </a:prstGeom>
          <a:noFill/>
          <a:ln>
            <a:noFill/>
          </a:ln>
        </p:spPr>
      </p:pic>
      <p:sp>
        <p:nvSpPr>
          <p:cNvPr id="453" name="Google Shape;453;p34"/>
          <p:cNvSpPr txBox="1"/>
          <p:nvPr/>
        </p:nvSpPr>
        <p:spPr>
          <a:xfrm>
            <a:off x="543397" y="731698"/>
            <a:ext cx="5401800" cy="253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050">
                <a:solidFill>
                  <a:srgbClr val="0B3066"/>
                </a:solidFill>
                <a:latin typeface="Helvetica Neue"/>
                <a:ea typeface="Helvetica Neue"/>
                <a:cs typeface="Helvetica Neue"/>
                <a:sym typeface="Helvetica Neue"/>
              </a:rPr>
              <a:t>Chart Title Here Lorem Ipsum Dolor Sit Amet</a:t>
            </a:r>
            <a:endParaRPr b="1" sz="1050">
              <a:solidFill>
                <a:srgbClr val="0B3066"/>
              </a:solidFill>
              <a:latin typeface="Helvetica Neue"/>
              <a:ea typeface="Helvetica Neue"/>
              <a:cs typeface="Helvetica Neue"/>
              <a:sym typeface="Helvetica Neue"/>
            </a:endParaRPr>
          </a:p>
        </p:txBody>
      </p:sp>
      <p:sp>
        <p:nvSpPr>
          <p:cNvPr id="454" name="Google Shape;454;p34"/>
          <p:cNvSpPr txBox="1"/>
          <p:nvPr>
            <p:ph type="title"/>
          </p:nvPr>
        </p:nvSpPr>
        <p:spPr>
          <a:xfrm>
            <a:off x="265176" y="233172"/>
            <a:ext cx="8229600" cy="59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2D50"/>
              </a:buClr>
              <a:buSzPts val="2700"/>
              <a:buFont typeface="Helvetica Neue"/>
              <a:buNone/>
            </a:pPr>
            <a:r>
              <a:rPr i="0" lang="en-US"/>
              <a:t>Line Chart</a:t>
            </a:r>
            <a:endParaRPr i="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descr="20100621-Campus_2_1348.jpg" id="460" name="Google Shape;460;p35"/>
          <p:cNvPicPr preferRelativeResize="0"/>
          <p:nvPr/>
        </p:nvPicPr>
        <p:blipFill rotWithShape="1">
          <a:blip r:embed="rId3">
            <a:alphaModFix/>
          </a:blip>
          <a:srcRect b="0" l="17597" r="7498" t="0"/>
          <a:stretch/>
        </p:blipFill>
        <p:spPr>
          <a:xfrm>
            <a:off x="0" y="0"/>
            <a:ext cx="9144000" cy="5143499"/>
          </a:xfrm>
          <a:prstGeom prst="rect">
            <a:avLst/>
          </a:prstGeom>
          <a:noFill/>
          <a:ln>
            <a:noFill/>
          </a:ln>
        </p:spPr>
      </p:pic>
      <p:sp>
        <p:nvSpPr>
          <p:cNvPr id="461" name="Google Shape;461;p35"/>
          <p:cNvSpPr/>
          <p:nvPr/>
        </p:nvSpPr>
        <p:spPr>
          <a:xfrm>
            <a:off x="4740313" y="0"/>
            <a:ext cx="4403700" cy="5143500"/>
          </a:xfrm>
          <a:prstGeom prst="rect">
            <a:avLst/>
          </a:prstGeom>
          <a:solidFill>
            <a:srgbClr val="011B39">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62" name="Google Shape;462;p35"/>
          <p:cNvSpPr txBox="1"/>
          <p:nvPr>
            <p:ph type="title"/>
          </p:nvPr>
        </p:nvSpPr>
        <p:spPr>
          <a:xfrm>
            <a:off x="5141252" y="947855"/>
            <a:ext cx="3827100" cy="396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BCBC"/>
              </a:buClr>
              <a:buSzPts val="2700"/>
              <a:buFont typeface="Helvetica Neue"/>
              <a:buNone/>
            </a:pPr>
            <a:r>
              <a:rPr lang="en-US">
                <a:solidFill>
                  <a:srgbClr val="BBBCBC"/>
                </a:solidFill>
              </a:rPr>
              <a:t>Impact Slide</a:t>
            </a:r>
            <a:endParaRPr sz="1500">
              <a:solidFill>
                <a:srgbClr val="BBBCBC"/>
              </a:solidFill>
            </a:endParaRPr>
          </a:p>
        </p:txBody>
      </p:sp>
      <p:sp>
        <p:nvSpPr>
          <p:cNvPr id="463" name="Google Shape;463;p35"/>
          <p:cNvSpPr txBox="1"/>
          <p:nvPr/>
        </p:nvSpPr>
        <p:spPr>
          <a:xfrm>
            <a:off x="5141252" y="1436975"/>
            <a:ext cx="3488700" cy="26967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800">
                <a:solidFill>
                  <a:srgbClr val="FFFFFF"/>
                </a:solidFill>
                <a:latin typeface="Arial"/>
                <a:ea typeface="Arial"/>
                <a:cs typeface="Arial"/>
                <a:sym typeface="Arial"/>
              </a:rPr>
              <a:t>Lorem ipsum dolor sit amet, consectetur adipiscing elit. Donec facilisis pulvinar finibus. Ut ac tincidunt tellus. Sed vel lobortis tellus. Cras porttitor feugiat dui, ac aliquet urna mattis sed. Donec vel faucibus purus, luctus aliquam dui.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descr="Healy Gates.cropped.jpg" id="469" name="Google Shape;469;p36"/>
          <p:cNvPicPr preferRelativeResize="0"/>
          <p:nvPr/>
        </p:nvPicPr>
        <p:blipFill rotWithShape="1">
          <a:blip r:embed="rId3">
            <a:alphaModFix/>
          </a:blip>
          <a:srcRect b="0" l="24220" r="3792" t="0"/>
          <a:stretch/>
        </p:blipFill>
        <p:spPr>
          <a:xfrm>
            <a:off x="0" y="12138"/>
            <a:ext cx="4572000" cy="2571751"/>
          </a:xfrm>
          <a:prstGeom prst="rect">
            <a:avLst/>
          </a:prstGeom>
          <a:noFill/>
          <a:ln>
            <a:noFill/>
          </a:ln>
        </p:spPr>
      </p:pic>
      <p:pic>
        <p:nvPicPr>
          <p:cNvPr id="470" name="Google Shape;470;p36"/>
          <p:cNvPicPr preferRelativeResize="0"/>
          <p:nvPr/>
        </p:nvPicPr>
        <p:blipFill rotWithShape="1">
          <a:blip r:embed="rId4">
            <a:alphaModFix/>
          </a:blip>
          <a:srcRect b="-13686" l="6134" r="17996" t="-1863"/>
          <a:stretch/>
        </p:blipFill>
        <p:spPr>
          <a:xfrm>
            <a:off x="0" y="2537460"/>
            <a:ext cx="4572000" cy="2948940"/>
          </a:xfrm>
          <a:prstGeom prst="rect">
            <a:avLst/>
          </a:prstGeom>
          <a:noFill/>
          <a:ln>
            <a:noFill/>
          </a:ln>
        </p:spPr>
      </p:pic>
      <p:pic>
        <p:nvPicPr>
          <p:cNvPr id="471" name="Google Shape;471;p36"/>
          <p:cNvPicPr preferRelativeResize="0"/>
          <p:nvPr/>
        </p:nvPicPr>
        <p:blipFill rotWithShape="1">
          <a:blip r:embed="rId5">
            <a:alphaModFix/>
          </a:blip>
          <a:srcRect b="0" l="10935" r="11108" t="0"/>
          <a:stretch/>
        </p:blipFill>
        <p:spPr>
          <a:xfrm>
            <a:off x="4572000" y="2296192"/>
            <a:ext cx="4572000" cy="2847307"/>
          </a:xfrm>
          <a:prstGeom prst="rect">
            <a:avLst/>
          </a:prstGeom>
          <a:noFill/>
          <a:ln>
            <a:noFill/>
          </a:ln>
        </p:spPr>
      </p:pic>
      <p:sp>
        <p:nvSpPr>
          <p:cNvPr id="472" name="Google Shape;472;p36"/>
          <p:cNvSpPr/>
          <p:nvPr/>
        </p:nvSpPr>
        <p:spPr>
          <a:xfrm>
            <a:off x="4572000" y="0"/>
            <a:ext cx="4572000" cy="2591400"/>
          </a:xfrm>
          <a:prstGeom prst="rect">
            <a:avLst/>
          </a:prstGeom>
          <a:solidFill>
            <a:srgbClr val="011B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73" name="Google Shape;473;p36"/>
          <p:cNvSpPr txBox="1"/>
          <p:nvPr>
            <p:ph type="title"/>
          </p:nvPr>
        </p:nvSpPr>
        <p:spPr>
          <a:xfrm>
            <a:off x="4760063" y="546512"/>
            <a:ext cx="3827100" cy="425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BCBC"/>
              </a:buClr>
              <a:buSzPts val="2700"/>
              <a:buFont typeface="Helvetica Neue"/>
              <a:buNone/>
            </a:pPr>
            <a:r>
              <a:rPr lang="en-US">
                <a:solidFill>
                  <a:srgbClr val="BBBCBC"/>
                </a:solidFill>
              </a:rPr>
              <a:t>Impact Slide</a:t>
            </a:r>
            <a:endParaRPr sz="1500">
              <a:solidFill>
                <a:srgbClr val="BBBCBC"/>
              </a:solidFill>
            </a:endParaRPr>
          </a:p>
        </p:txBody>
      </p:sp>
      <p:sp>
        <p:nvSpPr>
          <p:cNvPr id="474" name="Google Shape;474;p36"/>
          <p:cNvSpPr txBox="1"/>
          <p:nvPr/>
        </p:nvSpPr>
        <p:spPr>
          <a:xfrm>
            <a:off x="4768278" y="995833"/>
            <a:ext cx="4082400" cy="17085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500">
                <a:solidFill>
                  <a:srgbClr val="FFFFFF"/>
                </a:solidFill>
                <a:latin typeface="Arial"/>
                <a:ea typeface="Arial"/>
                <a:cs typeface="Arial"/>
                <a:sym typeface="Arial"/>
              </a:rPr>
              <a:t>Lorem ipsum dolor sit amet, consectetur adipiscing elit. Donec facilisis pulvinar finibus. Ut ac tincidunt tellus. Sed vel lobortis tellus. Cras porttitor feugiat dui, ac aliquet urna mattis sed. Donec vel faucibus purus, luctus aliquam dui.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descr="20101022 Campus_0028.jpeg" id="480" name="Google Shape;480;p37"/>
          <p:cNvPicPr preferRelativeResize="0"/>
          <p:nvPr/>
        </p:nvPicPr>
        <p:blipFill rotWithShape="1">
          <a:blip r:embed="rId3">
            <a:alphaModFix/>
          </a:blip>
          <a:srcRect b="0" l="5213" r="19763" t="0"/>
          <a:stretch/>
        </p:blipFill>
        <p:spPr>
          <a:xfrm>
            <a:off x="0" y="0"/>
            <a:ext cx="9144000" cy="5143500"/>
          </a:xfrm>
          <a:prstGeom prst="rect">
            <a:avLst/>
          </a:prstGeom>
          <a:noFill/>
          <a:ln>
            <a:noFill/>
          </a:ln>
        </p:spPr>
      </p:pic>
      <p:sp>
        <p:nvSpPr>
          <p:cNvPr id="481" name="Google Shape;481;p37"/>
          <p:cNvSpPr/>
          <p:nvPr/>
        </p:nvSpPr>
        <p:spPr>
          <a:xfrm>
            <a:off x="2" y="1740586"/>
            <a:ext cx="9144000" cy="1634100"/>
          </a:xfrm>
          <a:prstGeom prst="rect">
            <a:avLst/>
          </a:prstGeom>
          <a:solidFill>
            <a:srgbClr val="011B39">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82" name="Google Shape;482;p37"/>
          <p:cNvSpPr txBox="1"/>
          <p:nvPr>
            <p:ph type="title"/>
          </p:nvPr>
        </p:nvSpPr>
        <p:spPr>
          <a:xfrm>
            <a:off x="306167" y="2229223"/>
            <a:ext cx="3827100" cy="59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BCBC"/>
              </a:buClr>
              <a:buSzPts val="3001"/>
              <a:buFont typeface="Helvetica Neue"/>
              <a:buNone/>
            </a:pPr>
            <a:r>
              <a:rPr lang="en-US" sz="3001">
                <a:solidFill>
                  <a:srgbClr val="BBBCBC"/>
                </a:solidFill>
              </a:rPr>
              <a:t>Impact Slide Example</a:t>
            </a:r>
            <a:endParaRPr sz="1800">
              <a:solidFill>
                <a:srgbClr val="BBBCBC"/>
              </a:solidFill>
            </a:endParaRPr>
          </a:p>
        </p:txBody>
      </p:sp>
      <p:sp>
        <p:nvSpPr>
          <p:cNvPr id="483" name="Google Shape;483;p37"/>
          <p:cNvSpPr txBox="1"/>
          <p:nvPr/>
        </p:nvSpPr>
        <p:spPr>
          <a:xfrm>
            <a:off x="4294407" y="2034827"/>
            <a:ext cx="4581600" cy="15468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350">
                <a:solidFill>
                  <a:srgbClr val="FFFFFF"/>
                </a:solidFill>
                <a:latin typeface="Arial"/>
                <a:ea typeface="Arial"/>
                <a:cs typeface="Arial"/>
                <a:sym typeface="Arial"/>
              </a:rPr>
              <a:t>Lorem ipsum dolor sit amet, consectetur adipiscing elit. </a:t>
            </a:r>
            <a:br>
              <a:rPr lang="en-US" sz="1350">
                <a:solidFill>
                  <a:srgbClr val="FFFFFF"/>
                </a:solidFill>
                <a:latin typeface="Arial"/>
                <a:ea typeface="Arial"/>
                <a:cs typeface="Arial"/>
                <a:sym typeface="Arial"/>
              </a:rPr>
            </a:br>
            <a:r>
              <a:rPr lang="en-US" sz="1350">
                <a:solidFill>
                  <a:srgbClr val="FFFFFF"/>
                </a:solidFill>
                <a:latin typeface="Arial"/>
                <a:ea typeface="Arial"/>
                <a:cs typeface="Arial"/>
                <a:sym typeface="Arial"/>
              </a:rPr>
              <a:t>Donec facilisis pulvinar finibus. Ut ac tincidunt tellus. Sed vel lobortis tellus. Cras porttitor feugiat dui, ac aliquet urna mattis sed. Donec vel faucibus purus, luctus aliquam dui. Donec vitae volutpat tellus. Etiam viverra ultrices sagittis.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pic>
        <p:nvPicPr>
          <p:cNvPr descr="20100408 Campus_0051.jpg" id="489" name="Google Shape;489;p38"/>
          <p:cNvPicPr preferRelativeResize="0"/>
          <p:nvPr/>
        </p:nvPicPr>
        <p:blipFill rotWithShape="1">
          <a:blip r:embed="rId3">
            <a:alphaModFix/>
          </a:blip>
          <a:srcRect b="0" l="12490" r="12622" t="0"/>
          <a:stretch/>
        </p:blipFill>
        <p:spPr>
          <a:xfrm>
            <a:off x="0" y="0"/>
            <a:ext cx="9144000" cy="5143500"/>
          </a:xfrm>
          <a:prstGeom prst="rect">
            <a:avLst/>
          </a:prstGeom>
          <a:noFill/>
          <a:ln>
            <a:noFill/>
          </a:ln>
        </p:spPr>
      </p:pic>
      <p:sp>
        <p:nvSpPr>
          <p:cNvPr id="490" name="Google Shape;490;p38"/>
          <p:cNvSpPr/>
          <p:nvPr/>
        </p:nvSpPr>
        <p:spPr>
          <a:xfrm>
            <a:off x="2" y="1740586"/>
            <a:ext cx="9144000" cy="1634100"/>
          </a:xfrm>
          <a:prstGeom prst="rect">
            <a:avLst/>
          </a:prstGeom>
          <a:solidFill>
            <a:srgbClr val="011B39">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91" name="Google Shape;491;p38"/>
          <p:cNvSpPr txBox="1"/>
          <p:nvPr>
            <p:ph type="title"/>
          </p:nvPr>
        </p:nvSpPr>
        <p:spPr>
          <a:xfrm>
            <a:off x="306167" y="2229223"/>
            <a:ext cx="3827100" cy="59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BCBC"/>
              </a:buClr>
              <a:buSzPts val="3001"/>
              <a:buFont typeface="Helvetica Neue"/>
              <a:buNone/>
            </a:pPr>
            <a:r>
              <a:rPr lang="en-US" sz="3001">
                <a:solidFill>
                  <a:srgbClr val="BBBCBC"/>
                </a:solidFill>
              </a:rPr>
              <a:t>Impact Slide Example</a:t>
            </a:r>
            <a:endParaRPr sz="1800">
              <a:solidFill>
                <a:srgbClr val="BBBCBC"/>
              </a:solidFill>
            </a:endParaRPr>
          </a:p>
        </p:txBody>
      </p:sp>
      <p:sp>
        <p:nvSpPr>
          <p:cNvPr id="492" name="Google Shape;492;p38"/>
          <p:cNvSpPr txBox="1"/>
          <p:nvPr/>
        </p:nvSpPr>
        <p:spPr>
          <a:xfrm>
            <a:off x="4294407" y="2034827"/>
            <a:ext cx="4581600" cy="15468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1350">
                <a:solidFill>
                  <a:srgbClr val="FFFFFF"/>
                </a:solidFill>
                <a:latin typeface="Arial"/>
                <a:ea typeface="Arial"/>
                <a:cs typeface="Arial"/>
                <a:sym typeface="Arial"/>
              </a:rPr>
              <a:t>Lorem ipsum dolor sit amet, consectetur adipiscing elit. </a:t>
            </a:r>
            <a:br>
              <a:rPr lang="en-US" sz="1350">
                <a:solidFill>
                  <a:srgbClr val="FFFFFF"/>
                </a:solidFill>
                <a:latin typeface="Arial"/>
                <a:ea typeface="Arial"/>
                <a:cs typeface="Arial"/>
                <a:sym typeface="Arial"/>
              </a:rPr>
            </a:br>
            <a:r>
              <a:rPr lang="en-US" sz="1350">
                <a:solidFill>
                  <a:srgbClr val="FFFFFF"/>
                </a:solidFill>
                <a:latin typeface="Arial"/>
                <a:ea typeface="Arial"/>
                <a:cs typeface="Arial"/>
                <a:sym typeface="Arial"/>
              </a:rPr>
              <a:t>Donec facilisis pulvinar finibus. Ut ac tincidunt tellus. Sed vel lobortis tellus. Cras porttitor feugiat dui, ac aliquet urna mattis sed. Donec vel faucibus purus, luctus aliquam dui. Donec vitae volutpat tellus. Etiam viverra ultrices sagittis.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39"/>
          <p:cNvSpPr/>
          <p:nvPr/>
        </p:nvSpPr>
        <p:spPr>
          <a:xfrm>
            <a:off x="2" y="0"/>
            <a:ext cx="9144000" cy="5143500"/>
          </a:xfrm>
          <a:prstGeom prst="rect">
            <a:avLst/>
          </a:prstGeom>
          <a:solidFill>
            <a:srgbClr val="011B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499" name="Google Shape;499;p39"/>
          <p:cNvSpPr txBox="1"/>
          <p:nvPr>
            <p:ph type="title"/>
          </p:nvPr>
        </p:nvSpPr>
        <p:spPr>
          <a:xfrm>
            <a:off x="271140" y="259573"/>
            <a:ext cx="8646900" cy="59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BCBC"/>
              </a:buClr>
              <a:buSzPts val="3001"/>
              <a:buFont typeface="Helvetica Neue"/>
              <a:buNone/>
            </a:pPr>
            <a:r>
              <a:rPr lang="en-US" sz="3001">
                <a:solidFill>
                  <a:srgbClr val="BBBCBC"/>
                </a:solidFill>
              </a:rPr>
              <a:t>Impact Slide with Quote</a:t>
            </a:r>
            <a:endParaRPr sz="1800">
              <a:solidFill>
                <a:srgbClr val="BBBCBC"/>
              </a:solidFill>
            </a:endParaRPr>
          </a:p>
        </p:txBody>
      </p:sp>
      <p:sp>
        <p:nvSpPr>
          <p:cNvPr id="500" name="Google Shape;500;p39"/>
          <p:cNvSpPr txBox="1"/>
          <p:nvPr/>
        </p:nvSpPr>
        <p:spPr>
          <a:xfrm>
            <a:off x="1799391" y="1813981"/>
            <a:ext cx="5545200" cy="1920900"/>
          </a:xfrm>
          <a:prstGeom prst="rect">
            <a:avLst/>
          </a:prstGeom>
          <a:noFill/>
          <a:ln>
            <a:noFill/>
          </a:ln>
        </p:spPr>
        <p:txBody>
          <a:bodyPr anchorCtr="0" anchor="t" bIns="45700" lIns="91425" spcFirstLastPara="1" rIns="91425" wrap="square" tIns="45700">
            <a:spAutoFit/>
          </a:bodyPr>
          <a:lstStyle/>
          <a:p>
            <a:pPr indent="0" lvl="0" marL="0" marR="0" rtl="0" algn="just">
              <a:lnSpc>
                <a:spcPct val="140000"/>
              </a:lnSpc>
              <a:spcBef>
                <a:spcPts val="0"/>
              </a:spcBef>
              <a:spcAft>
                <a:spcPts val="0"/>
              </a:spcAft>
              <a:buNone/>
            </a:pPr>
            <a:r>
              <a:rPr lang="en-US" sz="1800">
                <a:solidFill>
                  <a:srgbClr val="FFFFFF"/>
                </a:solidFill>
                <a:latin typeface="Arial"/>
                <a:ea typeface="Arial"/>
                <a:cs typeface="Arial"/>
                <a:sym typeface="Arial"/>
              </a:rPr>
              <a:t>“Lorem ipsum dolor sit amet, consectetur adipiscing elit. Donec facilisis pulvinar finibus. Ut ac tincidunt tellus. Sed vel lobortis tellus. Cras porttitor feugiat dui, ac aliquet urna mattis sed. Donec vel faucibus purus, luctus aliquam.”</a:t>
            </a:r>
            <a:endParaRPr/>
          </a:p>
        </p:txBody>
      </p:sp>
      <p:cxnSp>
        <p:nvCxnSpPr>
          <p:cNvPr id="501" name="Google Shape;501;p39"/>
          <p:cNvCxnSpPr/>
          <p:nvPr/>
        </p:nvCxnSpPr>
        <p:spPr>
          <a:xfrm>
            <a:off x="1796604" y="1736967"/>
            <a:ext cx="5457900" cy="0"/>
          </a:xfrm>
          <a:prstGeom prst="straightConnector1">
            <a:avLst/>
          </a:prstGeom>
          <a:noFill/>
          <a:ln cap="flat" cmpd="sng" w="19050">
            <a:solidFill>
              <a:srgbClr val="00A4CC"/>
            </a:solidFill>
            <a:prstDash val="solid"/>
            <a:round/>
            <a:headEnd len="sm" w="sm" type="none"/>
            <a:tailEnd len="sm" w="sm" type="none"/>
          </a:ln>
        </p:spPr>
      </p:cxnSp>
      <p:cxnSp>
        <p:nvCxnSpPr>
          <p:cNvPr id="502" name="Google Shape;502;p39"/>
          <p:cNvCxnSpPr/>
          <p:nvPr/>
        </p:nvCxnSpPr>
        <p:spPr>
          <a:xfrm>
            <a:off x="1796604" y="3458753"/>
            <a:ext cx="5457900" cy="0"/>
          </a:xfrm>
          <a:prstGeom prst="straightConnector1">
            <a:avLst/>
          </a:prstGeom>
          <a:noFill/>
          <a:ln cap="flat" cmpd="sng" w="19050">
            <a:solidFill>
              <a:srgbClr val="00A4CC"/>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0"/>
          <p:cNvSpPr/>
          <p:nvPr/>
        </p:nvSpPr>
        <p:spPr>
          <a:xfrm>
            <a:off x="2" y="0"/>
            <a:ext cx="9144000" cy="5143500"/>
          </a:xfrm>
          <a:prstGeom prst="rect">
            <a:avLst/>
          </a:prstGeom>
          <a:solidFill>
            <a:srgbClr val="011B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509" name="Google Shape;509;p40"/>
          <p:cNvSpPr txBox="1"/>
          <p:nvPr>
            <p:ph type="title"/>
          </p:nvPr>
        </p:nvSpPr>
        <p:spPr>
          <a:xfrm>
            <a:off x="271140" y="259573"/>
            <a:ext cx="8646900" cy="593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BBBCBC"/>
              </a:buClr>
              <a:buSzPts val="3001"/>
              <a:buFont typeface="Helvetica Neue"/>
              <a:buNone/>
            </a:pPr>
            <a:r>
              <a:rPr lang="en-US" sz="3001">
                <a:solidFill>
                  <a:srgbClr val="BBBCBC"/>
                </a:solidFill>
              </a:rPr>
              <a:t>Impact Slide with Quote</a:t>
            </a:r>
            <a:endParaRPr sz="1800">
              <a:solidFill>
                <a:srgbClr val="BBBCBC"/>
              </a:solidFill>
            </a:endParaRPr>
          </a:p>
        </p:txBody>
      </p:sp>
      <p:sp>
        <p:nvSpPr>
          <p:cNvPr id="510" name="Google Shape;510;p40"/>
          <p:cNvSpPr txBox="1"/>
          <p:nvPr/>
        </p:nvSpPr>
        <p:spPr>
          <a:xfrm>
            <a:off x="827440" y="1810003"/>
            <a:ext cx="5545200" cy="19209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lang="en-US" sz="1800">
                <a:solidFill>
                  <a:srgbClr val="FFFFFF"/>
                </a:solidFill>
                <a:latin typeface="Arial"/>
                <a:ea typeface="Arial"/>
                <a:cs typeface="Arial"/>
                <a:sym typeface="Arial"/>
              </a:rPr>
              <a:t>“Lorem ipsum dolor sit amet, consectetur adipiscing elit. Donec facilisis pulvinar finibus. Ut ac tincidunt tellus. Sed vel lobortis tellus. Cras porttitor feugiat dui, ac aliquet urna mattis sed. Donec vel faucibus purus, luctus aliquam.”</a:t>
            </a:r>
            <a:endParaRPr/>
          </a:p>
        </p:txBody>
      </p:sp>
      <p:cxnSp>
        <p:nvCxnSpPr>
          <p:cNvPr id="511" name="Google Shape;511;p40"/>
          <p:cNvCxnSpPr/>
          <p:nvPr/>
        </p:nvCxnSpPr>
        <p:spPr>
          <a:xfrm rot="10800000">
            <a:off x="694206" y="1714650"/>
            <a:ext cx="0" cy="1695300"/>
          </a:xfrm>
          <a:prstGeom prst="straightConnector1">
            <a:avLst/>
          </a:prstGeom>
          <a:noFill/>
          <a:ln cap="flat" cmpd="sng" w="19050">
            <a:solidFill>
              <a:srgbClr val="00A4CC"/>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1"/>
          <p:cNvSpPr/>
          <p:nvPr/>
        </p:nvSpPr>
        <p:spPr>
          <a:xfrm>
            <a:off x="2" y="0"/>
            <a:ext cx="9144000" cy="5143500"/>
          </a:xfrm>
          <a:prstGeom prst="rect">
            <a:avLst/>
          </a:prstGeom>
          <a:solidFill>
            <a:srgbClr val="011B3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Calibri"/>
              <a:ea typeface="Calibri"/>
              <a:cs typeface="Calibri"/>
              <a:sym typeface="Calibri"/>
            </a:endParaRPr>
          </a:p>
        </p:txBody>
      </p:sp>
      <p:sp>
        <p:nvSpPr>
          <p:cNvPr id="518" name="Google Shape;518;p41"/>
          <p:cNvSpPr txBox="1"/>
          <p:nvPr/>
        </p:nvSpPr>
        <p:spPr>
          <a:xfrm>
            <a:off x="271140" y="259573"/>
            <a:ext cx="8646900" cy="593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BBBCBC"/>
              </a:buClr>
              <a:buSzPts val="3001"/>
              <a:buFont typeface="Helvetica Neue"/>
              <a:buNone/>
            </a:pPr>
            <a:r>
              <a:rPr b="1" i="0" lang="en-US" sz="3001">
                <a:solidFill>
                  <a:srgbClr val="BBBCBC"/>
                </a:solidFill>
                <a:latin typeface="Helvetica Neue"/>
                <a:ea typeface="Helvetica Neue"/>
                <a:cs typeface="Helvetica Neue"/>
                <a:sym typeface="Helvetica Neue"/>
              </a:rPr>
              <a:t>Scaled Up Number</a:t>
            </a:r>
            <a:endParaRPr b="1" i="0" sz="1800">
              <a:solidFill>
                <a:srgbClr val="BBBCBC"/>
              </a:solidFill>
              <a:latin typeface="Helvetica Neue"/>
              <a:ea typeface="Helvetica Neue"/>
              <a:cs typeface="Helvetica Neue"/>
              <a:sym typeface="Helvetica Neue"/>
            </a:endParaRPr>
          </a:p>
        </p:txBody>
      </p:sp>
      <p:sp>
        <p:nvSpPr>
          <p:cNvPr id="519" name="Google Shape;519;p41"/>
          <p:cNvSpPr txBox="1"/>
          <p:nvPr/>
        </p:nvSpPr>
        <p:spPr>
          <a:xfrm>
            <a:off x="2270828" y="1966762"/>
            <a:ext cx="5456400" cy="15330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None/>
            </a:pPr>
            <a:r>
              <a:rPr lang="en-US" sz="1800">
                <a:solidFill>
                  <a:srgbClr val="FFFFFF"/>
                </a:solidFill>
                <a:latin typeface="Arial"/>
                <a:ea typeface="Arial"/>
                <a:cs typeface="Arial"/>
                <a:sym typeface="Arial"/>
              </a:rPr>
              <a:t>Lorem ipsum dolor sit amet, consectetur adipiscing elit. Donec facilisis pulvinar finibus. Ut ac tincidunt tellus. Sed vel lobortis tellus. Cras porttitor feugiat dui, ac aliquet urna mattis sed. </a:t>
            </a:r>
            <a:endParaRPr/>
          </a:p>
        </p:txBody>
      </p:sp>
      <p:cxnSp>
        <p:nvCxnSpPr>
          <p:cNvPr id="520" name="Google Shape;520;p41"/>
          <p:cNvCxnSpPr/>
          <p:nvPr/>
        </p:nvCxnSpPr>
        <p:spPr>
          <a:xfrm rot="10800000">
            <a:off x="2176550" y="1919476"/>
            <a:ext cx="0" cy="1356900"/>
          </a:xfrm>
          <a:prstGeom prst="straightConnector1">
            <a:avLst/>
          </a:prstGeom>
          <a:noFill/>
          <a:ln cap="flat" cmpd="sng" w="12700">
            <a:solidFill>
              <a:srgbClr val="00A4CC"/>
            </a:solidFill>
            <a:prstDash val="solid"/>
            <a:round/>
            <a:headEnd len="sm" w="sm" type="none"/>
            <a:tailEnd len="sm" w="sm" type="none"/>
          </a:ln>
        </p:spPr>
      </p:cxnSp>
      <p:sp>
        <p:nvSpPr>
          <p:cNvPr id="521" name="Google Shape;521;p41"/>
          <p:cNvSpPr txBox="1"/>
          <p:nvPr/>
        </p:nvSpPr>
        <p:spPr>
          <a:xfrm>
            <a:off x="311094" y="2041053"/>
            <a:ext cx="1755000" cy="5937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lt1"/>
              </a:buClr>
              <a:buSzPts val="7501"/>
              <a:buFont typeface="Helvetica Neue"/>
              <a:buNone/>
            </a:pPr>
            <a:r>
              <a:rPr b="1" i="0" lang="en-US" sz="7502">
                <a:solidFill>
                  <a:schemeClr val="lt1"/>
                </a:solidFill>
                <a:latin typeface="Helvetica Neue"/>
                <a:ea typeface="Helvetica Neue"/>
                <a:cs typeface="Helvetica Neue"/>
                <a:sym typeface="Helvetica Neue"/>
              </a:rPr>
              <a:t>215</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2"/>
          <p:cNvSpPr txBox="1"/>
          <p:nvPr>
            <p:ph type="title"/>
          </p:nvPr>
        </p:nvSpPr>
        <p:spPr>
          <a:xfrm>
            <a:off x="213473" y="177506"/>
            <a:ext cx="8686500" cy="4392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rgbClr val="002D50"/>
              </a:buClr>
              <a:buSzPct val="99963"/>
              <a:buFont typeface="Helvetica Neue"/>
              <a:buNone/>
            </a:pPr>
            <a:r>
              <a:rPr lang="en-US"/>
              <a:t>Callout Boxes</a:t>
            </a:r>
            <a:endParaRPr/>
          </a:p>
        </p:txBody>
      </p:sp>
      <p:sp>
        <p:nvSpPr>
          <p:cNvPr id="528" name="Google Shape;528;p42"/>
          <p:cNvSpPr txBox="1"/>
          <p:nvPr>
            <p:ph idx="1" type="body"/>
          </p:nvPr>
        </p:nvSpPr>
        <p:spPr>
          <a:xfrm>
            <a:off x="265871" y="594503"/>
            <a:ext cx="5709000" cy="2647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350"/>
              <a:buNone/>
            </a:pPr>
            <a:r>
              <a:rPr b="1" lang="en-US" sz="1350"/>
              <a:t>Callout Box Notes</a:t>
            </a:r>
            <a:endParaRPr/>
          </a:p>
          <a:p>
            <a:pPr indent="-257244" lvl="0" marL="257244" rtl="0" algn="l">
              <a:spcBef>
                <a:spcPts val="375"/>
              </a:spcBef>
              <a:spcAft>
                <a:spcPts val="0"/>
              </a:spcAft>
              <a:buClr>
                <a:schemeClr val="dk1"/>
              </a:buClr>
              <a:buSzPts val="1350"/>
              <a:buChar char="•"/>
            </a:pPr>
            <a:r>
              <a:rPr lang="en-US" sz="1350"/>
              <a:t>You can use both outline and fill callouts throughout your document</a:t>
            </a:r>
            <a:endParaRPr/>
          </a:p>
          <a:p>
            <a:pPr indent="-214370" lvl="1" marL="557361" rtl="0" algn="l">
              <a:spcBef>
                <a:spcPts val="375"/>
              </a:spcBef>
              <a:spcAft>
                <a:spcPts val="0"/>
              </a:spcAft>
              <a:buClr>
                <a:schemeClr val="dk1"/>
              </a:buClr>
              <a:buSzPts val="1350"/>
              <a:buChar char="–"/>
            </a:pPr>
            <a:r>
              <a:rPr lang="en-US" sz="1350"/>
              <a:t>If your slide uses a lot of lines, then you many want to choose the filled callout, or vice versa</a:t>
            </a:r>
            <a:endParaRPr/>
          </a:p>
          <a:p>
            <a:pPr indent="-214370" lvl="1" marL="557361" rtl="0" algn="l">
              <a:spcBef>
                <a:spcPts val="375"/>
              </a:spcBef>
              <a:spcAft>
                <a:spcPts val="0"/>
              </a:spcAft>
              <a:buClr>
                <a:schemeClr val="dk1"/>
              </a:buClr>
              <a:buSzPts val="1350"/>
              <a:buChar char="–"/>
            </a:pPr>
            <a:r>
              <a:rPr lang="en-US" sz="1350"/>
              <a:t>If your callout information is the main point of the slide, you may want to use the filled callout</a:t>
            </a:r>
            <a:endParaRPr/>
          </a:p>
          <a:p>
            <a:pPr indent="-257244" lvl="0" marL="257244" rtl="0" algn="l">
              <a:spcBef>
                <a:spcPts val="375"/>
              </a:spcBef>
              <a:spcAft>
                <a:spcPts val="0"/>
              </a:spcAft>
              <a:buClr>
                <a:schemeClr val="dk1"/>
              </a:buClr>
              <a:buSzPts val="1350"/>
              <a:buChar char="•"/>
            </a:pPr>
            <a:r>
              <a:rPr lang="en-US" sz="1350"/>
              <a:t>Try to create a “box” of text, i.e., make all the lines of text a similar length (the sample callouts here have three [3] lines and they are all about the same length); no word should be on a line by itself (widow) unless it is 10 characters or longer</a:t>
            </a:r>
            <a:endParaRPr/>
          </a:p>
          <a:p>
            <a:pPr indent="-257244" lvl="0" marL="257244" rtl="0" algn="l">
              <a:spcBef>
                <a:spcPts val="375"/>
              </a:spcBef>
              <a:spcAft>
                <a:spcPts val="0"/>
              </a:spcAft>
              <a:buClr>
                <a:schemeClr val="dk1"/>
              </a:buClr>
              <a:buSzPts val="1350"/>
              <a:buChar char="•"/>
            </a:pPr>
            <a:r>
              <a:rPr lang="en-US" sz="1350"/>
              <a:t>The space between the letters and the edge of the box (the box margins) should be the same on all four sides</a:t>
            </a:r>
            <a:endParaRPr/>
          </a:p>
          <a:p>
            <a:pPr indent="0" lvl="0" marL="0" rtl="0" algn="l">
              <a:spcBef>
                <a:spcPts val="0"/>
              </a:spcBef>
              <a:spcAft>
                <a:spcPts val="0"/>
              </a:spcAft>
              <a:buClr>
                <a:schemeClr val="dk1"/>
              </a:buClr>
              <a:buSzPts val="1350"/>
              <a:buNone/>
            </a:pPr>
            <a:r>
              <a:t/>
            </a:r>
            <a:endParaRPr b="1" sz="1350">
              <a:solidFill>
                <a:schemeClr val="accent6"/>
              </a:solidFill>
            </a:endParaRPr>
          </a:p>
          <a:p>
            <a:pPr indent="0" lvl="0" marL="0" rtl="0" algn="l">
              <a:spcBef>
                <a:spcPts val="0"/>
              </a:spcBef>
              <a:spcAft>
                <a:spcPts val="0"/>
              </a:spcAft>
              <a:buClr>
                <a:schemeClr val="accent3"/>
              </a:buClr>
              <a:buSzPts val="1350"/>
              <a:buNone/>
            </a:pPr>
            <a:r>
              <a:rPr b="1" lang="en-US" sz="1350">
                <a:solidFill>
                  <a:schemeClr val="accent3"/>
                </a:solidFill>
              </a:rPr>
              <a:t>Note: </a:t>
            </a:r>
            <a:r>
              <a:rPr lang="en-US" sz="1350"/>
              <a:t>an orphan is a single line of text at the top of a column or page—widow is a single word or a line </a:t>
            </a:r>
            <a:endParaRPr sz="1350">
              <a:solidFill>
                <a:schemeClr val="accent6"/>
              </a:solidFill>
            </a:endParaRPr>
          </a:p>
        </p:txBody>
      </p:sp>
      <p:sp>
        <p:nvSpPr>
          <p:cNvPr id="529" name="Google Shape;529;p42"/>
          <p:cNvSpPr txBox="1"/>
          <p:nvPr/>
        </p:nvSpPr>
        <p:spPr>
          <a:xfrm>
            <a:off x="6244300" y="1103540"/>
            <a:ext cx="2283600" cy="537300"/>
          </a:xfrm>
          <a:prstGeom prst="rect">
            <a:avLst/>
          </a:prstGeom>
          <a:noFill/>
          <a:ln cap="flat" cmpd="sng" w="9525">
            <a:solidFill>
              <a:schemeClr val="dk2"/>
            </a:solidFill>
            <a:prstDash val="solid"/>
            <a:round/>
            <a:headEnd len="sm" w="sm" type="none"/>
            <a:tailEnd len="sm" w="sm" type="none"/>
          </a:ln>
        </p:spPr>
        <p:txBody>
          <a:bodyPr anchorCtr="0" anchor="ctr" bIns="171475" lIns="205775" spcFirstLastPara="1" rIns="205775" wrap="square" tIns="171475">
            <a:noAutofit/>
          </a:bodyPr>
          <a:lstStyle/>
          <a:p>
            <a:pPr indent="0" lvl="0" marL="0" marR="0" rtl="0" algn="l">
              <a:spcBef>
                <a:spcPts val="0"/>
              </a:spcBef>
              <a:spcAft>
                <a:spcPts val="0"/>
              </a:spcAft>
              <a:buNone/>
            </a:pPr>
            <a:r>
              <a:rPr b="1" lang="en-US" sz="1350">
                <a:solidFill>
                  <a:schemeClr val="dk2"/>
                </a:solidFill>
                <a:latin typeface="Helvetica Neue"/>
                <a:ea typeface="Helvetica Neue"/>
                <a:cs typeface="Helvetica Neue"/>
                <a:sym typeface="Helvetica Neue"/>
              </a:rPr>
              <a:t>Lorem ipsum dolor sit amet consectetur</a:t>
            </a:r>
            <a:endParaRPr b="1" sz="1350">
              <a:solidFill>
                <a:schemeClr val="dk2"/>
              </a:solidFill>
              <a:latin typeface="Helvetica Neue"/>
              <a:ea typeface="Helvetica Neue"/>
              <a:cs typeface="Helvetica Neue"/>
              <a:sym typeface="Helvetica Neue"/>
            </a:endParaRPr>
          </a:p>
        </p:txBody>
      </p:sp>
      <p:sp>
        <p:nvSpPr>
          <p:cNvPr id="530" name="Google Shape;530;p42"/>
          <p:cNvSpPr txBox="1"/>
          <p:nvPr/>
        </p:nvSpPr>
        <p:spPr>
          <a:xfrm>
            <a:off x="6244298" y="794978"/>
            <a:ext cx="2102400" cy="256200"/>
          </a:xfrm>
          <a:prstGeom prst="rect">
            <a:avLst/>
          </a:prstGeom>
          <a:noFill/>
          <a:ln>
            <a:noFill/>
          </a:ln>
        </p:spPr>
        <p:txBody>
          <a:bodyPr anchorCtr="0" anchor="ctr" bIns="171475" lIns="205775" spcFirstLastPara="1" rIns="205775" wrap="square" tIns="171475">
            <a:noAutofit/>
          </a:bodyPr>
          <a:lstStyle/>
          <a:p>
            <a:pPr indent="0" lvl="0" marL="0" marR="0" rtl="0" algn="l">
              <a:spcBef>
                <a:spcPts val="0"/>
              </a:spcBef>
              <a:spcAft>
                <a:spcPts val="0"/>
              </a:spcAft>
              <a:buNone/>
            </a:pPr>
            <a:r>
              <a:rPr lang="en-US" sz="1200">
                <a:solidFill>
                  <a:schemeClr val="dk2"/>
                </a:solidFill>
                <a:latin typeface="Helvetica Neue"/>
                <a:ea typeface="Helvetica Neue"/>
                <a:cs typeface="Helvetica Neue"/>
                <a:sym typeface="Helvetica Neue"/>
              </a:rPr>
              <a:t>OUTLINED CALLOUT</a:t>
            </a:r>
            <a:endParaRPr/>
          </a:p>
        </p:txBody>
      </p:sp>
      <p:sp>
        <p:nvSpPr>
          <p:cNvPr id="531" name="Google Shape;531;p42"/>
          <p:cNvSpPr txBox="1"/>
          <p:nvPr/>
        </p:nvSpPr>
        <p:spPr>
          <a:xfrm>
            <a:off x="6244300" y="2312053"/>
            <a:ext cx="2283600" cy="537300"/>
          </a:xfrm>
          <a:prstGeom prst="rect">
            <a:avLst/>
          </a:prstGeom>
          <a:solidFill>
            <a:schemeClr val="dk2"/>
          </a:solidFill>
          <a:ln>
            <a:noFill/>
          </a:ln>
        </p:spPr>
        <p:txBody>
          <a:bodyPr anchorCtr="0" anchor="ctr" bIns="171475" lIns="205775" spcFirstLastPara="1" rIns="205775" wrap="square" tIns="171475">
            <a:noAutofit/>
          </a:bodyPr>
          <a:lstStyle/>
          <a:p>
            <a:pPr indent="0" lvl="0" marL="0" marR="0" rtl="0" algn="l">
              <a:spcBef>
                <a:spcPts val="0"/>
              </a:spcBef>
              <a:spcAft>
                <a:spcPts val="0"/>
              </a:spcAft>
              <a:buNone/>
            </a:pPr>
            <a:r>
              <a:rPr b="1" lang="en-US" sz="1350">
                <a:solidFill>
                  <a:srgbClr val="FFFFFF"/>
                </a:solidFill>
                <a:latin typeface="Helvetica Neue"/>
                <a:ea typeface="Helvetica Neue"/>
                <a:cs typeface="Helvetica Neue"/>
                <a:sym typeface="Helvetica Neue"/>
              </a:rPr>
              <a:t>Lorem ipsum dolor sit amet consectetur</a:t>
            </a:r>
            <a:endParaRPr b="1" sz="1350">
              <a:solidFill>
                <a:srgbClr val="FFFFFF"/>
              </a:solidFill>
              <a:latin typeface="Helvetica Neue"/>
              <a:ea typeface="Helvetica Neue"/>
              <a:cs typeface="Helvetica Neue"/>
              <a:sym typeface="Helvetica Neue"/>
            </a:endParaRPr>
          </a:p>
        </p:txBody>
      </p:sp>
      <p:sp>
        <p:nvSpPr>
          <p:cNvPr id="532" name="Google Shape;532;p42"/>
          <p:cNvSpPr txBox="1"/>
          <p:nvPr/>
        </p:nvSpPr>
        <p:spPr>
          <a:xfrm>
            <a:off x="6244298" y="2004955"/>
            <a:ext cx="2102400" cy="256200"/>
          </a:xfrm>
          <a:prstGeom prst="rect">
            <a:avLst/>
          </a:prstGeom>
          <a:noFill/>
          <a:ln>
            <a:noFill/>
          </a:ln>
        </p:spPr>
        <p:txBody>
          <a:bodyPr anchorCtr="0" anchor="ctr" bIns="171475" lIns="205775" spcFirstLastPara="1" rIns="205775" wrap="square" tIns="171475">
            <a:noAutofit/>
          </a:bodyPr>
          <a:lstStyle/>
          <a:p>
            <a:pPr indent="0" lvl="0" marL="0" marR="0" rtl="0" algn="l">
              <a:spcBef>
                <a:spcPts val="0"/>
              </a:spcBef>
              <a:spcAft>
                <a:spcPts val="0"/>
              </a:spcAft>
              <a:buNone/>
            </a:pPr>
            <a:r>
              <a:rPr lang="en-US" sz="1200">
                <a:solidFill>
                  <a:schemeClr val="dk2"/>
                </a:solidFill>
                <a:latin typeface="Helvetica Neue"/>
                <a:ea typeface="Helvetica Neue"/>
                <a:cs typeface="Helvetica Neue"/>
                <a:sym typeface="Helvetica Neue"/>
              </a:rPr>
              <a:t>FILLED CALLOUT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Georgetown University OA">
      <a:dk1>
        <a:srgbClr val="000000"/>
      </a:dk1>
      <a:lt1>
        <a:srgbClr val="FFFFFF"/>
      </a:lt1>
      <a:dk2>
        <a:srgbClr val="011B39"/>
      </a:dk2>
      <a:lt2>
        <a:srgbClr val="4A4C4D"/>
      </a:lt2>
      <a:accent1>
        <a:srgbClr val="003B7C"/>
      </a:accent1>
      <a:accent2>
        <a:srgbClr val="9CA09C"/>
      </a:accent2>
      <a:accent3>
        <a:srgbClr val="00A4CC"/>
      </a:accent3>
      <a:accent4>
        <a:srgbClr val="46A536"/>
      </a:accent4>
      <a:accent5>
        <a:srgbClr val="CD0032"/>
      </a:accent5>
      <a:accent6>
        <a:srgbClr val="580A1D"/>
      </a:accent6>
      <a:hlink>
        <a:srgbClr val="003D81"/>
      </a:hlink>
      <a:folHlink>
        <a:srgbClr val="00A4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